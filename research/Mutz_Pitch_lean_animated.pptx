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7" r:id="rId1"/>
  </p:sldMasterIdLst>
  <p:notesMasterIdLst>
    <p:notesMasterId r:id="rId21"/>
  </p:notesMasterIdLst>
  <p:handoutMasterIdLst>
    <p:handoutMasterId r:id="rId22"/>
  </p:handoutMasterIdLst>
  <p:sldIdLst>
    <p:sldId id="282" r:id="rId27"/>
    <p:sldId id="283" r:id="rId28"/>
    <p:sldId id="284" r:id="rId29"/>
    <p:sldId id="285" r:id="rId30"/>
    <p:sldId id="286" r:id="rId31"/>
    <p:sldId id="287" r:id="rId32"/>
    <p:sldId id="288" r:id="rId33"/>
    <p:sldId id="289" r:id="rId34"/>
    <p:sldId id="290" r:id="rId35"/>
    <p:sldId id="301" r:id="rId46"/>
    <p:sldId id="291" r:id="rId36"/>
    <p:sldId id="292" r:id="rId37"/>
    <p:sldId id="293" r:id="rId38"/>
    <p:sldId id="294" r:id="rId39"/>
    <p:sldId id="295" r:id="rId40"/>
    <p:sldId id="296" r:id="rId41"/>
    <p:sldId id="297" r:id="rId42"/>
    <p:sldId id="298" r:id="rId43"/>
    <p:sldId id="299" r:id="rId44"/>
    <p:sldId id="300" r:id="rId4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EA161F"/>
    <a:srgbClr val="999999"/>
    <a:srgbClr val="DC121C"/>
    <a:srgbClr val="E2141E"/>
    <a:srgbClr val="F69CA0"/>
    <a:srgbClr val="F3797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1" autoAdjust="0"/>
  </p:normalViewPr>
  <p:slideViewPr>
    <p:cSldViewPr showGuides="1">
      <p:cViewPr varScale="1">
        <p:scale>
          <a:sx n="67" d="100"/>
          <a:sy n="67" d="100"/>
        </p:scale>
        <p:origin x="572" y="44"/>
      </p:cViewPr>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123" d="100"/>
          <a:sy n="123" d="100"/>
        </p:scale>
        <p:origin x="4896" y="11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1" Type="http://schemas.openxmlformats.org/officeDocument/2006/relationships/notesMaster" Target="notesMasters/notesMaster1.xml"/><Relationship Id="rId22" Type="http://schemas.openxmlformats.org/officeDocument/2006/relationships/handoutMaster" Target="handoutMasters/handout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1.xml"/><Relationship Id="rId37" Type="http://schemas.openxmlformats.org/officeDocument/2006/relationships/slide" Target="slid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 Id="rId46"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476672" y="229395"/>
            <a:ext cx="4320480" cy="310159"/>
          </a:xfrm>
          <a:prstGeom prst="rect">
            <a:avLst/>
          </a:prstGeom>
        </p:spPr>
        <p:txBody>
          <a:bodyPr vert="horz" lIns="0" tIns="0" rIns="0" bIns="0" rtlCol="0"/>
          <a:lstStyle>
            <a:lvl1pPr algn="l">
              <a:defRPr sz="1200"/>
            </a:lvl1pPr>
          </a:lstStyle>
          <a:p>
            <a:r>
              <a:rPr lang="de-CH" sz="900"/>
              <a:t>Kopfzeilentext</a:t>
            </a:r>
            <a:endParaRPr lang="de-CH" sz="900" dirty="0"/>
          </a:p>
        </p:txBody>
      </p:sp>
      <p:sp>
        <p:nvSpPr>
          <p:cNvPr id="3" name="Datumsplatzhalter 2"/>
          <p:cNvSpPr>
            <a:spLocks noGrp="1"/>
          </p:cNvSpPr>
          <p:nvPr>
            <p:ph type="dt" sz="quarter" idx="1"/>
          </p:nvPr>
        </p:nvSpPr>
        <p:spPr>
          <a:xfrm>
            <a:off x="5137720" y="229395"/>
            <a:ext cx="1243608" cy="310159"/>
          </a:xfrm>
          <a:prstGeom prst="rect">
            <a:avLst/>
          </a:prstGeom>
        </p:spPr>
        <p:txBody>
          <a:bodyPr vert="horz" lIns="0" tIns="0" rIns="0" bIns="0" rtlCol="0"/>
          <a:lstStyle>
            <a:lvl1pPr algn="r">
              <a:defRPr sz="1200"/>
            </a:lvl1pPr>
          </a:lstStyle>
          <a:p>
            <a:fld id="{EEC665CA-D682-48EC-95D2-126FD6449D65}" type="datetime1">
              <a:rPr lang="de-CH" sz="900" smtClean="0"/>
              <a:t>18.10.2026</a:t>
            </a:fld>
            <a:endParaRPr lang="de-CH" sz="900"/>
          </a:p>
        </p:txBody>
      </p:sp>
      <p:sp>
        <p:nvSpPr>
          <p:cNvPr id="4" name="Fußzeilenplatzhalter 3"/>
          <p:cNvSpPr>
            <a:spLocks noGrp="1"/>
          </p:cNvSpPr>
          <p:nvPr>
            <p:ph type="ftr" sz="quarter" idx="2"/>
          </p:nvPr>
        </p:nvSpPr>
        <p:spPr>
          <a:xfrm>
            <a:off x="476672" y="8489144"/>
            <a:ext cx="4320480" cy="331331"/>
          </a:xfrm>
          <a:prstGeom prst="rect">
            <a:avLst/>
          </a:prstGeom>
        </p:spPr>
        <p:txBody>
          <a:bodyPr vert="horz" lIns="0" tIns="0" rIns="0" bIns="0" rtlCol="0" anchor="b"/>
          <a:lstStyle>
            <a:lvl1pPr algn="l">
              <a:defRPr sz="1200"/>
            </a:lvl1pPr>
          </a:lstStyle>
          <a:p>
            <a:r>
              <a:rPr lang="de-CH" sz="900"/>
              <a:t>Fusszeilentext</a:t>
            </a:r>
            <a:endParaRPr lang="de-CH" sz="900" dirty="0"/>
          </a:p>
        </p:txBody>
      </p:sp>
      <p:sp>
        <p:nvSpPr>
          <p:cNvPr id="5" name="Foliennummernplatzhalter 4"/>
          <p:cNvSpPr>
            <a:spLocks noGrp="1"/>
          </p:cNvSpPr>
          <p:nvPr>
            <p:ph type="sldNum" sz="quarter" idx="3"/>
          </p:nvPr>
        </p:nvSpPr>
        <p:spPr>
          <a:xfrm>
            <a:off x="5137720" y="8489146"/>
            <a:ext cx="1243608" cy="331329"/>
          </a:xfrm>
          <a:prstGeom prst="rect">
            <a:avLst/>
          </a:prstGeom>
        </p:spPr>
        <p:txBody>
          <a:bodyPr vert="horz" lIns="0" tIns="0" rIns="0" bIns="0" rtlCol="0" anchor="b"/>
          <a:lstStyle>
            <a:lvl1pPr algn="r">
              <a:defRPr sz="1200"/>
            </a:lvl1pPr>
          </a:lstStyle>
          <a:p>
            <a:fld id="{2CEDAA2C-602C-494B-9BFF-F0D7FF14E319}" type="slidenum">
              <a:rPr lang="de-CH" sz="900" smtClean="0"/>
              <a:t>‹N°›</a:t>
            </a:fld>
            <a:endParaRPr lang="de-CH" sz="900" dirty="0"/>
          </a:p>
        </p:txBody>
      </p:sp>
    </p:spTree>
    <p:extLst>
      <p:ext uri="{BB962C8B-B14F-4D97-AF65-F5344CB8AC3E}">
        <p14:creationId xmlns:p14="http://schemas.microsoft.com/office/powerpoint/2010/main" val="1625002673"/>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Folienbildplatzhalter 11"/>
          <p:cNvSpPr>
            <a:spLocks noGrp="1" noRot="1" noChangeAspect="1"/>
          </p:cNvSpPr>
          <p:nvPr>
            <p:ph type="sldImg" idx="2"/>
          </p:nvPr>
        </p:nvSpPr>
        <p:spPr>
          <a:xfrm>
            <a:off x="773424" y="1246193"/>
            <a:ext cx="5560412" cy="3127732"/>
          </a:xfrm>
          <a:prstGeom prst="rect">
            <a:avLst/>
          </a:prstGeom>
          <a:noFill/>
          <a:ln w="3175">
            <a:solidFill>
              <a:prstClr val="black"/>
            </a:solidFill>
          </a:ln>
        </p:spPr>
        <p:txBody>
          <a:bodyPr vert="horz" lIns="91440" tIns="45720" rIns="91440" bIns="45720" rtlCol="0" anchor="ctr"/>
          <a:lstStyle/>
          <a:p>
            <a:endParaRPr lang="de-CH"/>
          </a:p>
        </p:txBody>
      </p:sp>
      <p:sp>
        <p:nvSpPr>
          <p:cNvPr id="14" name="Fußzeilenplatzhalter 13"/>
          <p:cNvSpPr>
            <a:spLocks noGrp="1"/>
          </p:cNvSpPr>
          <p:nvPr>
            <p:ph type="ftr" sz="quarter" idx="4"/>
          </p:nvPr>
        </p:nvSpPr>
        <p:spPr>
          <a:xfrm>
            <a:off x="775244" y="8964488"/>
            <a:ext cx="2230428" cy="179512"/>
          </a:xfrm>
          <a:prstGeom prst="rect">
            <a:avLst/>
          </a:prstGeom>
        </p:spPr>
        <p:txBody>
          <a:bodyPr vert="horz" lIns="0" tIns="0" rIns="0" bIns="0" rtlCol="0" anchor="t"/>
          <a:lstStyle>
            <a:lvl1pPr algn="l">
              <a:defRPr sz="900"/>
            </a:lvl1pPr>
          </a:lstStyle>
          <a:p>
            <a:r>
              <a:rPr lang="de-CH" dirty="0"/>
              <a:t>Fusszeilentext</a:t>
            </a:r>
          </a:p>
        </p:txBody>
      </p:sp>
      <p:sp>
        <p:nvSpPr>
          <p:cNvPr id="15" name="Foliennummernplatzhalter 14"/>
          <p:cNvSpPr>
            <a:spLocks noGrp="1"/>
          </p:cNvSpPr>
          <p:nvPr>
            <p:ph type="sldNum" sz="quarter" idx="5"/>
          </p:nvPr>
        </p:nvSpPr>
        <p:spPr>
          <a:xfrm>
            <a:off x="5462663" y="8964488"/>
            <a:ext cx="871173" cy="179512"/>
          </a:xfrm>
          <a:prstGeom prst="rect">
            <a:avLst/>
          </a:prstGeom>
        </p:spPr>
        <p:txBody>
          <a:bodyPr vert="horz" lIns="0" tIns="0" rIns="0" bIns="0" rtlCol="0" anchor="t"/>
          <a:lstStyle>
            <a:lvl1pPr algn="r">
              <a:defRPr sz="900"/>
            </a:lvl1pPr>
          </a:lstStyle>
          <a:p>
            <a:fld id="{83C81C81-E364-4366-A610-2DB15FF98538}" type="slidenum">
              <a:rPr lang="de-CH" smtClean="0"/>
              <a:pPr/>
              <a:t>‹N°›</a:t>
            </a:fld>
            <a:endParaRPr lang="de-CH" dirty="0"/>
          </a:p>
        </p:txBody>
      </p:sp>
      <p:sp>
        <p:nvSpPr>
          <p:cNvPr id="16" name="Notizenplatzhalter 15"/>
          <p:cNvSpPr>
            <a:spLocks noGrp="1"/>
          </p:cNvSpPr>
          <p:nvPr>
            <p:ph type="body" sz="quarter" idx="3"/>
          </p:nvPr>
        </p:nvSpPr>
        <p:spPr>
          <a:xfrm>
            <a:off x="773424" y="4644008"/>
            <a:ext cx="5560412" cy="3888432"/>
          </a:xfrm>
          <a:prstGeom prst="rect">
            <a:avLst/>
          </a:prstGeom>
        </p:spPr>
        <p:txBody>
          <a:bodyPr vert="horz" lIns="0" tIns="0" rIns="0" bIns="0"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de-CH" dirty="0"/>
          </a:p>
        </p:txBody>
      </p:sp>
      <p:sp>
        <p:nvSpPr>
          <p:cNvPr id="17" name="Datumsplatzhalter 16"/>
          <p:cNvSpPr>
            <a:spLocks noGrp="1"/>
          </p:cNvSpPr>
          <p:nvPr>
            <p:ph type="dt" idx="1"/>
          </p:nvPr>
        </p:nvSpPr>
        <p:spPr>
          <a:xfrm>
            <a:off x="4229809" y="425838"/>
            <a:ext cx="2095308" cy="185722"/>
          </a:xfrm>
          <a:prstGeom prst="rect">
            <a:avLst/>
          </a:prstGeom>
        </p:spPr>
        <p:txBody>
          <a:bodyPr vert="horz" lIns="0" tIns="0" rIns="0" bIns="0" rtlCol="0"/>
          <a:lstStyle>
            <a:lvl1pPr algn="r">
              <a:defRPr sz="900"/>
            </a:lvl1pPr>
          </a:lstStyle>
          <a:p>
            <a:fld id="{A17AAF7D-4283-4014-80F4-26E915FEACF8}" type="datetime1">
              <a:rPr lang="de-CH" smtClean="0"/>
              <a:t>18.10.2026</a:t>
            </a:fld>
            <a:endParaRPr lang="de-CH" dirty="0"/>
          </a:p>
        </p:txBody>
      </p:sp>
      <p:sp>
        <p:nvSpPr>
          <p:cNvPr id="18" name="Kopfzeilenplatzhalter 17"/>
          <p:cNvSpPr>
            <a:spLocks noGrp="1"/>
          </p:cNvSpPr>
          <p:nvPr>
            <p:ph type="hdr" sz="quarter"/>
          </p:nvPr>
        </p:nvSpPr>
        <p:spPr>
          <a:xfrm>
            <a:off x="764704" y="432000"/>
            <a:ext cx="3249080" cy="179560"/>
          </a:xfrm>
          <a:prstGeom prst="rect">
            <a:avLst/>
          </a:prstGeom>
        </p:spPr>
        <p:txBody>
          <a:bodyPr vert="horz" lIns="0" tIns="0" rIns="0" bIns="0" rtlCol="0"/>
          <a:lstStyle>
            <a:lvl1pPr algn="l">
              <a:defRPr sz="900"/>
            </a:lvl1pPr>
          </a:lstStyle>
          <a:p>
            <a:r>
              <a:rPr lang="de-CH"/>
              <a:t>Kopfzeilentext</a:t>
            </a:r>
            <a:endParaRPr lang="de-CH" dirty="0"/>
          </a:p>
        </p:txBody>
      </p:sp>
    </p:spTree>
    <p:extLst>
      <p:ext uri="{BB962C8B-B14F-4D97-AF65-F5344CB8AC3E}">
        <p14:creationId xmlns:p14="http://schemas.microsoft.com/office/powerpoint/2010/main" val="311709705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spcAft>
        <a:spcPts val="600"/>
      </a:spcAft>
      <a:defRPr sz="1100" kern="1200">
        <a:solidFill>
          <a:schemeClr val="tx1"/>
        </a:solidFill>
        <a:latin typeface="+mn-lt"/>
        <a:ea typeface="+mn-ea"/>
        <a:cs typeface="+mn-cs"/>
      </a:defRPr>
    </a:lvl1pPr>
    <a:lvl2pPr marL="177800"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2pPr>
    <a:lvl3pPr marL="357188" indent="-17938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3pPr>
    <a:lvl4pPr marL="534988" indent="-177800"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4pPr>
    <a:lvl5pPr marL="720725" indent="-185738" algn="l" defTabSz="914400" rtl="0" eaLnBrk="1" latinLnBrk="0" hangingPunct="1">
      <a:spcAft>
        <a:spcPts val="600"/>
      </a:spcAft>
      <a:buFont typeface="Arial" panose="020B0604020202020204" pitchFamily="34" charset="0"/>
      <a:buChar char="‒"/>
      <a:defRPr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[4:40–4:45] Speaker A. Leave this slide up during Q&amp;A.</a:t>
            </a:r>
          </a:p>
          <a:p>
            <a:r>
              <a:t>"Want to try Mutz yourself? Scan the code. The login is mutz, the password bearlikeshoney, because that's what our bear likes. Or run it on your own laptop with this one command."</a:t>
            </a:r>
          </a:p>
          <a:p>
            <a:r>
              <a:t>Live demo is kept warm until 23:59 tonight. The docker image needs an Apertus key for the Keera gateway.</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[0:00–0:15] Speaker A. Walk on, let the slide sit for a second.</a:t>
            </a:r>
          </a:p>
          <a:p/>
          <a:p>
            <a:r>
              <a:t>"Fun fact. In the year 1191, Duke Berchtold of Zähringen founded a new city here, and promised to name it after the first animal he caught on the hunt. Which animal was it?"</a:t>
            </a:r>
          </a:p>
          <a:p/>
          <a:p>
            <a:r>
              <a:t>(Pause. Let a few people answer out loud before you click.)</a:t>
            </a:r>
          </a:p>
          <a:p/>
          <a:p>
            <a:r>
              <a:t>(Legend, not a documented fact: say "legend says" if anyone asks.)</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[0:15–0:22] Speaker A.</a:t>
            </a:r>
          </a:p>
          <a:p/>
          <a:p>
            <a:r>
              <a:t>"It was a bear. That's how Bern got its name, and its bear."</a:t>
            </a:r>
          </a:p>
          <a:p/>
          <a:p>
            <a:r>
              <a:t>(Pause while Mutz pops up and smiles. Let the audience smile too.)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[0:22–0:40] Speaker A, in time with the animation (Mutz tears through the pages and finds the full pot, then the "mutz" wordmark lands).</a:t>
            </a:r>
          </a:p>
          <a:p/>
          <a:p>
            <a:r>
              <a:t>"Our Bernese bear, the Mutz, has stopped hunting for prey. Now he goes looking for honey instead: the right research partner for every company that wants to come to Bern."</a:t>
            </a:r>
          </a:p>
          <a:p/>
          <a:p>
            <a:r>
              <a:t>(Say "honey" as the pot fills. Let the wordmark land before you move on.)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[0:40–1:00] Speaker A.</a:t>
            </a:r>
          </a:p>
          <a:p/>
          <a:p>
            <a:r>
              <a:t>"Every year, about 300 confidential company leads reach the Bern Economic Development Agency. Each company needs the right partner in Bern, and that partner is hidden somewhere in hundreds of research pages, in three languages. Zurich and Lausanne get the same leads. The fastest, most convincing answer wins."</a:t>
            </a:r>
          </a:p>
          <a:p/>
          <a:p>
            <a:r>
              <a:t>(Optional, for experts: "And the lead is confidential, so it can't go into any public AI.")</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[1:00–3:15] Speaker B drives, Speaker A narrates. This is the heart of the pitch.</a:t>
            </a:r>
          </a:p>
          <a:p/>
          <a:p>
            <a:r>
              <a:t>Script to be planned. Demo beats, in order:</a:t>
            </a:r>
          </a:p>
          <a:p>
            <a:r>
              <a:t>1. Case list: the officer's Monday morning.</a:t>
            </a:r>
          </a:p>
          <a:p>
            <a:r>
              <a:t>2. Paste the one-pager: Apertus pulls out the needs.</a:t>
            </a:r>
          </a:p>
          <a:p>
            <a:r>
              <a:t>3. Matches with a plain reason. CLICK A REASON: the source page opens at the exact sentence. Pause.</a:t>
            </a:r>
          </a:p>
          <a:p>
            <a:r>
              <a:t>4. Accept two, reject one. Export the CEO teaser.</a:t>
            </a:r>
          </a:p>
          <a:p>
            <a:r>
              <a:t>5. Weak field ("battery recycling"): empty honey pot, "Kei Hung im Topf".</a:t>
            </a:r>
          </a:p>
          <a:p>
            <a:r>
              <a:t>6. Add a source: Mutz alert, "2 open cases have new matches".</a:t>
            </a:r>
          </a:p>
          <a:p/>
          <a:p>
            <a:r>
              <a:t>Fallback: backup video in a hidden tab; backup slide "From one-pager to pitch" at the end.</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[3:15–3:30] Speaker A. (Skip if the demo already showed the empty pot clearly.)</a:t>
            </a:r>
          </a:p>
          <a:p/>
          <a:p>
            <a:r>
              <a:t>"Every need gets a honey pot. Full: pitch it. Thin: check first. Empty: don't pitch. As the agency told us: 'we cannot oversell, we must sell what we have.'"</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[3:30–3:50] Speaker A.</a:t>
            </a:r>
          </a:p>
          <a:p/>
          <a:p>
            <a:r>
              <a:t>"Mutz doesn't stop after one search. When new research appears, every open case is re-checked and the officer gets an alert. And every search adds up: a word cloud of what Bern is strong in, and a report of what companies ask for that Bern doesn't have yet. That's input for the canton's economic strategy."</a:t>
            </a:r>
          </a:p>
          <a:p/>
          <a:p>
            <a:r>
              <a:t>(Details for questions: backup slides "Bern's research never sits idle" and "From a search tool to an economic strategy tool".)</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[3:50–4:10] Speaker B.</a:t>
            </a:r>
          </a:p>
          <a:p/>
          <a:p>
            <a:r>
              <a:t>"Here are our results, measured on questions we never tuned on. [XX]% of the time the right expert is in the top 10. Lay words and expert jargon find the same people [XX]% of the time. And zero facts without a source."</a:t>
            </a:r>
          </a:p>
          <a:p/>
          <a:p>
            <a:r>
              <a:t>Replace every [XX] with the numbers from your single held-out run. Change "0" only if your verifier really measured 0 of N. Details: backup slide "We measured it on questions we never tuned on".</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A. Slow down.</a:t>
            </a:r>
          </a:p>
          <a:p/>
          <a:p>
            <a:r>
              <a:t>"In 1191, a bear gave Bern its name. Today, a bear finds Bern's honey. Bern is full of it: world-class research. Mutz finds the right pot for every company. Thank you."</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Everything below is for Q&amp;A only. Jump here with the slide number, don't present it.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slide for the demo (use if the live demo fails, or flash it for 5 seconds as a summary).</a:t>
            </a:r>
          </a:p>
          <a:p/>
          <a:p>
            <a:r>
              <a:t>"Three screens, one job each. Brief: Apertus pulls the needs out of the one-pager. Matches: ranked experts with a plain reason and a source. Pitch: a CEO teaser where every claim is numbered and linked. And the officer stays in control at every step: accept, reject, edit."</a:t>
            </a:r>
          </a:p>
          <a:p/>
          <a:p>
            <a:r>
              <a:t>Expert strip: needs extraction and query expansion with Apertus 70B; hybrid retrieval aggregated to people and units; grounded reasons cite chunk IDs; text-fragment deep links open the page at the quote.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[3:40–4:05] Speaker B (the technical person).</a:t>
            </a:r>
          </a:p>
          <a:p/>
          <a:p>
            <a:r>
              <a:t>"Most teams will tell you their system works. We measured it, on questions we never tuned on.</a:t>
            </a:r>
          </a:p>
          <a:p/>
          <a:p>
            <a:r>
              <a:t>[XX]% of the time the right expert is in the top 10. Lay words and expert jargon find the same people [XX]% of the time. Zero of [N] facts without a verified quote. And here's our weakest category, because you should know where it struggles.</a:t>
            </a:r>
          </a:p>
          <a:p/>
          <a:p>
            <a:r>
              <a:t>If you want, type your own question right now."</a:t>
            </a:r>
          </a:p>
          <a:p/>
          <a:p>
            <a:r>
              <a:t>Beginners: "8 times out of 10, the right person is on the first page" (adapt to your number).</a:t>
            </a:r>
          </a:p>
          <a:p>
            <a:r>
              <a:t>Only offer the live question if the 'no match' path is solid. Replace ALL [XX] / [N] with the numbers from the single held-out run after the freeze. Never round up.</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[4:05–4:25] Speaker A.</a:t>
            </a:r>
          </a:p>
          <a:p/>
          <a:p>
            <a:r>
              <a:t>"Remember: 'we cannot put it onto any model.' So we drew a hard line. Anything confidential, the one-pager and the officer's notes, only ever goes to Apertus, the Swiss open model, running at CSCS in Switzerland. Partner models only ever see public web text.</a:t>
            </a:r>
          </a:p>
          <a:p/>
          <a:p>
            <a:r>
              <a:t>For the agency, that's not a compliance checkbox. It's the reason this tool can exist at all."</a:t>
            </a:r>
          </a:p>
          <a:p/>
          <a:p>
            <a:r>
              <a:t>Expert note: routing rule enforced in code; gateway calls logged with model and token counts; self-hosted path = docker compose on one GPU box with vLLM.</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[2:50–3:20] Speaker B, live. This is the 'wow' sequence.</a:t>
            </a:r>
          </a:p>
          <a:p/>
          <a:p>
            <a:r>
              <a:t>"With 300 leads a year, the officer needs more than a search box. Here's the case list: new, triaged, pitched, visit, won or lost.</a:t>
            </a:r>
          </a:p>
          <a:p/>
          <a:p>
            <a:r>
              <a:t>Now watch. We add a new archive, sitem-insel, with six lines of config... (run ingest, cached)... and Mutz pops up: 'New archive checked. Two open cases have new matches.' Bern's research never sits idle: when a new group or project appears, the companies waiting for it find it."</a:t>
            </a:r>
          </a:p>
          <a:p/>
          <a:p>
            <a:r>
              <a:t>Stage tip: prepare the 4th source and one demo case that really matches it. Cap the demo source at ~30 pages or pre-run it; say "we ran the crawl earlier" if it's cached.</a:t>
            </a:r>
          </a:p>
          <a:p/>
          <a:p>
            <a:r>
              <a:t>Expert note: after each ingest, every open case's needs are re-run; the top-10 and coverage are diffed against a stored snapshot; new entries or a coverage upgrade create an alert. In production a nightly re-crawl triggers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[3:20–3:40] Speaker A.</a:t>
            </a:r>
          </a:p>
          <a:p/>
          <a:p>
            <a:r>
              <a:t>"Every search leaves a trace. Flip them around and you get two things the agency has never had.</a:t>
            </a:r>
          </a:p>
          <a:p/>
          <a:p>
            <a:r>
              <a:t>Left: a word cloud of Bern's expertise. The bigger the word, the more verified pages back it. Useful for deciding which leads to bid on, and for the agency's own outreach abroad.</a:t>
            </a:r>
          </a:p>
          <a:p/>
          <a:p>
            <a:r>
              <a:t>Right: a gap report. Every empty honey pot is a data point. 'This year, leads kept asking for battery technology and Bern had nothing.' That is information for the canton's economic strategy."</a:t>
            </a:r>
          </a:p>
          <a:p/>
          <a:p>
            <a:r>
              <a:t>HONESTY: the map only covers crawled archives (grey = not crawled yet). The gap bars and [XX] are placeholders: fill them from your test runs and SAY they are test data. Update the field states from your real crawl before the pitch.</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[4:25–4:40] Speaker B.</a:t>
            </a:r>
          </a:p>
          <a:p/>
          <a:p>
            <a:r>
              <a:t>"Scaling to all of Bern doesn't need new code. A new archive is six lines of config. We started with life science and medtech, because that's where the agency told us Bern is strongest.</a:t>
            </a:r>
          </a:p>
          <a:p/>
          <a:p>
            <a:r>
              <a:t>The value: we measured [X] hours saved per case. Times 300 cases a year, that's [XXX] officer hours back. And it costs [XX] tokens per case."</a:t>
            </a:r>
          </a:p>
          <a:p/>
          <a:p>
            <a:r>
              <a:t>Fill [X], [XXX], [XX] with your own measurements (time a manual search vs. the tool on 3 cases). Check sitem-insel's real URL before the pitch.</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[4:40–4:55] Speaker A.</a:t>
            </a:r>
          </a:p>
          <a:p/>
          <a:p>
            <a:r>
              <a:t>"What does this mean for Bern? In 2024, the Greater Geneva Bern area worked on more than 500 investment projects, and 79 companies settled in its member cantons. Every one of those started as a one-pager like ours.</a:t>
            </a:r>
          </a:p>
          <a:p/>
          <a:p>
            <a:r>
              <a:t>With Mutz, Bern bids faster, bids only where it's strong, learns where to invest, and gives small research groups the same chance as big institutes. Every company that settles here means jobs, partnerships and research that reaches the market."</a:t>
            </a:r>
          </a:p>
          <a:p/>
          <a:p>
            <a:r>
              <a:t>(Check the GGBa figures against the annual report before presenting.)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Backup for technical questions. Walk left to right; stress the verifier and the evidence table.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Slide Number Placeholder 2"/>
          <p:cNvSpPr>
            <a:spLocks noGrp="1"/>
          </p:cNvSpPr>
          <p:nvPr>
            <p:ph type="sldNum" idx="5" sz="quarter"/>
          </p:nvPr>
        </p:nvSpPr>
        <p:spPr/>
      </p:sp>
      <p:sp>
        <p:nvSpPr>
          <p:cNvPr id="4" name="Notes Placeholder 3"/>
          <p:cNvSpPr>
            <a:spLocks noGrp="1"/>
          </p:cNvSpPr>
          <p:nvPr>
            <p:ph type="body" idx="3" sz="quarter"/>
          </p:nvPr>
        </p:nvSpPr>
        <p:spPr/>
        <p:txBody>
          <a:bodyPr/>
          <a:lstStyle/>
          <a:p>
            <a:r>
              <a:t>Use when a judge asks about ranking fairness or 'black box'. The explanation is built from logged scores, never invented by the model.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folie">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p>
            <a:fld id="{D8188CD8-7FF1-4ED3-8276-926FEB01991B}"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1" name="Textplatzhalter 4">
            <a:extLst>
              <a:ext uri="{FF2B5EF4-FFF2-40B4-BE49-F238E27FC236}">
                <a16:creationId xmlns:a16="http://schemas.microsoft.com/office/drawing/2014/main" id="{F6BA63E4-E10F-4E0A-91F5-2A2F84225353}"/>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Tree>
    <p:extLst>
      <p:ext uri="{BB962C8B-B14F-4D97-AF65-F5344CB8AC3E}">
        <p14:creationId xmlns:p14="http://schemas.microsoft.com/office/powerpoint/2010/main" val="13385399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folie mit Bild (hell) ">
    <p:spTree>
      <p:nvGrpSpPr>
        <p:cNvPr id="1" name=""/>
        <p:cNvGrpSpPr/>
        <p:nvPr/>
      </p:nvGrpSpPr>
      <p:grpSpPr>
        <a:xfrm>
          <a:off x="0" y="0"/>
          <a:ext cx="0" cy="0"/>
          <a:chOff x="0" y="0"/>
          <a:chExt cx="0" cy="0"/>
        </a:xfrm>
      </p:grpSpPr>
      <p:sp>
        <p:nvSpPr>
          <p:cNvPr id="14" name="Bildplatzhalter 4">
            <a:extLst>
              <a:ext uri="{FF2B5EF4-FFF2-40B4-BE49-F238E27FC236}">
                <a16:creationId xmlns:a16="http://schemas.microsoft.com/office/drawing/2014/main" id="{60DBF63A-340F-460B-96E6-FC454B3EB6E5}"/>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8" name="Textplatzhalter 7">
            <a:extLst>
              <a:ext uri="{FF2B5EF4-FFF2-40B4-BE49-F238E27FC236}">
                <a16:creationId xmlns:a16="http://schemas.microsoft.com/office/drawing/2014/main" id="{6A410D26-1556-455F-8E0C-7721F22645DD}"/>
              </a:ext>
            </a:extLst>
          </p:cNvPr>
          <p:cNvSpPr>
            <a:spLocks noGrp="1"/>
          </p:cNvSpPr>
          <p:nvPr>
            <p:ph type="body" sz="quarter" idx="18" hasCustomPrompt="1"/>
          </p:nvPr>
        </p:nvSpPr>
        <p:spPr>
          <a:xfrm>
            <a:off x="-240704" y="0"/>
            <a:ext cx="168696" cy="6858000"/>
          </a:xfrm>
          <a:solidFill>
            <a:srgbClr val="FFFFFF">
              <a:alpha val="69804"/>
            </a:srgbClr>
          </a:solidFill>
        </p:spPr>
        <p:txBody>
          <a:bodyPr vert="vert270" lIns="18000" rIns="18000" anchor="t"/>
          <a:lstStyle>
            <a:lvl1pPr algn="r">
              <a:defRPr sz="820">
                <a:solidFill>
                  <a:schemeClr val="bg2"/>
                </a:solidFill>
              </a:defRPr>
            </a:lvl1pPr>
          </a:lstStyle>
          <a:p>
            <a:pPr lvl="0"/>
            <a:r>
              <a:rPr lang="de-DE" dirty="0"/>
              <a:t>Helle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tx1"/>
                </a:solidFill>
              </a:defRPr>
            </a:lvl1pPr>
          </a:lstStyle>
          <a:p>
            <a:fld id="{5FE384C9-A36A-4C51-A757-4015A728520B}"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tx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tx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rgbClr val="EA161F"/>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5" name="Textplatzhalter 4">
            <a:extLst>
              <a:ext uri="{FF2B5EF4-FFF2-40B4-BE49-F238E27FC236}">
                <a16:creationId xmlns:a16="http://schemas.microsoft.com/office/drawing/2014/main" id="{5635797A-88C8-4B59-88E9-2DAF61D2598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tx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lvl1pPr>
          </a:lstStyle>
          <a:p>
            <a:r>
              <a:rPr lang="de-CH" dirty="0"/>
              <a:t>Titel (maximal zwei Zeilen)</a:t>
            </a:r>
          </a:p>
        </p:txBody>
      </p:sp>
    </p:spTree>
    <p:extLst>
      <p:ext uri="{BB962C8B-B14F-4D97-AF65-F5344CB8AC3E}">
        <p14:creationId xmlns:p14="http://schemas.microsoft.com/office/powerpoint/2010/main" val="1009635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folie mit Bild (dunkel)">
    <p:spTree>
      <p:nvGrpSpPr>
        <p:cNvPr id="1" name=""/>
        <p:cNvGrpSpPr/>
        <p:nvPr/>
      </p:nvGrpSpPr>
      <p:grpSpPr>
        <a:xfrm>
          <a:off x="0" y="0"/>
          <a:ext cx="0" cy="0"/>
          <a:chOff x="0" y="0"/>
          <a:chExt cx="0" cy="0"/>
        </a:xfrm>
      </p:grpSpPr>
      <p:sp>
        <p:nvSpPr>
          <p:cNvPr id="16" name="Bildplatzhalter 4">
            <a:extLst>
              <a:ext uri="{FF2B5EF4-FFF2-40B4-BE49-F238E27FC236}">
                <a16:creationId xmlns:a16="http://schemas.microsoft.com/office/drawing/2014/main" id="{6A2DDBDC-F105-48B2-B9F8-38121A7EA8C9}"/>
              </a:ext>
            </a:extLst>
          </p:cNvPr>
          <p:cNvSpPr>
            <a:spLocks noGrp="1"/>
          </p:cNvSpPr>
          <p:nvPr>
            <p:ph type="pic" sz="quarter" idx="17" hasCustomPrompt="1"/>
          </p:nvPr>
        </p:nvSpPr>
        <p:spPr>
          <a:xfrm>
            <a:off x="0" y="0"/>
            <a:ext cx="12192000" cy="6858000"/>
          </a:xfrm>
          <a:pattFill prst="lgCheck">
            <a:fgClr>
              <a:schemeClr val="bg1">
                <a:lumMod val="85000"/>
              </a:schemeClr>
            </a:fgClr>
            <a:bgClr>
              <a:schemeClr val="bg1"/>
            </a:bgClr>
          </a:pattFill>
        </p:spPr>
        <p:txBody>
          <a:bodyPr lIns="9432000" tIns="720000" rIns="360000" anchor="ctr"/>
          <a:lstStyle>
            <a:lvl1pPr algn="l">
              <a:defRPr sz="1200">
                <a:solidFill>
                  <a:schemeClr val="accent1">
                    <a:lumMod val="60000"/>
                    <a:lumOff val="40000"/>
                  </a:schemeClr>
                </a:solidFill>
              </a:defRPr>
            </a:lvl1pPr>
          </a:lstStyle>
          <a:p>
            <a:r>
              <a:rPr lang="de-CH" dirty="0"/>
              <a:t>Hintergrundbild durch «Drag &amp; Drop» in den Bildplatzhalter ziehen.</a:t>
            </a:r>
          </a:p>
        </p:txBody>
      </p:sp>
      <p:sp>
        <p:nvSpPr>
          <p:cNvPr id="11" name="Textplatzhalter 7">
            <a:extLst>
              <a:ext uri="{FF2B5EF4-FFF2-40B4-BE49-F238E27FC236}">
                <a16:creationId xmlns:a16="http://schemas.microsoft.com/office/drawing/2014/main" id="{97E9A6A2-BECC-4EE3-BDC3-5BB494708F28}"/>
              </a:ext>
            </a:extLst>
          </p:cNvPr>
          <p:cNvSpPr>
            <a:spLocks noGrp="1"/>
          </p:cNvSpPr>
          <p:nvPr>
            <p:ph type="body" sz="quarter" idx="18" hasCustomPrompt="1"/>
          </p:nvPr>
        </p:nvSpPr>
        <p:spPr>
          <a:xfrm>
            <a:off x="-240704" y="0"/>
            <a:ext cx="168696" cy="6858000"/>
          </a:xfrm>
          <a:solidFill>
            <a:schemeClr val="accent1">
              <a:alpha val="69804"/>
            </a:schemeClr>
          </a:solidFill>
        </p:spPr>
        <p:txBody>
          <a:bodyPr vert="vert270" lIns="18000" rIns="18000" anchor="t"/>
          <a:lstStyle>
            <a:lvl1pPr algn="r">
              <a:defRPr sz="820">
                <a:solidFill>
                  <a:schemeClr val="bg2"/>
                </a:solidFill>
              </a:defRPr>
            </a:lvl1pPr>
          </a:lstStyle>
          <a:p>
            <a:pPr lvl="0"/>
            <a:r>
              <a:rPr lang="de-DE" dirty="0"/>
              <a:t>Dunkle transparente Fläche – kann über das Hintergrundbild gezogen werden.</a:t>
            </a:r>
            <a:endParaRPr lang="de-CH" dirty="0"/>
          </a:p>
        </p:txBody>
      </p:sp>
      <p:sp>
        <p:nvSpPr>
          <p:cNvPr id="3" name="Untertitel 2"/>
          <p:cNvSpPr>
            <a:spLocks noGrp="1"/>
          </p:cNvSpPr>
          <p:nvPr>
            <p:ph type="subTitle" idx="1" hasCustomPrompt="1"/>
          </p:nvPr>
        </p:nvSpPr>
        <p:spPr>
          <a:xfrm>
            <a:off x="839788" y="3757613"/>
            <a:ext cx="8496300" cy="1500187"/>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0919DDA5-21C2-4B1D-B299-BF7B0E6DE0F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03DC6B3D-051C-4BB5-9F4B-3A2474AD9302}"/>
              </a:ext>
            </a:extLst>
          </p:cNvPr>
          <p:cNvSpPr>
            <a:spLocks noGrp="1"/>
          </p:cNvSpPr>
          <p:nvPr>
            <p:ph type="body" sz="quarter" idx="13" hasCustomPrompt="1"/>
          </p:nvPr>
        </p:nvSpPr>
        <p:spPr>
          <a:xfrm>
            <a:off x="839788" y="1881188"/>
            <a:ext cx="5256212" cy="252412"/>
          </a:xfrm>
        </p:spPr>
        <p:txBody>
          <a:bodyPr lIns="18000"/>
          <a:lstStyle>
            <a:lvl1pPr>
              <a:defRPr sz="1300" b="1" spc="-20" baseline="0">
                <a:solidFill>
                  <a:schemeClr val="bg1"/>
                </a:solidFill>
                <a:latin typeface="Arial" panose="020B0604020202020204" pitchFamily="34" charset="0"/>
                <a:cs typeface="Arial" panose="020B0604020202020204" pitchFamily="34" charset="0"/>
              </a:defRPr>
            </a:lvl1pPr>
          </a:lstStyle>
          <a:p>
            <a:pPr lvl="0"/>
            <a:r>
              <a:rPr lang="de-DE" dirty="0"/>
              <a:t>Spitzmarke hinzufügen</a:t>
            </a:r>
            <a:endParaRPr lang="de-CH" dirty="0"/>
          </a:p>
        </p:txBody>
      </p:sp>
      <p:sp>
        <p:nvSpPr>
          <p:cNvPr id="13" name="Textplatzhalter 4">
            <a:extLst>
              <a:ext uri="{FF2B5EF4-FFF2-40B4-BE49-F238E27FC236}">
                <a16:creationId xmlns:a16="http://schemas.microsoft.com/office/drawing/2014/main" id="{85EFC2AA-536C-4AE6-B953-354A6935FCE4}"/>
              </a:ext>
            </a:extLst>
          </p:cNvPr>
          <p:cNvSpPr>
            <a:spLocks noGrp="1"/>
          </p:cNvSpPr>
          <p:nvPr>
            <p:ph type="body" sz="quarter" idx="16" hasCustomPrompt="1"/>
          </p:nvPr>
        </p:nvSpPr>
        <p:spPr>
          <a:xfrm>
            <a:off x="291600" y="180000"/>
            <a:ext cx="1483200" cy="694800"/>
          </a:xfrm>
          <a:blipFill>
            <a:blip r:embed="rId2"/>
            <a:stretch>
              <a:fillRect/>
            </a:stretch>
          </a:blipFill>
        </p:spPr>
        <p:txBody>
          <a:bodyPr/>
          <a:lstStyle>
            <a:lvl1pPr>
              <a:defRPr sz="500" b="0" spc="0" baseline="0">
                <a:solidFill>
                  <a:schemeClr val="tx1"/>
                </a:solidFill>
                <a:latin typeface="Arial" panose="020B0604020202020204" pitchFamily="34" charset="0"/>
                <a:cs typeface="Arial" panose="020B0604020202020204" pitchFamily="34" charset="0"/>
              </a:defRPr>
            </a:lvl1pPr>
          </a:lstStyle>
          <a:p>
            <a:pPr lvl="0"/>
            <a:r>
              <a:rPr lang="de-DE" dirty="0"/>
              <a:t>   </a:t>
            </a:r>
            <a:endParaRPr lang="de-CH" dirty="0"/>
          </a:p>
        </p:txBody>
      </p:sp>
      <p:sp>
        <p:nvSpPr>
          <p:cNvPr id="14" name="Textplatzhalter 4">
            <a:extLst>
              <a:ext uri="{FF2B5EF4-FFF2-40B4-BE49-F238E27FC236}">
                <a16:creationId xmlns:a16="http://schemas.microsoft.com/office/drawing/2014/main" id="{98F91D8E-4836-4A00-B7AC-63D16F153E2E}"/>
              </a:ext>
            </a:extLst>
          </p:cNvPr>
          <p:cNvSpPr>
            <a:spLocks noGrp="1"/>
          </p:cNvSpPr>
          <p:nvPr>
            <p:ph type="body" sz="quarter" idx="14" hasCustomPrompt="1"/>
          </p:nvPr>
        </p:nvSpPr>
        <p:spPr>
          <a:xfrm>
            <a:off x="839788" y="6033704"/>
            <a:ext cx="5256212" cy="430643"/>
          </a:xfrm>
        </p:spPr>
        <p:txBody>
          <a:bodyPr anchor="b"/>
          <a:lstStyle>
            <a:lvl1pPr>
              <a:defRPr sz="1300" b="0" spc="0" baseline="0">
                <a:solidFill>
                  <a:schemeClr val="bg1"/>
                </a:solidFill>
                <a:latin typeface="Arial" panose="020B0604020202020204" pitchFamily="34" charset="0"/>
                <a:cs typeface="Arial" panose="020B0604020202020204" pitchFamily="34" charset="0"/>
              </a:defRPr>
            </a:lvl1pPr>
          </a:lstStyle>
          <a:p>
            <a:pPr lvl="0"/>
            <a:r>
              <a:rPr lang="de-DE" dirty="0"/>
              <a:t>Referent/-in</a:t>
            </a:r>
            <a:br>
              <a:rPr lang="de-DE" dirty="0"/>
            </a:br>
            <a:r>
              <a:rPr lang="de-DE" dirty="0"/>
              <a:t>Organisationseinheit</a:t>
            </a:r>
            <a:endParaRPr lang="de-CH" dirty="0"/>
          </a:p>
        </p:txBody>
      </p:sp>
      <p:sp>
        <p:nvSpPr>
          <p:cNvPr id="2" name="Titel 1"/>
          <p:cNvSpPr>
            <a:spLocks noGrp="1"/>
          </p:cNvSpPr>
          <p:nvPr>
            <p:ph type="ctrTitle" hasCustomPrompt="1"/>
          </p:nvPr>
        </p:nvSpPr>
        <p:spPr>
          <a:xfrm>
            <a:off x="839788" y="2132856"/>
            <a:ext cx="8496300" cy="1558082"/>
          </a:xfrm>
        </p:spPr>
        <p:txBody>
          <a:bodyPr anchor="b"/>
          <a:lstStyle>
            <a:lvl1pPr algn="l">
              <a:lnSpc>
                <a:spcPct val="105000"/>
              </a:lnSpc>
              <a:defRPr sz="5100">
                <a:solidFill>
                  <a:schemeClr val="bg1"/>
                </a:solidFill>
              </a:defRPr>
            </a:lvl1pPr>
          </a:lstStyle>
          <a:p>
            <a:r>
              <a:rPr lang="de-CH" dirty="0"/>
              <a:t>Titel (maximal zwei Zeilen)</a:t>
            </a:r>
          </a:p>
        </p:txBody>
      </p:sp>
    </p:spTree>
    <p:extLst>
      <p:ext uri="{BB962C8B-B14F-4D97-AF65-F5344CB8AC3E}">
        <p14:creationId xmlns:p14="http://schemas.microsoft.com/office/powerpoint/2010/main" val="38918866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Kapiteltitel Schwarz">
    <p:bg>
      <p:bgPr>
        <a:solidFill>
          <a:schemeClr val="tx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 hinzufügen</a:t>
            </a:r>
            <a:endParaRPr lang="de-CH" dirty="0"/>
          </a:p>
        </p:txBody>
      </p:sp>
      <p:sp>
        <p:nvSpPr>
          <p:cNvPr id="7" name="Datumsplatzhalter 6"/>
          <p:cNvSpPr>
            <a:spLocks noGrp="1"/>
          </p:cNvSpPr>
          <p:nvPr>
            <p:ph type="dt" sz="half" idx="10"/>
          </p:nvPr>
        </p:nvSpPr>
        <p:spPr/>
        <p:txBody>
          <a:bodyPr/>
          <a:lstStyle>
            <a:lvl1pPr>
              <a:defRPr>
                <a:solidFill>
                  <a:schemeClr val="bg1"/>
                </a:solidFill>
              </a:defRPr>
            </a:lvl1pPr>
          </a:lstStyle>
          <a:p>
            <a:fld id="{D57004AA-1953-4520-AF13-C3721611799D}"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686246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Kapiteltitel Blaugrau">
    <p:bg>
      <p:bgPr>
        <a:solidFill>
          <a:schemeClr val="accent1"/>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chemeClr val="tx2">
                    <a:lumMod val="40000"/>
                    <a:lumOff val="6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2B1184E5-31D6-4FE5-BFC7-A07FAEBFE075}"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3334905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Kapiteltitel Rot">
    <p:bg>
      <p:bgPr>
        <a:solidFill>
          <a:srgbClr val="EA161F"/>
        </a:solidFill>
        <a:effectLst/>
      </p:bgPr>
    </p:bg>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solidFill>
                  <a:schemeClr val="bg1"/>
                </a:solidFill>
              </a:defRPr>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F69CA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lvl1pPr>
              <a:defRPr>
                <a:solidFill>
                  <a:schemeClr val="bg1"/>
                </a:solidFill>
              </a:defRPr>
            </a:lvl1pPr>
          </a:lstStyle>
          <a:p>
            <a:fld id="{E370FF11-BE2C-4D33-A71B-8DA63E8A163E}" type="datetime4">
              <a:rPr lang="de-CH" smtClean="0"/>
              <a:t>18. Oktober 2026</a:t>
            </a:fld>
            <a:endParaRPr lang="de-CH" dirty="0"/>
          </a:p>
        </p:txBody>
      </p:sp>
      <p:sp>
        <p:nvSpPr>
          <p:cNvPr id="9" name="Fußzeilenplatzhalter 8"/>
          <p:cNvSpPr>
            <a:spLocks noGrp="1"/>
          </p:cNvSpPr>
          <p:nvPr>
            <p:ph type="ftr" sz="quarter" idx="11"/>
          </p:nvPr>
        </p:nvSpPr>
        <p:spPr/>
        <p:txBody>
          <a:bodyPr/>
          <a:lstStyle>
            <a:lvl1pPr>
              <a:defRPr>
                <a:solidFill>
                  <a:schemeClr val="bg1"/>
                </a:solidFill>
              </a:defRPr>
            </a:lvl1p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lvl1pPr>
              <a:defRPr>
                <a:solidFill>
                  <a:schemeClr val="bg1"/>
                </a:solidFill>
              </a:defRPr>
            </a:lvl1pPr>
          </a:lstStyle>
          <a:p>
            <a:fld id="{442AD375-037F-43D0-B059-5172DA06796A}" type="slidenum">
              <a:rPr lang="de-CH" smtClean="0"/>
              <a:pPr/>
              <a:t>‹N°›</a:t>
            </a:fld>
            <a:endParaRPr lang="de-CH" dirty="0"/>
          </a:p>
        </p:txBody>
      </p:sp>
      <p:pic>
        <p:nvPicPr>
          <p:cNvPr id="8" name="Grafik 7">
            <a:extLst>
              <a:ext uri="{FF2B5EF4-FFF2-40B4-BE49-F238E27FC236}">
                <a16:creationId xmlns:a16="http://schemas.microsoft.com/office/drawing/2014/main" id="{704820DD-3205-4E29-AE71-A382F3B95BBF}"/>
              </a:ext>
            </a:extLst>
          </p:cNvPr>
          <p:cNvPicPr>
            <a:picLocks noChangeAspect="1"/>
          </p:cNvPicPr>
          <p:nvPr userDrawn="1"/>
        </p:nvPicPr>
        <p:blipFill>
          <a:blip r:embed="rId2" cstate="print">
            <a:extLst>
              <a:ext uri="{28A0092B-C50C-407E-A947-70E740481C1C}">
                <a14:useLocalDpi xmlns:a14="http://schemas.microsoft.com/office/drawing/2010/main" val="0"/>
              </a:ext>
            </a:extLst>
          </a:blip>
          <a:srcRect/>
          <a:stretch/>
        </p:blipFill>
        <p:spPr>
          <a:xfrm>
            <a:off x="293151" y="181525"/>
            <a:ext cx="1484308" cy="695266"/>
          </a:xfrm>
          <a:prstGeom prst="rect">
            <a:avLst/>
          </a:prstGeom>
        </p:spPr>
      </p:pic>
    </p:spTree>
    <p:extLst>
      <p:ext uri="{BB962C8B-B14F-4D97-AF65-F5344CB8AC3E}">
        <p14:creationId xmlns:p14="http://schemas.microsoft.com/office/powerpoint/2010/main" val="25316954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apiteltitel Weiss">
    <p:spTree>
      <p:nvGrpSpPr>
        <p:cNvPr id="1" name=""/>
        <p:cNvGrpSpPr/>
        <p:nvPr/>
      </p:nvGrpSpPr>
      <p:grpSpPr>
        <a:xfrm>
          <a:off x="0" y="0"/>
          <a:ext cx="0" cy="0"/>
          <a:chOff x="0" y="0"/>
          <a:chExt cx="0" cy="0"/>
        </a:xfrm>
      </p:grpSpPr>
      <p:sp>
        <p:nvSpPr>
          <p:cNvPr id="2" name="Titel 1"/>
          <p:cNvSpPr>
            <a:spLocks noGrp="1"/>
          </p:cNvSpPr>
          <p:nvPr>
            <p:ph type="ctrTitle" hasCustomPrompt="1"/>
          </p:nvPr>
        </p:nvSpPr>
        <p:spPr>
          <a:xfrm>
            <a:off x="839788" y="2132855"/>
            <a:ext cx="8496300" cy="735293"/>
          </a:xfrm>
        </p:spPr>
        <p:txBody>
          <a:bodyPr anchor="b"/>
          <a:lstStyle>
            <a:lvl1pPr algn="l">
              <a:lnSpc>
                <a:spcPct val="105000"/>
              </a:lnSpc>
              <a:defRPr sz="5100"/>
            </a:lvl1pPr>
          </a:lstStyle>
          <a:p>
            <a:r>
              <a:rPr lang="de-CH" dirty="0"/>
              <a:t>Kapiteltitel hinzufügen</a:t>
            </a:r>
          </a:p>
        </p:txBody>
      </p:sp>
      <p:sp>
        <p:nvSpPr>
          <p:cNvPr id="3" name="Untertitel 2"/>
          <p:cNvSpPr>
            <a:spLocks noGrp="1"/>
          </p:cNvSpPr>
          <p:nvPr>
            <p:ph type="subTitle" idx="1" hasCustomPrompt="1"/>
          </p:nvPr>
        </p:nvSpPr>
        <p:spPr>
          <a:xfrm>
            <a:off x="839788" y="2924945"/>
            <a:ext cx="8496300" cy="1670986"/>
          </a:xfrm>
        </p:spPr>
        <p:txBody>
          <a:bodyPr/>
          <a:lstStyle>
            <a:lvl1pPr marL="0" indent="0" algn="l">
              <a:buNone/>
              <a:defRPr sz="5100">
                <a:solidFill>
                  <a:srgbClr val="999999"/>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dirty="0"/>
              <a:t>Untertitel</a:t>
            </a:r>
            <a:r>
              <a:rPr lang="de-CH" dirty="0"/>
              <a:t> hinzufügen</a:t>
            </a:r>
          </a:p>
        </p:txBody>
      </p:sp>
      <p:sp>
        <p:nvSpPr>
          <p:cNvPr id="7" name="Datumsplatzhalter 6"/>
          <p:cNvSpPr>
            <a:spLocks noGrp="1"/>
          </p:cNvSpPr>
          <p:nvPr>
            <p:ph type="dt" sz="half" idx="10"/>
          </p:nvPr>
        </p:nvSpPr>
        <p:spPr/>
        <p:txBody>
          <a:bodyPr/>
          <a:lstStyle/>
          <a:p>
            <a:fld id="{8F6544CA-0A33-40A7-B8DB-1E3475BC8352}"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203009017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idx="1" hasCustomPrompt="1"/>
          </p:nvPr>
        </p:nvSpPr>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74B8EF3F-82B3-4CB2-B551-A5FCEA334651}"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79570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el, Untertitel und Inhalt">
    <p:spTree>
      <p:nvGrpSpPr>
        <p:cNvPr id="1" name=""/>
        <p:cNvGrpSpPr/>
        <p:nvPr/>
      </p:nvGrpSpPr>
      <p:grpSpPr>
        <a:xfrm>
          <a:off x="0" y="0"/>
          <a:ext cx="0" cy="0"/>
          <a:chOff x="0" y="0"/>
          <a:chExt cx="0" cy="0"/>
        </a:xfrm>
      </p:grpSpPr>
      <p:sp>
        <p:nvSpPr>
          <p:cNvPr id="2" name="Titel 1"/>
          <p:cNvSpPr>
            <a:spLocks noGrp="1"/>
          </p:cNvSpPr>
          <p:nvPr>
            <p:ph type="title"/>
          </p:nvPr>
        </p:nvSpPr>
        <p:spPr>
          <a:xfrm>
            <a:off x="838200" y="1071564"/>
            <a:ext cx="10983913" cy="541354"/>
          </a:xfrm>
        </p:spPr>
        <p:txBody>
          <a:bodyPr/>
          <a:lstStyle/>
          <a:p>
            <a:r>
              <a:rPr lang="fr-FR"/>
              <a:t>Modifiez le style du titre</a:t>
            </a:r>
            <a:endParaRPr lang="de-CH" dirty="0"/>
          </a:p>
        </p:txBody>
      </p:sp>
      <p:sp>
        <p:nvSpPr>
          <p:cNvPr id="3" name="Inhaltsplatzhalter 2"/>
          <p:cNvSpPr>
            <a:spLocks noGrp="1"/>
          </p:cNvSpPr>
          <p:nvPr>
            <p:ph idx="1" hasCustomPrompt="1"/>
          </p:nvPr>
        </p:nvSpPr>
        <p:spPr>
          <a:xfrm>
            <a:off x="838200" y="2420888"/>
            <a:ext cx="10983913" cy="4104456"/>
          </a:xfrm>
        </p:spPr>
        <p:txBody>
          <a:bodyPr/>
          <a:lstStyle/>
          <a:p>
            <a:pPr lvl="0"/>
            <a:r>
              <a:rPr lang="de-DE" dirty="0"/>
              <a:t>Textmasterformat bearbeiten</a:t>
            </a:r>
          </a:p>
          <a:p>
            <a:pPr lvl="1"/>
            <a:r>
              <a:rPr lang="de-DE" dirty="0"/>
              <a:t>Zweite </a:t>
            </a:r>
            <a:r>
              <a:rPr lang="de-CH" noProof="0" dirty="0"/>
              <a:t>Ebene</a:t>
            </a:r>
          </a:p>
          <a:p>
            <a:pPr lvl="2"/>
            <a:r>
              <a:rPr lang="de-DE" dirty="0"/>
              <a:t>Dritte Ebene</a:t>
            </a:r>
          </a:p>
          <a:p>
            <a:pPr lvl="3"/>
            <a:r>
              <a:rPr lang="de-DE" dirty="0"/>
              <a:t>Vierte Ebene</a:t>
            </a:r>
          </a:p>
          <a:p>
            <a:pPr lvl="4"/>
            <a:r>
              <a:rPr lang="de-DE" dirty="0"/>
              <a:t>Fünfte Ebene</a:t>
            </a:r>
            <a:endParaRPr lang="de-CH" dirty="0"/>
          </a:p>
        </p:txBody>
      </p:sp>
      <p:sp>
        <p:nvSpPr>
          <p:cNvPr id="7" name="Datumsplatzhalter 6"/>
          <p:cNvSpPr>
            <a:spLocks noGrp="1"/>
          </p:cNvSpPr>
          <p:nvPr>
            <p:ph type="dt" sz="half" idx="10"/>
          </p:nvPr>
        </p:nvSpPr>
        <p:spPr/>
        <p:txBody>
          <a:bodyPr/>
          <a:lstStyle/>
          <a:p>
            <a:fld id="{1DFB08CE-F601-4561-962B-752A580B012A}"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5" name="Textplatzhalter 4">
            <a:extLst>
              <a:ext uri="{FF2B5EF4-FFF2-40B4-BE49-F238E27FC236}">
                <a16:creationId xmlns:a16="http://schemas.microsoft.com/office/drawing/2014/main" id="{1FE9C7B8-7467-451B-8352-4E9C0C569F88}"/>
              </a:ext>
            </a:extLst>
          </p:cNvPr>
          <p:cNvSpPr>
            <a:spLocks noGrp="1"/>
          </p:cNvSpPr>
          <p:nvPr>
            <p:ph type="body" sz="quarter" idx="13" hasCustomPrompt="1"/>
          </p:nvPr>
        </p:nvSpPr>
        <p:spPr>
          <a:xfrm>
            <a:off x="838200" y="1630018"/>
            <a:ext cx="10983913" cy="556592"/>
          </a:xfrm>
        </p:spPr>
        <p:txBody>
          <a:bodyPr/>
          <a:lstStyle>
            <a:lvl1pPr>
              <a:defRPr sz="3400">
                <a:solidFill>
                  <a:srgbClr val="999999"/>
                </a:solidFill>
              </a:defRPr>
            </a:lvl1pPr>
          </a:lstStyle>
          <a:p>
            <a:pPr lvl="0"/>
            <a:r>
              <a:rPr lang="de-DE" dirty="0"/>
              <a:t>Untertitel hinzufügen</a:t>
            </a:r>
          </a:p>
        </p:txBody>
      </p:sp>
    </p:spTree>
    <p:extLst>
      <p:ext uri="{BB962C8B-B14F-4D97-AF65-F5344CB8AC3E}">
        <p14:creationId xmlns:p14="http://schemas.microsoft.com/office/powerpoint/2010/main" val="18744668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3" name="Inhaltsplatzhalter 2"/>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Inhaltsplatzhalter 3"/>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8" name="Datumsplatzhalter 7"/>
          <p:cNvSpPr>
            <a:spLocks noGrp="1"/>
          </p:cNvSpPr>
          <p:nvPr>
            <p:ph type="dt" sz="half" idx="10"/>
          </p:nvPr>
        </p:nvSpPr>
        <p:spPr/>
        <p:txBody>
          <a:bodyPr/>
          <a:lstStyle/>
          <a:p>
            <a:fld id="{8DD1B167-7135-43F3-AEAE-A730821D191A}"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318625855"/>
      </p:ext>
    </p:extLst>
  </p:cSld>
  <p:clrMapOvr>
    <a:masterClrMapping/>
  </p:clrMapOvr>
  <p:extLst>
    <p:ext uri="{DCECCB84-F9BA-43D5-87BE-67443E8EF086}">
      <p15:sldGuideLst xmlns:p15="http://schemas.microsoft.com/office/powerpoint/2012/main">
        <p15:guide id="1" pos="39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Inhalt und Bild recht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A4596CBD-DD5D-4F61-A35A-2BDD2301218D}"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2" name="Bildplatzhalter 4">
            <a:extLst>
              <a:ext uri="{FF2B5EF4-FFF2-40B4-BE49-F238E27FC236}">
                <a16:creationId xmlns:a16="http://schemas.microsoft.com/office/drawing/2014/main" id="{BDCA4218-6304-434F-B7B6-74DF28EC09A3}"/>
              </a:ext>
            </a:extLst>
          </p:cNvPr>
          <p:cNvSpPr>
            <a:spLocks noGrp="1"/>
          </p:cNvSpPr>
          <p:nvPr>
            <p:ph type="pic" sz="quarter" idx="13"/>
          </p:nvPr>
        </p:nvSpPr>
        <p:spPr>
          <a:xfrm>
            <a:off x="6492304" y="1916832"/>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2">
            <a:extLst>
              <a:ext uri="{FF2B5EF4-FFF2-40B4-BE49-F238E27FC236}">
                <a16:creationId xmlns:a16="http://schemas.microsoft.com/office/drawing/2014/main" id="{FC1C5F14-3075-4FD1-945B-02DE33860C0E}"/>
              </a:ext>
            </a:extLst>
          </p:cNvPr>
          <p:cNvSpPr>
            <a:spLocks noGrp="1"/>
          </p:cNvSpPr>
          <p:nvPr>
            <p:ph sz="half" idx="1" hasCustomPrompt="1"/>
          </p:nvPr>
        </p:nvSpPr>
        <p:spPr>
          <a:xfrm>
            <a:off x="838200" y="1852612"/>
            <a:ext cx="5329808" cy="4672800"/>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143935081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Inhalt und Bild links">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8" name="Datumsplatzhalter 7"/>
          <p:cNvSpPr>
            <a:spLocks noGrp="1"/>
          </p:cNvSpPr>
          <p:nvPr>
            <p:ph type="dt" sz="half" idx="10"/>
          </p:nvPr>
        </p:nvSpPr>
        <p:spPr/>
        <p:txBody>
          <a:bodyPr/>
          <a:lstStyle/>
          <a:p>
            <a:fld id="{1DF9B2EE-0AB2-4AEE-914F-EB9E33FEECB6}" type="datetime4">
              <a:rPr lang="de-CH" smtClean="0"/>
              <a:t>18. Oktober 2026</a:t>
            </a:fld>
            <a:endParaRPr lang="de-CH" dirty="0"/>
          </a:p>
        </p:txBody>
      </p:sp>
      <p:sp>
        <p:nvSpPr>
          <p:cNvPr id="9" name="Fußzeilenplatzhalter 8"/>
          <p:cNvSpPr>
            <a:spLocks noGrp="1"/>
          </p:cNvSpPr>
          <p:nvPr>
            <p:ph type="ftr" sz="quarter" idx="11"/>
          </p:nvPr>
        </p:nvSpPr>
        <p:spPr/>
        <p:txBody>
          <a:bodyPr/>
          <a:lstStyle/>
          <a:p>
            <a:r>
              <a:rPr lang="de-CH"/>
              <a:t>Klassifizierung: intern / vertraulich / geheim</a:t>
            </a:r>
            <a:endParaRPr lang="de-CH" dirty="0"/>
          </a:p>
        </p:txBody>
      </p:sp>
      <p:sp>
        <p:nvSpPr>
          <p:cNvPr id="10" name="Foliennummernplatzhalter 9"/>
          <p:cNvSpPr>
            <a:spLocks noGrp="1"/>
          </p:cNvSpPr>
          <p:nvPr>
            <p:ph type="sldNum" sz="quarter" idx="12"/>
          </p:nvPr>
        </p:nvSpPr>
        <p:spPr/>
        <p:txBody>
          <a:bodyPr/>
          <a:lstStyle/>
          <a:p>
            <a:fld id="{442AD375-037F-43D0-B059-5172DA06796A}" type="slidenum">
              <a:rPr lang="de-CH" smtClean="0"/>
              <a:pPr/>
              <a:t>‹N°›</a:t>
            </a:fld>
            <a:endParaRPr lang="de-CH" dirty="0"/>
          </a:p>
        </p:txBody>
      </p:sp>
      <p:sp>
        <p:nvSpPr>
          <p:cNvPr id="14" name="Bildplatzhalter 4">
            <a:extLst>
              <a:ext uri="{FF2B5EF4-FFF2-40B4-BE49-F238E27FC236}">
                <a16:creationId xmlns:a16="http://schemas.microsoft.com/office/drawing/2014/main" id="{B7494CC6-D926-49A7-9F3F-4C583660BC8C}"/>
              </a:ext>
            </a:extLst>
          </p:cNvPr>
          <p:cNvSpPr>
            <a:spLocks noGrp="1"/>
          </p:cNvSpPr>
          <p:nvPr>
            <p:ph type="pic" sz="quarter" idx="15"/>
          </p:nvPr>
        </p:nvSpPr>
        <p:spPr>
          <a:xfrm>
            <a:off x="839788" y="1916831"/>
            <a:ext cx="5329808"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
        <p:nvSpPr>
          <p:cNvPr id="11" name="Inhaltsplatzhalter 3">
            <a:extLst>
              <a:ext uri="{FF2B5EF4-FFF2-40B4-BE49-F238E27FC236}">
                <a16:creationId xmlns:a16="http://schemas.microsoft.com/office/drawing/2014/main" id="{FFF4BFA1-D66B-4323-A031-D7779026D276}"/>
              </a:ext>
            </a:extLst>
          </p:cNvPr>
          <p:cNvSpPr>
            <a:spLocks noGrp="1"/>
          </p:cNvSpPr>
          <p:nvPr>
            <p:ph sz="half" idx="2" hasCustomPrompt="1"/>
          </p:nvPr>
        </p:nvSpPr>
        <p:spPr>
          <a:xfrm>
            <a:off x="6493098" y="1852612"/>
            <a:ext cx="5329015" cy="4672799"/>
          </a:xfrm>
        </p:spPr>
        <p:txBody>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Tree>
    <p:extLst>
      <p:ext uri="{BB962C8B-B14F-4D97-AF65-F5344CB8AC3E}">
        <p14:creationId xmlns:p14="http://schemas.microsoft.com/office/powerpoint/2010/main" val="3002039231"/>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Bi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7" name="Datumsplatzhalter 6"/>
          <p:cNvSpPr>
            <a:spLocks noGrp="1"/>
          </p:cNvSpPr>
          <p:nvPr>
            <p:ph type="dt" sz="half" idx="10"/>
          </p:nvPr>
        </p:nvSpPr>
        <p:spPr/>
        <p:txBody>
          <a:bodyPr/>
          <a:lstStyle/>
          <a:p>
            <a:fld id="{EAA4AD0E-3E40-4A4C-8A31-E1A9AB0C5623}" type="datetime4">
              <a:rPr lang="de-CH" smtClean="0"/>
              <a:t>18. Oktober 2026</a:t>
            </a:fld>
            <a:endParaRPr lang="de-CH" dirty="0"/>
          </a:p>
        </p:txBody>
      </p:sp>
      <p:sp>
        <p:nvSpPr>
          <p:cNvPr id="8" name="Fußzeilenplatzhalter 7"/>
          <p:cNvSpPr>
            <a:spLocks noGrp="1"/>
          </p:cNvSpPr>
          <p:nvPr>
            <p:ph type="ftr" sz="quarter" idx="11"/>
          </p:nvPr>
        </p:nvSpPr>
        <p:spPr/>
        <p:txBody>
          <a:bodyPr/>
          <a:lstStyle/>
          <a:p>
            <a:r>
              <a:rPr lang="de-CH"/>
              <a:t>Klassifizierung: intern / vertraulich / geheim</a:t>
            </a:r>
            <a:endParaRPr lang="de-CH" dirty="0"/>
          </a:p>
        </p:txBody>
      </p:sp>
      <p:sp>
        <p:nvSpPr>
          <p:cNvPr id="9" name="Foliennummernplatzhalter 8"/>
          <p:cNvSpPr>
            <a:spLocks noGrp="1"/>
          </p:cNvSpPr>
          <p:nvPr>
            <p:ph type="sldNum" sz="quarter" idx="12"/>
          </p:nvPr>
        </p:nvSpPr>
        <p:spPr/>
        <p:txBody>
          <a:bodyPr/>
          <a:lstStyle/>
          <a:p>
            <a:fld id="{442AD375-037F-43D0-B059-5172DA06796A}" type="slidenum">
              <a:rPr lang="de-CH" smtClean="0"/>
              <a:pPr/>
              <a:t>‹N°›</a:t>
            </a:fld>
            <a:endParaRPr lang="de-CH" dirty="0"/>
          </a:p>
        </p:txBody>
      </p:sp>
      <p:sp>
        <p:nvSpPr>
          <p:cNvPr id="10" name="Bildplatzhalter 4">
            <a:extLst>
              <a:ext uri="{FF2B5EF4-FFF2-40B4-BE49-F238E27FC236}">
                <a16:creationId xmlns:a16="http://schemas.microsoft.com/office/drawing/2014/main" id="{A79F27DF-F3EE-4D6E-866F-A71D2FB41AF5}"/>
              </a:ext>
            </a:extLst>
          </p:cNvPr>
          <p:cNvSpPr>
            <a:spLocks noGrp="1"/>
          </p:cNvSpPr>
          <p:nvPr>
            <p:ph type="pic" sz="quarter" idx="15"/>
          </p:nvPr>
        </p:nvSpPr>
        <p:spPr>
          <a:xfrm>
            <a:off x="839787" y="1916831"/>
            <a:ext cx="10982325" cy="4507035"/>
          </a:xfrm>
          <a:pattFill prst="lgCheck">
            <a:fgClr>
              <a:schemeClr val="bg1">
                <a:lumMod val="85000"/>
              </a:schemeClr>
            </a:fgClr>
            <a:bgClr>
              <a:schemeClr val="bg1"/>
            </a:bgClr>
          </a:pattFill>
        </p:spPr>
        <p:txBody>
          <a:bodyPr tIns="720000" anchor="ctr"/>
          <a:lstStyle>
            <a:lvl1pPr algn="ctr">
              <a:defRPr sz="1200"/>
            </a:lvl1pPr>
          </a:lstStyle>
          <a:p>
            <a:r>
              <a:rPr lang="fr-FR"/>
              <a:t>Cliquez sur l'icône pour ajouter une image</a:t>
            </a:r>
            <a:endParaRPr lang="de-CH"/>
          </a:p>
        </p:txBody>
      </p:sp>
    </p:spTree>
    <p:extLst>
      <p:ext uri="{BB962C8B-B14F-4D97-AF65-F5344CB8AC3E}">
        <p14:creationId xmlns:p14="http://schemas.microsoft.com/office/powerpoint/2010/main" val="24517538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fr-FR"/>
              <a:t>Modifiez le style du titre</a:t>
            </a:r>
            <a:endParaRPr lang="de-CH" dirty="0"/>
          </a:p>
        </p:txBody>
      </p:sp>
      <p:sp>
        <p:nvSpPr>
          <p:cNvPr id="6" name="Datumsplatzhalter 5"/>
          <p:cNvSpPr>
            <a:spLocks noGrp="1"/>
          </p:cNvSpPr>
          <p:nvPr>
            <p:ph type="dt" sz="half" idx="10"/>
          </p:nvPr>
        </p:nvSpPr>
        <p:spPr/>
        <p:txBody>
          <a:bodyPr/>
          <a:lstStyle/>
          <a:p>
            <a:fld id="{3084B0DB-8B37-4DE6-B20E-758F84ADAD1D}" type="datetime4">
              <a:rPr lang="de-CH" smtClean="0"/>
              <a:t>18. Oktober 2026</a:t>
            </a:fld>
            <a:endParaRPr lang="de-CH" dirty="0"/>
          </a:p>
        </p:txBody>
      </p:sp>
      <p:sp>
        <p:nvSpPr>
          <p:cNvPr id="7" name="Fußzeilenplatzhalter 6"/>
          <p:cNvSpPr>
            <a:spLocks noGrp="1"/>
          </p:cNvSpPr>
          <p:nvPr>
            <p:ph type="ftr" sz="quarter" idx="11"/>
          </p:nvPr>
        </p:nvSpPr>
        <p:spPr/>
        <p:txBody>
          <a:bodyPr/>
          <a:lstStyle/>
          <a:p>
            <a:r>
              <a:rPr lang="de-CH"/>
              <a:t>Klassifizierung: intern / vertraulich / geheim</a:t>
            </a:r>
            <a:endParaRPr lang="de-CH" dirty="0"/>
          </a:p>
        </p:txBody>
      </p:sp>
      <p:sp>
        <p:nvSpPr>
          <p:cNvPr id="8" name="Foliennummernplatzhalter 7"/>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38379844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5" name="Datumsplatzhalter 4"/>
          <p:cNvSpPr>
            <a:spLocks noGrp="1"/>
          </p:cNvSpPr>
          <p:nvPr>
            <p:ph type="dt" sz="half" idx="10"/>
          </p:nvPr>
        </p:nvSpPr>
        <p:spPr/>
        <p:txBody>
          <a:bodyPr/>
          <a:lstStyle/>
          <a:p>
            <a:fld id="{6A74091E-89C7-4DA0-88E9-E17602D8A5F2}" type="datetime4">
              <a:rPr lang="de-CH" smtClean="0"/>
              <a:t>18. Oktober 2026</a:t>
            </a:fld>
            <a:endParaRPr lang="de-CH" dirty="0"/>
          </a:p>
        </p:txBody>
      </p:sp>
      <p:sp>
        <p:nvSpPr>
          <p:cNvPr id="6" name="Fußzeilenplatzhalter 5"/>
          <p:cNvSpPr>
            <a:spLocks noGrp="1"/>
          </p:cNvSpPr>
          <p:nvPr>
            <p:ph type="ftr" sz="quarter" idx="11"/>
          </p:nvPr>
        </p:nvSpPr>
        <p:spPr/>
        <p:txBody>
          <a:bodyPr/>
          <a:lstStyle/>
          <a:p>
            <a:r>
              <a:rPr lang="de-CH"/>
              <a:t>Klassifizierung: intern / vertraulich / geheim</a:t>
            </a:r>
            <a:endParaRPr lang="de-CH" dirty="0"/>
          </a:p>
        </p:txBody>
      </p:sp>
      <p:sp>
        <p:nvSpPr>
          <p:cNvPr id="7" name="Foliennummernplatzhalter 6"/>
          <p:cNvSpPr>
            <a:spLocks noGrp="1"/>
          </p:cNvSpPr>
          <p:nvPr>
            <p:ph type="sldNum" sz="quarter" idx="12"/>
          </p:nvPr>
        </p:nvSpPr>
        <p:spPr/>
        <p:txBody>
          <a:bodyPr/>
          <a:lstStyle/>
          <a:p>
            <a:fld id="{442AD375-037F-43D0-B059-5172DA06796A}" type="slidenum">
              <a:rPr lang="de-CH" smtClean="0"/>
              <a:pPr/>
              <a:t>‹N°›</a:t>
            </a:fld>
            <a:endParaRPr lang="de-CH" dirty="0"/>
          </a:p>
        </p:txBody>
      </p:sp>
    </p:spTree>
    <p:extLst>
      <p:ext uri="{BB962C8B-B14F-4D97-AF65-F5344CB8AC3E}">
        <p14:creationId xmlns:p14="http://schemas.microsoft.com/office/powerpoint/2010/main" val="40054461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1071564"/>
            <a:ext cx="10983913" cy="619126"/>
          </a:xfrm>
          <a:prstGeom prst="rect">
            <a:avLst/>
          </a:prstGeom>
        </p:spPr>
        <p:txBody>
          <a:bodyPr vert="horz" lIns="0" tIns="0" rIns="0" bIns="0" rtlCol="0" anchor="t">
            <a:noAutofit/>
          </a:bodyPr>
          <a:lstStyle/>
          <a:p>
            <a:endParaRPr lang="de-CH" dirty="0"/>
          </a:p>
        </p:txBody>
      </p:sp>
      <p:sp>
        <p:nvSpPr>
          <p:cNvPr id="3" name="Textplatzhalter 2"/>
          <p:cNvSpPr>
            <a:spLocks noGrp="1"/>
          </p:cNvSpPr>
          <p:nvPr>
            <p:ph type="body" idx="1"/>
          </p:nvPr>
        </p:nvSpPr>
        <p:spPr>
          <a:xfrm>
            <a:off x="838200" y="1852613"/>
            <a:ext cx="10983913" cy="4672731"/>
          </a:xfrm>
          <a:prstGeom prst="rect">
            <a:avLst/>
          </a:prstGeom>
        </p:spPr>
        <p:txBody>
          <a:bodyPr vert="horz" lIns="0" tIns="0" rIns="0" bIns="0" rtlCol="0">
            <a:noAutofit/>
          </a:bodyPr>
          <a:lstStyle/>
          <a:p>
            <a:pPr lvl="0"/>
            <a:r>
              <a:rPr lang="de-CH" noProof="0" dirty="0"/>
              <a:t>Textmasterformat bearbeiten</a:t>
            </a:r>
          </a:p>
          <a:p>
            <a:pPr lvl="1"/>
            <a:r>
              <a:rPr lang="de-CH" noProof="0" dirty="0"/>
              <a:t>Zweite Ebene</a:t>
            </a:r>
          </a:p>
          <a:p>
            <a:pPr lvl="2"/>
            <a:r>
              <a:rPr lang="de-CH" noProof="0" dirty="0"/>
              <a:t>Dritte Ebene</a:t>
            </a:r>
          </a:p>
          <a:p>
            <a:pPr lvl="3"/>
            <a:r>
              <a:rPr lang="de-CH" noProof="0" dirty="0"/>
              <a:t>Vierte Ebene</a:t>
            </a:r>
          </a:p>
          <a:p>
            <a:pPr lvl="4"/>
            <a:r>
              <a:rPr lang="de-CH" noProof="0" dirty="0"/>
              <a:t>Fünfte Ebene</a:t>
            </a:r>
          </a:p>
        </p:txBody>
      </p:sp>
      <p:sp>
        <p:nvSpPr>
          <p:cNvPr id="4" name="Datumsplatzhalter 3"/>
          <p:cNvSpPr>
            <a:spLocks noGrp="1"/>
          </p:cNvSpPr>
          <p:nvPr>
            <p:ph type="dt" sz="half" idx="2"/>
          </p:nvPr>
        </p:nvSpPr>
        <p:spPr>
          <a:xfrm>
            <a:off x="9336360" y="434133"/>
            <a:ext cx="2088232" cy="108000"/>
          </a:xfrm>
          <a:prstGeom prst="rect">
            <a:avLst/>
          </a:prstGeom>
        </p:spPr>
        <p:txBody>
          <a:bodyPr vert="horz" lIns="0" tIns="0" rIns="0" bIns="0" rtlCol="0" anchor="t" anchorCtr="0"/>
          <a:lstStyle>
            <a:lvl1pPr algn="l">
              <a:defRPr sz="820" baseline="0">
                <a:solidFill>
                  <a:schemeClr val="tx1"/>
                </a:solidFill>
              </a:defRPr>
            </a:lvl1pPr>
          </a:lstStyle>
          <a:p>
            <a:fld id="{25BFEB73-7DB0-4E1C-AD41-222EA41EE038}" type="datetime4">
              <a:rPr lang="de-CH" smtClean="0"/>
              <a:t>18. Oktober 2026</a:t>
            </a:fld>
            <a:endParaRPr lang="de-CH" dirty="0"/>
          </a:p>
        </p:txBody>
      </p:sp>
      <p:sp>
        <p:nvSpPr>
          <p:cNvPr id="5" name="Fußzeilenplatzhalter 4"/>
          <p:cNvSpPr>
            <a:spLocks noGrp="1"/>
          </p:cNvSpPr>
          <p:nvPr>
            <p:ph type="ftr" sz="quarter" idx="3"/>
          </p:nvPr>
        </p:nvSpPr>
        <p:spPr>
          <a:xfrm>
            <a:off x="9336360" y="297071"/>
            <a:ext cx="2088232" cy="124409"/>
          </a:xfrm>
          <a:prstGeom prst="rect">
            <a:avLst/>
          </a:prstGeom>
        </p:spPr>
        <p:txBody>
          <a:bodyPr vert="horz" lIns="0" tIns="0" rIns="0" bIns="0" rtlCol="0" anchor="b" anchorCtr="0"/>
          <a:lstStyle>
            <a:lvl1pPr algn="l">
              <a:defRPr sz="820" baseline="0">
                <a:solidFill>
                  <a:schemeClr val="tx1"/>
                </a:solidFill>
              </a:defRPr>
            </a:lvl1pPr>
          </a:lstStyle>
          <a:p>
            <a:r>
              <a:rPr lang="de-CH"/>
              <a:t>Klassifizierung: intern / vertraulich / geheim</a:t>
            </a:r>
            <a:endParaRPr lang="de-CH" dirty="0"/>
          </a:p>
        </p:txBody>
      </p:sp>
      <p:sp>
        <p:nvSpPr>
          <p:cNvPr id="6" name="Foliennummernplatzhalter 5"/>
          <p:cNvSpPr>
            <a:spLocks noGrp="1"/>
          </p:cNvSpPr>
          <p:nvPr>
            <p:ph type="sldNum" sz="quarter" idx="4"/>
          </p:nvPr>
        </p:nvSpPr>
        <p:spPr>
          <a:xfrm>
            <a:off x="11496600" y="297072"/>
            <a:ext cx="321625" cy="108000"/>
          </a:xfrm>
          <a:prstGeom prst="rect">
            <a:avLst/>
          </a:prstGeom>
        </p:spPr>
        <p:txBody>
          <a:bodyPr vert="horz" lIns="0" tIns="0" rIns="0" bIns="0" rtlCol="0" anchor="t" anchorCtr="0"/>
          <a:lstStyle>
            <a:lvl1pPr algn="r">
              <a:defRPr sz="820" baseline="0">
                <a:solidFill>
                  <a:schemeClr val="tx1"/>
                </a:solidFill>
              </a:defRPr>
            </a:lvl1pPr>
          </a:lstStyle>
          <a:p>
            <a:fld id="{442AD375-037F-43D0-B059-5172DA06796A}" type="slidenum">
              <a:rPr lang="de-CH" smtClean="0"/>
              <a:pPr/>
              <a:t>‹N°›</a:t>
            </a:fld>
            <a:endParaRPr lang="de-CH" dirty="0"/>
          </a:p>
        </p:txBody>
      </p:sp>
      <p:pic>
        <p:nvPicPr>
          <p:cNvPr id="13" name="Grafik 12">
            <a:extLst>
              <a:ext uri="{FF2B5EF4-FFF2-40B4-BE49-F238E27FC236}">
                <a16:creationId xmlns:a16="http://schemas.microsoft.com/office/drawing/2014/main" id="{BFEC6ACA-7650-4DEA-B34E-89DC63F8CE64}"/>
              </a:ext>
            </a:extLst>
          </p:cNvPr>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293151" y="181525"/>
            <a:ext cx="1484308" cy="695266"/>
          </a:xfrm>
          <a:prstGeom prst="rect">
            <a:avLst/>
          </a:prstGeom>
        </p:spPr>
      </p:pic>
    </p:spTree>
    <p:extLst>
      <p:ext uri="{BB962C8B-B14F-4D97-AF65-F5344CB8AC3E}">
        <p14:creationId xmlns:p14="http://schemas.microsoft.com/office/powerpoint/2010/main" val="1011663896"/>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58" r:id="rId3"/>
    <p:sldLayoutId id="2147483669" r:id="rId4"/>
    <p:sldLayoutId id="2147483671" r:id="rId5"/>
    <p:sldLayoutId id="2147483672" r:id="rId6"/>
    <p:sldLayoutId id="2147483668" r:id="rId7"/>
    <p:sldLayoutId id="2147483659" r:id="rId8"/>
    <p:sldLayoutId id="2147483673" r:id="rId9"/>
    <p:sldLayoutId id="2147483661" r:id="rId10"/>
    <p:sldLayoutId id="2147483674" r:id="rId11"/>
    <p:sldLayoutId id="2147483675" r:id="rId12"/>
    <p:sldLayoutId id="2147483665" r:id="rId13"/>
    <p:sldLayoutId id="2147483663" r:id="rId14"/>
    <p:sldLayoutId id="2147483664" r:id="rId15"/>
  </p:sldLayoutIdLst>
  <p:hf hdr="0"/>
  <p:txStyles>
    <p:titleStyle>
      <a:lvl1pPr algn="l" defTabSz="447675" rtl="0" eaLnBrk="1" latinLnBrk="0" hangingPunct="1">
        <a:lnSpc>
          <a:spcPct val="100000"/>
        </a:lnSpc>
        <a:spcBef>
          <a:spcPct val="0"/>
        </a:spcBef>
        <a:buNone/>
        <a:defRPr sz="3400" kern="1200">
          <a:solidFill>
            <a:schemeClr val="tx1"/>
          </a:solidFill>
          <a:latin typeface="+mj-lt"/>
          <a:ea typeface="+mj-ea"/>
          <a:cs typeface="+mj-cs"/>
        </a:defRPr>
      </a:lvl1pPr>
    </p:titleStyle>
    <p:bodyStyle>
      <a:lvl1pPr marL="0" indent="0" algn="l" defTabSz="449263" rtl="0" eaLnBrk="1" latinLnBrk="0" hangingPunct="1">
        <a:lnSpc>
          <a:spcPct val="105000"/>
        </a:lnSpc>
        <a:spcBef>
          <a:spcPts val="0"/>
        </a:spcBef>
        <a:buFont typeface="Arial" panose="020B0604020202020204" pitchFamily="34" charset="0"/>
        <a:buNone/>
        <a:defRPr sz="2600" kern="1200">
          <a:solidFill>
            <a:schemeClr val="tx1"/>
          </a:solidFill>
          <a:latin typeface="+mn-lt"/>
          <a:ea typeface="+mn-ea"/>
          <a:cs typeface="+mn-cs"/>
        </a:defRPr>
      </a:lvl1pPr>
      <a:lvl2pPr marL="3571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2pPr>
      <a:lvl3pPr marL="715963" indent="-358775"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3pPr>
      <a:lvl4pPr marL="1079500" indent="-36353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4pPr>
      <a:lvl5pPr marL="1436688" indent="-357188" algn="l" defTabSz="449263" rtl="0" eaLnBrk="1" latinLnBrk="0" hangingPunct="1">
        <a:lnSpc>
          <a:spcPct val="105000"/>
        </a:lnSpc>
        <a:spcBef>
          <a:spcPts val="0"/>
        </a:spcBef>
        <a:buFont typeface="Arial" panose="020B0604020202020204" pitchFamily="34" charset="0"/>
        <a:buChar char="‒"/>
        <a:defRPr sz="2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pos="3840" userDrawn="1">
          <p15:clr>
            <a:srgbClr val="F26B43"/>
          </p15:clr>
        </p15:guide>
        <p15:guide id="3" pos="5881" userDrawn="1">
          <p15:clr>
            <a:srgbClr val="F26B43"/>
          </p15:clr>
        </p15:guide>
        <p15:guide id="4" pos="7447" userDrawn="1">
          <p15:clr>
            <a:srgbClr val="F26B43"/>
          </p15:clr>
        </p15:guide>
        <p15:guide id="5" orient="horz" pos="675" userDrawn="1">
          <p15:clr>
            <a:srgbClr val="F26B43"/>
          </p15:clr>
        </p15:guide>
        <p15:guide id="6" orient="horz" pos="116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6.png"/><Relationship Id="rId5" Type="http://schemas.openxmlformats.org/officeDocument/2006/relationships/notesSlide" Target="../notesSlides/notes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8.png"/><Relationship Id="rId5" Type="http://schemas.openxmlformats.org/officeDocument/2006/relationships/notesSlide" Target="../notesSlides/notesSlide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microsoft.com/office/2007/relationships/media" Target="../media/media5.mp4"/><Relationship Id="rId6" Type="http://schemas.openxmlformats.org/officeDocument/2006/relationships/video" Target="../media/media5.mp4"/><Relationship Id="rId7" Type="http://schemas.openxmlformats.org/officeDocument/2006/relationships/image" Target="../media/image10.png"/><Relationship Id="rId8"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6.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286000"/>
            <a:ext cx="8229600" cy="1828800"/>
          </a:xfrm>
        </p:spPr>
        <p:txBody>
          <a:bodyPr/>
          <a:lstStyle/>
          <a:p>
            <a:r>
              <a:rPr sz="14000" b="1"/>
              <a:t>1191,</a:t>
            </a:r>
          </a:p>
        </p:txBody>
      </p:sp>
      <p:sp>
        <p:nvSpPr>
          <p:cNvPr id="3" name="Subtitle 2"/>
          <p:cNvSpPr>
            <a:spLocks noGrp="1"/>
          </p:cNvSpPr>
          <p:nvPr>
            <p:ph type="subTitle" idx="1"/>
          </p:nvPr>
        </p:nvSpPr>
        <p:spPr>
          <a:xfrm>
            <a:off x="839788" y="4160520"/>
            <a:ext cx="9601200" cy="1828800"/>
          </a:xfrm>
        </p:spPr>
        <p:txBody>
          <a:bodyPr/>
          <a:lstStyle/>
          <a:p>
            <a:r>
              <a:rPr sz="2800"/>
              <a:t>Duke Berchtold V promised to name his new city after the first animal he caught on the hunt.</a:t>
            </a:r>
          </a:p>
          <a:p>
            <a:r>
              <a:rPr sz="2800" b="1">
                <a:solidFill>
                  <a:srgbClr val="EA161F"/>
                </a:solidFill>
              </a:rPr>
              <a:t>Which animal was it?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a:t>
            </a:fld>
            <a:endParaRPr lang="de-CH" dirty="0"/>
          </a:p>
        </p:txBody>
      </p:sp>
      <p:sp>
        <p:nvSpPr>
          <p:cNvPr id="903" name="TextBox 902"/>
          <p:cNvSpPr txBox="1"/>
          <p:nvPr/>
        </p:nvSpPr>
        <p:spPr>
          <a:xfrm>
            <a:off x="841248" y="1188720"/>
            <a:ext cx="5486400" cy="548640"/>
          </a:xfrm>
          <a:prstGeom prst="rect">
            <a:avLst/>
          </a:prstGeom>
          <a:noFill/>
        </p:spPr>
        <p:txBody>
          <a:bodyPr wrap="square" lIns="0" rIns="0" tIns="0" bIns="0" anchor="t">
            <a:spAutoFit/>
          </a:bodyPr>
          <a:lstStyle/>
          <a:p>
            <a:pPr algn="l">
              <a:spcAft>
                <a:spcPts val="0"/>
              </a:spcAft>
            </a:pPr>
            <a:r>
              <a:rPr sz="2800" b="1" i="0">
                <a:solidFill>
                  <a:srgbClr val="EA161F"/>
                </a:solidFill>
              </a:rPr>
              <a:t>Fun Fact</a:t>
            </a:r>
          </a:p>
        </p:txBody>
      </p:sp>
      <p:sp>
        <p:nvSpPr>
          <p:cNvPr id="904" name="TextBox 903"/>
          <p:cNvSpPr txBox="1"/>
          <p:nvPr/>
        </p:nvSpPr>
        <p:spPr>
          <a:xfrm>
            <a:off x="841248" y="1783080"/>
            <a:ext cx="8229600" cy="640080"/>
          </a:xfrm>
          <a:prstGeom prst="rect">
            <a:avLst/>
          </a:prstGeom>
          <a:noFill/>
        </p:spPr>
        <p:txBody>
          <a:bodyPr wrap="square" lIns="0" rIns="0" tIns="0" bIns="0" anchor="t">
            <a:spAutoFit/>
          </a:bodyPr>
          <a:lstStyle/>
          <a:p>
            <a:pPr algn="l">
              <a:spcAft>
                <a:spcPts val="0"/>
              </a:spcAft>
            </a:pPr>
            <a:r>
              <a:rPr sz="4000" b="0" i="0">
                <a:solidFill>
                  <a:srgbClr val="000000"/>
                </a:solidFill>
              </a:rPr>
              <a:t>In the year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9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2</a:t>
            </a:fld>
            <a:endParaRPr lang="de-CH" dirty="0"/>
          </a:p>
        </p:txBody>
      </p:sp>
      <p:sp>
        <p:nvSpPr>
          <p:cNvPr id="903" name="TextBox 902"/>
          <p:cNvSpPr txBox="1"/>
          <p:nvPr/>
        </p:nvSpPr>
        <p:spPr>
          <a:xfrm>
            <a:off x="841248" y="2148840"/>
            <a:ext cx="6583680" cy="1188720"/>
          </a:xfrm>
          <a:prstGeom prst="rect">
            <a:avLst/>
          </a:prstGeom>
          <a:noFill/>
        </p:spPr>
        <p:txBody>
          <a:bodyPr wrap="square" lIns="0" rIns="0" tIns="0" bIns="0" anchor="t">
            <a:spAutoFit/>
          </a:bodyPr>
          <a:lstStyle/>
          <a:p>
            <a:pPr algn="l">
              <a:spcAft>
                <a:spcPts val="0"/>
              </a:spcAft>
            </a:pPr>
            <a:r>
              <a:rPr sz="6600" b="0" i="0">
                <a:solidFill>
                  <a:srgbClr val="000000"/>
                </a:solidFill>
              </a:rPr>
              <a:t>It was a bear.</a:t>
            </a:r>
          </a:p>
        </p:txBody>
      </p:sp>
      <p:sp>
        <p:nvSpPr>
          <p:cNvPr id="904" name="TextBox 903"/>
          <p:cNvSpPr txBox="1"/>
          <p:nvPr/>
        </p:nvSpPr>
        <p:spPr>
          <a:xfrm>
            <a:off x="841248" y="3429000"/>
            <a:ext cx="6583680" cy="731520"/>
          </a:xfrm>
          <a:prstGeom prst="rect">
            <a:avLst/>
          </a:prstGeom>
          <a:noFill/>
        </p:spPr>
        <p:txBody>
          <a:bodyPr wrap="square" lIns="0" rIns="0" tIns="0" bIns="0" anchor="t">
            <a:spAutoFit/>
          </a:bodyPr>
          <a:lstStyle/>
          <a:p>
            <a:pPr algn="l">
              <a:spcAft>
                <a:spcPts val="0"/>
              </a:spcAft>
            </a:pPr>
            <a:r>
              <a:rPr sz="3000" b="0" i="0">
                <a:solidFill>
                  <a:srgbClr val="63737B"/>
                </a:solidFill>
              </a:rPr>
              <a:t>Bär  →  Bern</a:t>
            </a:r>
          </a:p>
        </p:txBody>
      </p:sp>
      <p:sp>
        <p:nvSpPr>
          <p:cNvPr id="905" name="TextBox 904"/>
          <p:cNvSpPr txBox="1"/>
          <p:nvPr/>
        </p:nvSpPr>
        <p:spPr>
          <a:xfrm>
            <a:off x="841248" y="4343400"/>
            <a:ext cx="6583680" cy="731520"/>
          </a:xfrm>
          <a:prstGeom prst="rect">
            <a:avLst/>
          </a:prstGeom>
          <a:noFill/>
        </p:spPr>
        <p:txBody>
          <a:bodyPr wrap="square" lIns="0" rIns="0" tIns="0" bIns="0" anchor="t">
            <a:spAutoFit/>
          </a:bodyPr>
          <a:lstStyle/>
          <a:p>
            <a:pPr algn="l">
              <a:spcAft>
                <a:spcPts val="0"/>
              </a:spcAft>
            </a:pPr>
            <a:r>
              <a:rPr sz="3200" b="1" i="0">
                <a:solidFill>
                  <a:srgbClr val="EA161F"/>
                </a:solidFill>
              </a:rPr>
              <a:t>In Bärner Mutz</a:t>
            </a:r>
          </a:p>
        </p:txBody>
      </p:sp>
      <p:pic>
        <p:nvPicPr>
          <p:cNvPr id="906" name="Mutz animation (rise)">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269480" y="1143000"/>
            <a:ext cx="4480560" cy="44805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6"/>
                                        </p:tgtEl>
                                      </p:cBhvr>
                                    </p:cmd>
                                  </p:childTnLst>
                                </p:cTn>
                              </p:par>
                              <p:par>
                                <p:cTn id="7" presetID="10" presetClass="entr" presetSubtype="0" fill="hold" grpId="0" nodeType="withEffect">
                                  <p:stCondLst>
                                    <p:cond delay="17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2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3" fill="hold" display="0">
                  <p:stCondLst>
                    <p:cond delay="indefinite"/>
                  </p:stCondLst>
                </p:cTn>
                <p:tgtEl>
                  <p:spTgt spid="906"/>
                </p:tgtEl>
              </p:cMediaNode>
            </p:video>
          </p:childTnLst>
        </p:cTn>
      </p:par>
    </p:tnLst>
    <p:bldLst>
      <p:bldP spid="904" grpId="0" animBg="1"/>
      <p:bldP spid="90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3</a:t>
            </a:fld>
            <a:endParaRPr lang="de-CH" dirty="0"/>
          </a:p>
        </p:txBody>
      </p:sp>
      <p:sp>
        <p:nvSpPr>
          <p:cNvPr id="903" name="TextBox 902"/>
          <p:cNvSpPr txBox="1"/>
          <p:nvPr/>
        </p:nvSpPr>
        <p:spPr>
          <a:xfrm>
            <a:off x="841248" y="1600200"/>
            <a:ext cx="5212080" cy="1097280"/>
          </a:xfrm>
          <a:prstGeom prst="rect">
            <a:avLst/>
          </a:prstGeom>
          <a:noFill/>
        </p:spPr>
        <p:txBody>
          <a:bodyPr wrap="square" lIns="0" rIns="0" tIns="0" bIns="0" anchor="t">
            <a:spAutoFit/>
          </a:bodyPr>
          <a:lstStyle/>
          <a:p>
            <a:pPr algn="l">
              <a:spcAft>
                <a:spcPts val="0"/>
              </a:spcAft>
            </a:pPr>
            <a:r>
              <a:rPr sz="3200" b="0" i="0">
                <a:solidFill>
                  <a:srgbClr val="000000"/>
                </a:solidFill>
              </a:rPr>
              <a:t>Our Mutz has stopped hunting for prey.</a:t>
            </a:r>
          </a:p>
        </p:txBody>
      </p:sp>
      <p:sp>
        <p:nvSpPr>
          <p:cNvPr id="904" name="TextBox 903"/>
          <p:cNvSpPr txBox="1"/>
          <p:nvPr/>
        </p:nvSpPr>
        <p:spPr>
          <a:xfrm>
            <a:off x="841248" y="2926080"/>
            <a:ext cx="5212080" cy="640080"/>
          </a:xfrm>
          <a:prstGeom prst="rect">
            <a:avLst/>
          </a:prstGeom>
          <a:noFill/>
        </p:spPr>
        <p:txBody>
          <a:bodyPr wrap="square" lIns="0" rIns="0" tIns="0" bIns="0" anchor="t">
            <a:spAutoFit/>
          </a:bodyPr>
          <a:lstStyle/>
          <a:p>
            <a:pPr algn="l">
              <a:spcAft>
                <a:spcPts val="0"/>
              </a:spcAft>
            </a:pPr>
            <a:r>
              <a:rPr sz="3200" b="0" i="0">
                <a:solidFill>
                  <a:srgbClr val="000000"/>
                </a:solidFill>
              </a:rPr>
              <a:t>Now he looks for honey:</a:t>
            </a:r>
          </a:p>
        </p:txBody>
      </p:sp>
      <p:sp>
        <p:nvSpPr>
          <p:cNvPr id="905" name="TextBox 904"/>
          <p:cNvSpPr txBox="1"/>
          <p:nvPr/>
        </p:nvSpPr>
        <p:spPr>
          <a:xfrm>
            <a:off x="841248" y="3566160"/>
            <a:ext cx="5212080" cy="1371600"/>
          </a:xfrm>
          <a:prstGeom prst="rect">
            <a:avLst/>
          </a:prstGeom>
          <a:noFill/>
        </p:spPr>
        <p:txBody>
          <a:bodyPr wrap="square" lIns="0" rIns="0" tIns="0" bIns="0" anchor="t">
            <a:spAutoFit/>
          </a:bodyPr>
          <a:lstStyle/>
          <a:p>
            <a:pPr algn="l">
              <a:spcAft>
                <a:spcPts val="0"/>
              </a:spcAft>
            </a:pPr>
            <a:r>
              <a:rPr sz="3200" b="1" i="0">
                <a:solidFill>
                  <a:srgbClr val="EA161F"/>
                </a:solidFill>
              </a:rPr>
              <a:t>the right research partner for every company.</a:t>
            </a:r>
          </a:p>
        </p:txBody>
      </p:sp>
      <p:sp>
        <p:nvSpPr>
          <p:cNvPr id="906" name="TextBox 905"/>
          <p:cNvSpPr txBox="1"/>
          <p:nvPr/>
        </p:nvSpPr>
        <p:spPr>
          <a:xfrm>
            <a:off x="841248" y="5669280"/>
            <a:ext cx="5212080" cy="457200"/>
          </a:xfrm>
          <a:prstGeom prst="rect">
            <a:avLst/>
          </a:prstGeom>
          <a:noFill/>
        </p:spPr>
        <p:txBody>
          <a:bodyPr wrap="square" lIns="0" rIns="0" tIns="0" bIns="0" anchor="t">
            <a:spAutoFit/>
          </a:bodyPr>
          <a:lstStyle/>
          <a:p>
            <a:pPr algn="l">
              <a:spcAft>
                <a:spcPts val="0"/>
              </a:spcAft>
            </a:pPr>
            <a:r>
              <a:rPr sz="1800" b="0" i="0">
                <a:solidFill>
                  <a:srgbClr val="63737B"/>
                </a:solidFill>
              </a:rPr>
              <a:t>Team Ctrl+Free</a:t>
            </a:r>
          </a:p>
        </p:txBody>
      </p:sp>
      <p:pic>
        <p:nvPicPr>
          <p:cNvPr id="907" name="Mutz animation (splash)">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126480" y="868680"/>
            <a:ext cx="5852160" cy="58521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800" fill="hold"/>
                                        <p:tgtEl>
                                          <p:spTgt spid="907"/>
                                        </p:tgtEl>
                                      </p:cBhvr>
                                    </p:cmd>
                                  </p:childTnLst>
                                </p:cTn>
                              </p:par>
                              <p:par>
                                <p:cTn id="7" presetID="10" presetClass="entr" presetSubtype="0" fill="hold" grpId="0" nodeType="withEffect">
                                  <p:stCondLst>
                                    <p:cond delay="26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46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56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6" fill="hold" display="0">
                  <p:stCondLst>
                    <p:cond delay="indefinite"/>
                  </p:stCondLst>
                </p:cTn>
                <p:tgtEl>
                  <p:spTgt spid="907"/>
                </p:tgtEl>
              </p:cMediaNode>
            </p:video>
          </p:childTnLst>
        </p:cTn>
      </p:par>
    </p:tnLst>
    <p:bldLst>
      <p:bldP spid="904" grpId="0" animBg="1"/>
      <p:bldP spid="905" grpId="0" animBg="1"/>
      <p:bldP spid="90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4</a:t>
            </a:fld>
            <a:endParaRPr lang="de-CH" dirty="0"/>
          </a:p>
        </p:txBody>
      </p:sp>
      <p:sp>
        <p:nvSpPr>
          <p:cNvPr id="903" name="TextBox 902"/>
          <p:cNvSpPr txBox="1"/>
          <p:nvPr/>
        </p:nvSpPr>
        <p:spPr>
          <a:xfrm>
            <a:off x="841248" y="1234440"/>
            <a:ext cx="6035040" cy="2011680"/>
          </a:xfrm>
          <a:prstGeom prst="rect">
            <a:avLst/>
          </a:prstGeom>
          <a:noFill/>
        </p:spPr>
        <p:txBody>
          <a:bodyPr wrap="square" lIns="0" rIns="0" tIns="0" bIns="0" anchor="t">
            <a:spAutoFit/>
          </a:bodyPr>
          <a:lstStyle/>
          <a:p>
            <a:pPr algn="l">
              <a:spcAft>
                <a:spcPts val="0"/>
              </a:spcAft>
            </a:pPr>
            <a:r>
              <a:rPr sz="15000" b="1" i="0">
                <a:solidFill>
                  <a:srgbClr val="EA161F"/>
                </a:solidFill>
              </a:rPr>
              <a:t>300</a:t>
            </a:r>
          </a:p>
        </p:txBody>
      </p:sp>
      <p:sp>
        <p:nvSpPr>
          <p:cNvPr id="904" name="TextBox 903"/>
          <p:cNvSpPr txBox="1"/>
          <p:nvPr/>
        </p:nvSpPr>
        <p:spPr>
          <a:xfrm>
            <a:off x="841248" y="3246120"/>
            <a:ext cx="6035040" cy="548640"/>
          </a:xfrm>
          <a:prstGeom prst="rect">
            <a:avLst/>
          </a:prstGeom>
          <a:noFill/>
        </p:spPr>
        <p:txBody>
          <a:bodyPr wrap="square" lIns="0" rIns="0" tIns="0" bIns="0" anchor="t">
            <a:spAutoFit/>
          </a:bodyPr>
          <a:lstStyle/>
          <a:p>
            <a:pPr algn="l">
              <a:spcAft>
                <a:spcPts val="0"/>
              </a:spcAft>
            </a:pPr>
            <a:r>
              <a:rPr sz="2800" b="0" i="0">
                <a:solidFill>
                  <a:srgbClr val="000000"/>
                </a:solidFill>
              </a:rPr>
              <a:t>confidential company leads a year</a:t>
            </a:r>
          </a:p>
        </p:txBody>
      </p:sp>
      <p:sp>
        <p:nvSpPr>
          <p:cNvPr id="905" name="TextBox 904"/>
          <p:cNvSpPr txBox="1"/>
          <p:nvPr/>
        </p:nvSpPr>
        <p:spPr>
          <a:xfrm>
            <a:off x="841248" y="4114800"/>
            <a:ext cx="5852160" cy="1371600"/>
          </a:xfrm>
          <a:prstGeom prst="rect">
            <a:avLst/>
          </a:prstGeom>
          <a:noFill/>
        </p:spPr>
        <p:txBody>
          <a:bodyPr wrap="square" lIns="0" rIns="0" tIns="0" bIns="0" anchor="t">
            <a:spAutoFit/>
          </a:bodyPr>
          <a:lstStyle/>
          <a:p>
            <a:pPr algn="l">
              <a:spcAft>
                <a:spcPts val="0"/>
              </a:spcAft>
            </a:pPr>
            <a:r>
              <a:rPr sz="2200" b="0" i="0">
                <a:solidFill>
                  <a:srgbClr val="63737B"/>
                </a:solidFill>
              </a:rPr>
              <a:t>Each one needs the right partner, hidden somewhere in hundreds of research pages, in three languages.</a:t>
            </a:r>
          </a:p>
        </p:txBody>
      </p:sp>
      <p:pic>
        <p:nvPicPr>
          <p:cNvPr id="906" name="Hive of research pages" descr="hive.png"/>
          <p:cNvPicPr>
            <a:picLocks noChangeAspect="1"/>
          </p:cNvPicPr>
          <p:nvPr/>
        </p:nvPicPr>
        <p:blipFill>
          <a:blip r:embed="rId2"/>
          <a:stretch>
            <a:fillRect/>
          </a:stretch>
        </p:blipFill>
        <p:spPr>
          <a:xfrm>
            <a:off x="6903720" y="960120"/>
            <a:ext cx="4937760" cy="493776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905"/>
                                        </p:tgtEl>
                                        <p:attrNameLst>
                                          <p:attrName>style.visibility</p:attrName>
                                        </p:attrNameLst>
                                      </p:cBhvr>
                                      <p:to>
                                        <p:strVal val="visible"/>
                                      </p:to>
                                    </p:set>
                                    <p:animEffect transition="in" filter="fade">
                                      <p:cBhvr>
                                        <p:cTn id="7" dur="500"/>
                                        <p:tgtEl>
                                          <p:spTgt spid="9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766560" cy="735293"/>
          </a:xfrm>
        </p:spPr>
        <p:txBody>
          <a:bodyPr/>
          <a:lstStyle/>
          <a:p>
            <a:r>
              <a:t>Live demo</a:t>
            </a:r>
          </a:p>
        </p:txBody>
      </p:sp>
      <p:sp>
        <p:nvSpPr>
          <p:cNvPr id="3" name="Subtitle 2"/>
          <p:cNvSpPr>
            <a:spLocks noGrp="1"/>
          </p:cNvSpPr>
          <p:nvPr>
            <p:ph type="subTitle" idx="1"/>
          </p:nvPr>
        </p:nvSpPr>
        <p:spPr>
          <a:xfrm>
            <a:off x="839788" y="2924945"/>
            <a:ext cx="6766560" cy="1670986"/>
          </a:xfrm>
        </p:spPr>
        <p:txBody>
          <a:bodyPr/>
          <a:lstStyle/>
          <a:p>
            <a:r>
              <a:rPr sz="2600"/>
              <a:t>Watch Mutz find the honey.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5</a:t>
            </a:fld>
            <a:endParaRPr lang="de-CH" dirty="0"/>
          </a:p>
        </p:txBody>
      </p:sp>
      <p:pic>
        <p:nvPicPr>
          <p:cNvPr id="903" name="Mutz animation (sniff)">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7680960" y="1417320"/>
            <a:ext cx="3977639" cy="3977639"/>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000" fill="hold"/>
                                        <p:tgtEl>
                                          <p:spTgt spid="90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90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Honest by design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6</a:t>
            </a:fld>
            <a:endParaRPr lang="de-CH" dirty="0"/>
          </a:p>
        </p:txBody>
      </p:sp>
      <p:pic>
        <p:nvPicPr>
          <p:cNvPr id="903" name="Mutz animation (pots)">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74519"/>
            <a:ext cx="10972800" cy="2011680"/>
          </a:xfrm>
          <a:prstGeom prst="rect">
            <a:avLst/>
          </a:prstGeom>
        </p:spPr>
      </p:pic>
      <p:sp>
        <p:nvSpPr>
          <p:cNvPr id="904" name="TextBox 903"/>
          <p:cNvSpPr txBox="1"/>
          <p:nvPr/>
        </p:nvSpPr>
        <p:spPr>
          <a:xfrm>
            <a:off x="84124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Strong</a:t>
            </a:r>
          </a:p>
        </p:txBody>
      </p:sp>
      <p:sp>
        <p:nvSpPr>
          <p:cNvPr id="905" name="TextBox 904"/>
          <p:cNvSpPr txBox="1"/>
          <p:nvPr/>
        </p:nvSpPr>
        <p:spPr>
          <a:xfrm>
            <a:off x="4544568" y="4069080"/>
            <a:ext cx="3383280" cy="548640"/>
          </a:xfrm>
          <a:prstGeom prst="rect">
            <a:avLst/>
          </a:prstGeom>
          <a:noFill/>
        </p:spPr>
        <p:txBody>
          <a:bodyPr wrap="square" lIns="0" rIns="0" tIns="0" bIns="0" anchor="t">
            <a:spAutoFit/>
          </a:bodyPr>
          <a:lstStyle/>
          <a:p>
            <a:pPr algn="l">
              <a:spcAft>
                <a:spcPts val="0"/>
              </a:spcAft>
            </a:pPr>
            <a:r>
              <a:rPr sz="2400" b="1" i="0">
                <a:solidFill>
                  <a:srgbClr val="000000"/>
                </a:solidFill>
              </a:rPr>
              <a:t>Thin</a:t>
            </a:r>
          </a:p>
        </p:txBody>
      </p:sp>
      <p:sp>
        <p:nvSpPr>
          <p:cNvPr id="906" name="TextBox 905"/>
          <p:cNvSpPr txBox="1"/>
          <p:nvPr/>
        </p:nvSpPr>
        <p:spPr>
          <a:xfrm>
            <a:off x="8247888" y="4069080"/>
            <a:ext cx="3383280" cy="548640"/>
          </a:xfrm>
          <a:prstGeom prst="rect">
            <a:avLst/>
          </a:prstGeom>
          <a:noFill/>
        </p:spPr>
        <p:txBody>
          <a:bodyPr wrap="square" lIns="0" rIns="0" tIns="0" bIns="0" anchor="t">
            <a:spAutoFit/>
          </a:bodyPr>
          <a:lstStyle/>
          <a:p>
            <a:pPr algn="l">
              <a:spcAft>
                <a:spcPts val="0"/>
              </a:spcAft>
            </a:pPr>
            <a:r>
              <a:rPr sz="2400" b="1" i="0">
                <a:solidFill>
                  <a:srgbClr val="EA161F"/>
                </a:solidFill>
              </a:rPr>
              <a:t>Kei Hung</a:t>
            </a:r>
          </a:p>
        </p:txBody>
      </p:sp>
      <p:sp>
        <p:nvSpPr>
          <p:cNvPr id="907" name="TextBox 906"/>
          <p:cNvSpPr txBox="1"/>
          <p:nvPr/>
        </p:nvSpPr>
        <p:spPr>
          <a:xfrm>
            <a:off x="841248" y="5120640"/>
            <a:ext cx="10972800" cy="640080"/>
          </a:xfrm>
          <a:prstGeom prst="rect">
            <a:avLst/>
          </a:prstGeom>
          <a:noFill/>
        </p:spPr>
        <p:txBody>
          <a:bodyPr wrap="square" lIns="0" rIns="0" tIns="0" bIns="0" anchor="t">
            <a:spAutoFit/>
          </a:bodyPr>
          <a:lstStyle/>
          <a:p>
            <a:pPr algn="l">
              <a:spcAft>
                <a:spcPts val="0"/>
              </a:spcAft>
            </a:pPr>
            <a:r>
              <a:rPr sz="2600" b="0" i="0">
                <a:solidFill>
                  <a:srgbClr val="000000"/>
                </a:solidFill>
              </a:rPr>
              <a:t>Bern only pitches where it is really strong.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5400" fill="hold"/>
                                        <p:tgtEl>
                                          <p:spTgt spid="903"/>
                                        </p:tgtEl>
                                      </p:cBhvr>
                                    </p:cmd>
                                  </p:childTnLst>
                                </p:cTn>
                              </p:par>
                              <p:par>
                                <p:cTn id="7" presetID="10" presetClass="entr" presetSubtype="0" fill="hold" grpId="0" nodeType="withEffect">
                                  <p:stCondLst>
                                    <p:cond delay="20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30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45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54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7</a:t>
            </a:fld>
            <a:endParaRPr lang="de-CH" dirty="0"/>
          </a:p>
        </p:txBody>
      </p:sp>
      <p:pic>
        <p:nvPicPr>
          <p:cNvPr id="903" name="Mutz animation (alert)">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1248" y="1828800"/>
            <a:ext cx="5669280" cy="3685032"/>
          </a:xfrm>
          <a:prstGeom prst="rect">
            <a:avLst/>
          </a:prstGeom>
        </p:spPr>
      </p:pic>
      <p:sp>
        <p:nvSpPr>
          <p:cNvPr id="904" name="TextBox 903"/>
          <p:cNvSpPr txBox="1"/>
          <p:nvPr/>
        </p:nvSpPr>
        <p:spPr>
          <a:xfrm>
            <a:off x="6949440" y="210312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Alerts</a:t>
            </a:r>
          </a:p>
        </p:txBody>
      </p:sp>
      <p:sp>
        <p:nvSpPr>
          <p:cNvPr id="905" name="TextBox 904"/>
          <p:cNvSpPr txBox="1"/>
          <p:nvPr/>
        </p:nvSpPr>
        <p:spPr>
          <a:xfrm>
            <a:off x="6949440" y="265176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New research appears, every open case is re-checked.</a:t>
            </a:r>
          </a:p>
        </p:txBody>
      </p:sp>
      <p:sp>
        <p:nvSpPr>
          <p:cNvPr id="906" name="TextBox 905"/>
          <p:cNvSpPr txBox="1"/>
          <p:nvPr/>
        </p:nvSpPr>
        <p:spPr>
          <a:xfrm>
            <a:off x="6949440" y="3794760"/>
            <a:ext cx="4846320" cy="548640"/>
          </a:xfrm>
          <a:prstGeom prst="rect">
            <a:avLst/>
          </a:prstGeom>
          <a:noFill/>
        </p:spPr>
        <p:txBody>
          <a:bodyPr wrap="square" lIns="0" rIns="0" tIns="0" bIns="0" anchor="t">
            <a:spAutoFit/>
          </a:bodyPr>
          <a:lstStyle/>
          <a:p>
            <a:pPr algn="l">
              <a:spcAft>
                <a:spcPts val="0"/>
              </a:spcAft>
            </a:pPr>
            <a:r>
              <a:rPr sz="2400" b="1" i="0">
                <a:solidFill>
                  <a:srgbClr val="000000"/>
                </a:solidFill>
              </a:rPr>
              <a:t>Word cloud and gap report</a:t>
            </a:r>
          </a:p>
        </p:txBody>
      </p:sp>
      <p:sp>
        <p:nvSpPr>
          <p:cNvPr id="907" name="TextBox 906"/>
          <p:cNvSpPr txBox="1"/>
          <p:nvPr/>
        </p:nvSpPr>
        <p:spPr>
          <a:xfrm>
            <a:off x="6949440" y="4343400"/>
            <a:ext cx="4846320" cy="914400"/>
          </a:xfrm>
          <a:prstGeom prst="rect">
            <a:avLst/>
          </a:prstGeom>
          <a:noFill/>
        </p:spPr>
        <p:txBody>
          <a:bodyPr wrap="square" lIns="0" rIns="0" tIns="0" bIns="0" anchor="t">
            <a:spAutoFit/>
          </a:bodyPr>
          <a:lstStyle/>
          <a:p>
            <a:pPr algn="l">
              <a:spcAft>
                <a:spcPts val="0"/>
              </a:spcAft>
            </a:pPr>
            <a:r>
              <a:rPr sz="2000" b="0" i="0">
                <a:solidFill>
                  <a:srgbClr val="63737B"/>
                </a:solidFill>
              </a:rPr>
              <a:t>What Bern is strong in, and what leads ask for that Bern lacks.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03"/>
                                        </p:tgtEl>
                                      </p:cBhvr>
                                    </p:cmd>
                                  </p:childTnLst>
                                </p:cTn>
                              </p:par>
                              <p:par>
                                <p:cTn id="7" presetID="10" presetClass="entr" presetSubtype="0" fill="hold" grpId="0" nodeType="withEffect">
                                  <p:stCondLst>
                                    <p:cond delay="1900"/>
                                  </p:stCondLst>
                                  <p:childTnLst>
                                    <p:set>
                                      <p:cBhvr>
                                        <p:cTn id="8" dur="1" fill="hold">
                                          <p:stCondLst>
                                            <p:cond delay="0"/>
                                          </p:stCondLst>
                                        </p:cTn>
                                        <p:tgtEl>
                                          <p:spTgt spid="904"/>
                                        </p:tgtEl>
                                        <p:attrNameLst>
                                          <p:attrName>style.visibility</p:attrName>
                                        </p:attrNameLst>
                                      </p:cBhvr>
                                      <p:to>
                                        <p:strVal val="visible"/>
                                      </p:to>
                                    </p:set>
                                    <p:animEffect transition="in" filter="fade">
                                      <p:cBhvr>
                                        <p:cTn id="9" dur="500"/>
                                        <p:tgtEl>
                                          <p:spTgt spid="904"/>
                                        </p:tgtEl>
                                      </p:cBhvr>
                                    </p:animEffect>
                                  </p:childTnLst>
                                </p:cTn>
                              </p:par>
                              <p:par>
                                <p:cTn id="10" presetID="10" presetClass="entr" presetSubtype="0" fill="hold" grpId="0" nodeType="withEffect">
                                  <p:stCondLst>
                                    <p:cond delay="1900"/>
                                  </p:stCondLst>
                                  <p:childTnLst>
                                    <p:set>
                                      <p:cBhvr>
                                        <p:cTn id="11" dur="1" fill="hold">
                                          <p:stCondLst>
                                            <p:cond delay="0"/>
                                          </p:stCondLst>
                                        </p:cTn>
                                        <p:tgtEl>
                                          <p:spTgt spid="905"/>
                                        </p:tgtEl>
                                        <p:attrNameLst>
                                          <p:attrName>style.visibility</p:attrName>
                                        </p:attrNameLst>
                                      </p:cBhvr>
                                      <p:to>
                                        <p:strVal val="visible"/>
                                      </p:to>
                                    </p:set>
                                    <p:animEffect transition="in" filter="fade">
                                      <p:cBhvr>
                                        <p:cTn id="12" dur="500"/>
                                        <p:tgtEl>
                                          <p:spTgt spid="905"/>
                                        </p:tgtEl>
                                      </p:cBhvr>
                                    </p:animEffect>
                                  </p:childTnLst>
                                </p:cTn>
                              </p:par>
                              <p:par>
                                <p:cTn id="13" presetID="10" presetClass="entr" presetSubtype="0" fill="hold" grpId="0" nodeType="withEffect">
                                  <p:stCondLst>
                                    <p:cond delay="3200"/>
                                  </p:stCondLst>
                                  <p:childTnLst>
                                    <p:set>
                                      <p:cBhvr>
                                        <p:cTn id="14" dur="1" fill="hold">
                                          <p:stCondLst>
                                            <p:cond delay="0"/>
                                          </p:stCondLst>
                                        </p:cTn>
                                        <p:tgtEl>
                                          <p:spTgt spid="906"/>
                                        </p:tgtEl>
                                        <p:attrNameLst>
                                          <p:attrName>style.visibility</p:attrName>
                                        </p:attrNameLst>
                                      </p:cBhvr>
                                      <p:to>
                                        <p:strVal val="visible"/>
                                      </p:to>
                                    </p:set>
                                    <p:animEffect transition="in" filter="fade">
                                      <p:cBhvr>
                                        <p:cTn id="15" dur="500"/>
                                        <p:tgtEl>
                                          <p:spTgt spid="906"/>
                                        </p:tgtEl>
                                      </p:cBhvr>
                                    </p:animEffect>
                                  </p:childTnLst>
                                </p:cTn>
                              </p:par>
                              <p:par>
                                <p:cTn id="16" presetID="10" presetClass="entr" presetSubtype="0" fill="hold" grpId="0" nodeType="withEffect">
                                  <p:stCondLst>
                                    <p:cond delay="3200"/>
                                  </p:stCondLst>
                                  <p:childTnLst>
                                    <p:set>
                                      <p:cBhvr>
                                        <p:cTn id="17" dur="1" fill="hold">
                                          <p:stCondLst>
                                            <p:cond delay="0"/>
                                          </p:stCondLst>
                                        </p:cTn>
                                        <p:tgtEl>
                                          <p:spTgt spid="907"/>
                                        </p:tgtEl>
                                        <p:attrNameLst>
                                          <p:attrName>style.visibility</p:attrName>
                                        </p:attrNameLst>
                                      </p:cBhvr>
                                      <p:to>
                                        <p:strVal val="visible"/>
                                      </p:to>
                                    </p:set>
                                    <p:animEffect transition="in" filter="fade">
                                      <p:cBhvr>
                                        <p:cTn id="18" dur="500"/>
                                        <p:tgtEl>
                                          <p:spTgt spid="907"/>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p:cTn id="19" fill="hold" display="0">
                  <p:stCondLst>
                    <p:cond delay="indefinite"/>
                  </p:stCondLst>
                </p:cTn>
                <p:tgtEl>
                  <p:spTgt spid="903"/>
                </p:tgtEl>
              </p:cMediaNode>
            </p:video>
          </p:childTnLst>
        </p:cTn>
      </p:par>
    </p:tnLst>
    <p:bldLst>
      <p:bldP spid="904" grpId="0" animBg="1"/>
      <p:bldP spid="905" grpId="0" animBg="1"/>
      <p:bldP spid="906" grpId="0" animBg="1"/>
      <p:bldP spid="90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8</a:t>
            </a:fld>
            <a:endParaRPr lang="de-CH" dirty="0"/>
          </a:p>
        </p:txBody>
      </p:sp>
      <p:sp>
        <p:nvSpPr>
          <p:cNvPr id="903" name="TextBox 902"/>
          <p:cNvSpPr txBox="1"/>
          <p:nvPr/>
        </p:nvSpPr>
        <p:spPr>
          <a:xfrm>
            <a:off x="84124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4" name="TextBox 903"/>
          <p:cNvSpPr txBox="1"/>
          <p:nvPr/>
        </p:nvSpPr>
        <p:spPr>
          <a:xfrm>
            <a:off x="84124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right expert in the top 10</a:t>
            </a:r>
          </a:p>
        </p:txBody>
      </p:sp>
      <p:sp>
        <p:nvSpPr>
          <p:cNvPr id="905" name="TextBox 904"/>
          <p:cNvSpPr txBox="1"/>
          <p:nvPr/>
        </p:nvSpPr>
        <p:spPr>
          <a:xfrm>
            <a:off x="4544568" y="2011680"/>
            <a:ext cx="3474720" cy="1371600"/>
          </a:xfrm>
          <a:prstGeom prst="rect">
            <a:avLst/>
          </a:prstGeom>
          <a:noFill/>
        </p:spPr>
        <p:txBody>
          <a:bodyPr wrap="square" lIns="0" rIns="0" tIns="0" bIns="0" anchor="t">
            <a:spAutoFit/>
          </a:bodyPr>
          <a:lstStyle/>
          <a:p>
            <a:pPr algn="l">
              <a:spcAft>
                <a:spcPts val="0"/>
              </a:spcAft>
            </a:pPr>
            <a:r>
              <a:rPr sz="7200" b="1" i="0">
                <a:solidFill>
                  <a:srgbClr val="000000"/>
                </a:solidFill>
              </a:rPr>
              <a:t>[XX]%</a:t>
            </a:r>
          </a:p>
        </p:txBody>
      </p:sp>
      <p:sp>
        <p:nvSpPr>
          <p:cNvPr id="906" name="TextBox 905"/>
          <p:cNvSpPr txBox="1"/>
          <p:nvPr/>
        </p:nvSpPr>
        <p:spPr>
          <a:xfrm>
            <a:off x="454456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same experts for lay words and jargon</a:t>
            </a:r>
          </a:p>
        </p:txBody>
      </p:sp>
      <p:sp>
        <p:nvSpPr>
          <p:cNvPr id="907" name="TextBox 906"/>
          <p:cNvSpPr txBox="1"/>
          <p:nvPr/>
        </p:nvSpPr>
        <p:spPr>
          <a:xfrm>
            <a:off x="8247888" y="2011680"/>
            <a:ext cx="3474720" cy="1371600"/>
          </a:xfrm>
          <a:prstGeom prst="rect">
            <a:avLst/>
          </a:prstGeom>
          <a:noFill/>
        </p:spPr>
        <p:txBody>
          <a:bodyPr wrap="square" lIns="0" rIns="0" tIns="0" bIns="0" anchor="t">
            <a:spAutoFit/>
          </a:bodyPr>
          <a:lstStyle/>
          <a:p>
            <a:pPr algn="l">
              <a:spcAft>
                <a:spcPts val="0"/>
              </a:spcAft>
            </a:pPr>
            <a:r>
              <a:rPr sz="7200" b="1" i="0">
                <a:solidFill>
                  <a:srgbClr val="EA161F"/>
                </a:solidFill>
              </a:rPr>
              <a:t>0</a:t>
            </a:r>
          </a:p>
        </p:txBody>
      </p:sp>
      <p:sp>
        <p:nvSpPr>
          <p:cNvPr id="908" name="TextBox 907"/>
          <p:cNvSpPr txBox="1"/>
          <p:nvPr/>
        </p:nvSpPr>
        <p:spPr>
          <a:xfrm>
            <a:off x="8247888" y="3429000"/>
            <a:ext cx="3291840" cy="914400"/>
          </a:xfrm>
          <a:prstGeom prst="rect">
            <a:avLst/>
          </a:prstGeom>
          <a:noFill/>
        </p:spPr>
        <p:txBody>
          <a:bodyPr wrap="square" lIns="0" rIns="0" tIns="0" bIns="0" anchor="t">
            <a:spAutoFit/>
          </a:bodyPr>
          <a:lstStyle/>
          <a:p>
            <a:pPr algn="l">
              <a:spcAft>
                <a:spcPts val="0"/>
              </a:spcAft>
            </a:pPr>
            <a:r>
              <a:rPr sz="2000" b="0" i="0">
                <a:solidFill>
                  <a:srgbClr val="000000"/>
                </a:solidFill>
              </a:rPr>
              <a:t>facts without a source</a:t>
            </a:r>
          </a:p>
        </p:txBody>
      </p:sp>
      <p:sp>
        <p:nvSpPr>
          <p:cNvPr id="909" name="TextBox 908"/>
          <p:cNvSpPr txBox="1"/>
          <p:nvPr/>
        </p:nvSpPr>
        <p:spPr>
          <a:xfrm>
            <a:off x="841248" y="4937760"/>
            <a:ext cx="10972800" cy="548640"/>
          </a:xfrm>
          <a:prstGeom prst="rect">
            <a:avLst/>
          </a:prstGeom>
          <a:noFill/>
        </p:spPr>
        <p:txBody>
          <a:bodyPr wrap="square" lIns="0" rIns="0" tIns="0" bIns="0" anchor="t">
            <a:spAutoFit/>
          </a:bodyPr>
          <a:lstStyle/>
          <a:p>
            <a:pPr algn="l">
              <a:spcAft>
                <a:spcPts val="0"/>
              </a:spcAft>
            </a:pPr>
            <a:r>
              <a:rPr sz="2000" b="0" i="0">
                <a:solidFill>
                  <a:srgbClr val="63737B"/>
                </a:solidFill>
              </a:rPr>
              <a:t>On held-out questions we never tuned 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903"/>
                                        </p:tgtEl>
                                        <p:attrNameLst>
                                          <p:attrName>style.visibility</p:attrName>
                                        </p:attrNameLst>
                                      </p:cBhvr>
                                      <p:to>
                                        <p:strVal val="visible"/>
                                      </p:to>
                                    </p:set>
                                    <p:animEffect transition="in" filter="fade">
                                      <p:cBhvr>
                                        <p:cTn id="7" dur="500"/>
                                        <p:tgtEl>
                                          <p:spTgt spid="903"/>
                                        </p:tgtEl>
                                      </p:cBhvr>
                                    </p:animEffect>
                                  </p:childTnLst>
                                </p:cTn>
                              </p:par>
                              <p:par>
                                <p:cTn id="8" presetID="10" presetClass="entr" presetSubtype="0" fill="hold" grpId="0" nodeType="withEffect">
                                  <p:stCondLst>
                                    <p:cond delay="300"/>
                                  </p:stCondLst>
                                  <p:childTnLst>
                                    <p:set>
                                      <p:cBhvr>
                                        <p:cTn id="9" dur="1" fill="hold">
                                          <p:stCondLst>
                                            <p:cond delay="0"/>
                                          </p:stCondLst>
                                        </p:cTn>
                                        <p:tgtEl>
                                          <p:spTgt spid="904"/>
                                        </p:tgtEl>
                                        <p:attrNameLst>
                                          <p:attrName>style.visibility</p:attrName>
                                        </p:attrNameLst>
                                      </p:cBhvr>
                                      <p:to>
                                        <p:strVal val="visible"/>
                                      </p:to>
                                    </p:set>
                                    <p:animEffect transition="in" filter="fade">
                                      <p:cBhvr>
                                        <p:cTn id="10" dur="500"/>
                                        <p:tgtEl>
                                          <p:spTgt spid="904"/>
                                        </p:tgtEl>
                                      </p:cBhvr>
                                    </p:animEffect>
                                  </p:childTnLst>
                                </p:cTn>
                              </p:par>
                              <p:par>
                                <p:cTn id="11" presetID="10" presetClass="entr" presetSubtype="0" fill="hold" grpId="0" nodeType="withEffect">
                                  <p:stCondLst>
                                    <p:cond delay="1000"/>
                                  </p:stCondLst>
                                  <p:childTnLst>
                                    <p:set>
                                      <p:cBhvr>
                                        <p:cTn id="12" dur="1" fill="hold">
                                          <p:stCondLst>
                                            <p:cond delay="0"/>
                                          </p:stCondLst>
                                        </p:cTn>
                                        <p:tgtEl>
                                          <p:spTgt spid="905"/>
                                        </p:tgtEl>
                                        <p:attrNameLst>
                                          <p:attrName>style.visibility</p:attrName>
                                        </p:attrNameLst>
                                      </p:cBhvr>
                                      <p:to>
                                        <p:strVal val="visible"/>
                                      </p:to>
                                    </p:set>
                                    <p:animEffect transition="in" filter="fade">
                                      <p:cBhvr>
                                        <p:cTn id="13" dur="500"/>
                                        <p:tgtEl>
                                          <p:spTgt spid="905"/>
                                        </p:tgtEl>
                                      </p:cBhvr>
                                    </p:animEffect>
                                  </p:childTnLst>
                                </p:cTn>
                              </p:par>
                              <p:par>
                                <p:cTn id="14" presetID="10" presetClass="entr" presetSubtype="0" fill="hold" grpId="0" nodeType="withEffect">
                                  <p:stCondLst>
                                    <p:cond delay="1000"/>
                                  </p:stCondLst>
                                  <p:childTnLst>
                                    <p:set>
                                      <p:cBhvr>
                                        <p:cTn id="15" dur="1" fill="hold">
                                          <p:stCondLst>
                                            <p:cond delay="0"/>
                                          </p:stCondLst>
                                        </p:cTn>
                                        <p:tgtEl>
                                          <p:spTgt spid="906"/>
                                        </p:tgtEl>
                                        <p:attrNameLst>
                                          <p:attrName>style.visibility</p:attrName>
                                        </p:attrNameLst>
                                      </p:cBhvr>
                                      <p:to>
                                        <p:strVal val="visible"/>
                                      </p:to>
                                    </p:set>
                                    <p:animEffect transition="in" filter="fade">
                                      <p:cBhvr>
                                        <p:cTn id="16" dur="500"/>
                                        <p:tgtEl>
                                          <p:spTgt spid="906"/>
                                        </p:tgtEl>
                                      </p:cBhvr>
                                    </p:animEffect>
                                  </p:childTnLst>
                                </p:cTn>
                              </p:par>
                              <p:par>
                                <p:cTn id="17" presetID="10" presetClass="entr" presetSubtype="0" fill="hold" grpId="0" nodeType="withEffect">
                                  <p:stCondLst>
                                    <p:cond delay="1700"/>
                                  </p:stCondLst>
                                  <p:childTnLst>
                                    <p:set>
                                      <p:cBhvr>
                                        <p:cTn id="18" dur="1" fill="hold">
                                          <p:stCondLst>
                                            <p:cond delay="0"/>
                                          </p:stCondLst>
                                        </p:cTn>
                                        <p:tgtEl>
                                          <p:spTgt spid="907"/>
                                        </p:tgtEl>
                                        <p:attrNameLst>
                                          <p:attrName>style.visibility</p:attrName>
                                        </p:attrNameLst>
                                      </p:cBhvr>
                                      <p:to>
                                        <p:strVal val="visible"/>
                                      </p:to>
                                    </p:set>
                                    <p:animEffect transition="in" filter="fade">
                                      <p:cBhvr>
                                        <p:cTn id="19" dur="500"/>
                                        <p:tgtEl>
                                          <p:spTgt spid="907"/>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908"/>
                                        </p:tgtEl>
                                        <p:attrNameLst>
                                          <p:attrName>style.visibility</p:attrName>
                                        </p:attrNameLst>
                                      </p:cBhvr>
                                      <p:to>
                                        <p:strVal val="visible"/>
                                      </p:to>
                                    </p:set>
                                    <p:animEffect transition="in" filter="fade">
                                      <p:cBhvr>
                                        <p:cTn id="22" dur="500"/>
                                        <p:tgtEl>
                                          <p:spTgt spid="908"/>
                                        </p:tgtEl>
                                      </p:cBhvr>
                                    </p:animEffect>
                                  </p:childTnLst>
                                </p:cTn>
                              </p:par>
                              <p:par>
                                <p:cTn id="23" presetID="10" presetClass="entr" presetSubtype="0" fill="hold" grpId="0" nodeType="withEffect">
                                  <p:stCondLst>
                                    <p:cond delay="2600"/>
                                  </p:stCondLst>
                                  <p:childTnLst>
                                    <p:set>
                                      <p:cBhvr>
                                        <p:cTn id="24" dur="1" fill="hold">
                                          <p:stCondLst>
                                            <p:cond delay="0"/>
                                          </p:stCondLst>
                                        </p:cTn>
                                        <p:tgtEl>
                                          <p:spTgt spid="909"/>
                                        </p:tgtEl>
                                        <p:attrNameLst>
                                          <p:attrName>style.visibility</p:attrName>
                                        </p:attrNameLst>
                                      </p:cBhvr>
                                      <p:to>
                                        <p:strVal val="visible"/>
                                      </p:to>
                                    </p:set>
                                    <p:animEffect transition="in" filter="fade">
                                      <p:cBhvr>
                                        <p:cTn id="25" dur="500"/>
                                        <p:tgtEl>
                                          <p:spTgt spid="9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03" grpId="0" animBg="1"/>
      <p:bldP spid="904" grpId="0" animBg="1"/>
      <p:bldP spid="905" grpId="0" animBg="1"/>
      <p:bldP spid="906" grpId="0" animBg="1"/>
      <p:bldP spid="907" grpId="0" animBg="1"/>
      <p:bldP spid="908" grpId="0" animBg="1"/>
      <p:bldP spid="90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39788" y="2132855"/>
            <a:ext cx="6949440" cy="735293"/>
          </a:xfrm>
        </p:spPr>
        <p:txBody>
          <a:bodyPr/>
          <a:lstStyle/>
          <a:p>
            <a:r>
              <a:t>Bern is full of honey.</a:t>
            </a:r>
          </a:p>
        </p:txBody>
      </p:sp>
      <p:sp>
        <p:nvSpPr>
          <p:cNvPr id="3" name="Subtitle 2"/>
          <p:cNvSpPr>
            <a:spLocks noGrp="1"/>
          </p:cNvSpPr>
          <p:nvPr>
            <p:ph type="subTitle" idx="1"/>
          </p:nvPr>
        </p:nvSpPr>
        <p:spPr>
          <a:xfrm>
            <a:off x="839788" y="2924945"/>
            <a:ext cx="7132320" cy="1670986"/>
          </a:xfrm>
        </p:spPr>
        <p:txBody>
          <a:bodyPr/>
          <a:lstStyle/>
          <a:p>
            <a:r>
              <a:rPr sz="3200">
                <a:solidFill>
                  <a:srgbClr val="EA161F"/>
                </a:solidFill>
              </a:rPr>
              <a:t>Mutz finds it for every company.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9</a:t>
            </a:fld>
            <a:endParaRPr lang="de-CH" dirty="0"/>
          </a:p>
        </p:txBody>
      </p:sp>
      <p:pic>
        <p:nvPicPr>
          <p:cNvPr id="903" name="Mutz lockup" descr="splash-last.png"/>
          <p:cNvPicPr>
            <a:picLocks noChangeAspect="1"/>
          </p:cNvPicPr>
          <p:nvPr/>
        </p:nvPicPr>
        <p:blipFill>
          <a:blip r:embed="rId2"/>
          <a:stretch>
            <a:fillRect/>
          </a:stretch>
        </p:blipFill>
        <p:spPr>
          <a:xfrm>
            <a:off x="7269480" y="960120"/>
            <a:ext cx="4480560" cy="4480560"/>
          </a:xfrm>
          <a:prstGeom prst="rect">
            <a:avLst/>
          </a:prstGeom>
        </p:spPr>
      </p:pic>
      <p:sp>
        <p:nvSpPr>
          <p:cNvPr id="904" name="TextBox 903"/>
          <p:cNvSpPr txBox="1"/>
          <p:nvPr/>
        </p:nvSpPr>
        <p:spPr>
          <a:xfrm>
            <a:off x="841248" y="5120640"/>
            <a:ext cx="6400800" cy="365760"/>
          </a:xfrm>
          <a:prstGeom prst="rect">
            <a:avLst/>
          </a:prstGeom>
          <a:noFill/>
        </p:spPr>
        <p:txBody>
          <a:bodyPr wrap="square" lIns="0" rIns="0" tIns="0" bIns="0" anchor="t">
            <a:spAutoFit/>
          </a:bodyPr>
          <a:lstStyle/>
          <a:p>
            <a:pPr algn="l">
              <a:spcAft>
                <a:spcPts val="600"/>
              </a:spcAft>
            </a:pPr>
            <a:r>
              <a:rPr sz="1600" b="0" i="0">
                <a:solidFill>
                  <a:srgbClr val="63737B"/>
                </a:solidFill>
              </a:rPr>
              <a:t>Team Ctrl+Free · Hack Apertus Liebefeld</a:t>
            </a:r>
          </a:p>
        </p:txBody>
      </p:sp>
      <p:sp>
        <p:nvSpPr>
          <p:cNvPr id="905" name="TextBox 904"/>
          <p:cNvSpPr txBox="1"/>
          <p:nvPr/>
        </p:nvSpPr>
        <p:spPr>
          <a:xfrm>
            <a:off x="7269480" y="5577840"/>
            <a:ext cx="1828800" cy="274320"/>
          </a:xfrm>
          <a:prstGeom prst="rect">
            <a:avLst/>
          </a:prstGeom>
          <a:noFill/>
        </p:spPr>
        <p:txBody>
          <a:bodyPr wrap="square" lIns="0" rIns="0" tIns="0" bIns="0" anchor="t">
            <a:spAutoFit/>
          </a:bodyPr>
          <a:lstStyle/>
          <a:p>
            <a:pPr algn="l">
              <a:spcAft>
                <a:spcPts val="600"/>
              </a:spcAft>
            </a:pPr>
            <a:r>
              <a:rPr sz="1000" b="0" i="0">
                <a:solidFill>
                  <a:srgbClr val="63737B"/>
                </a:solidFill>
              </a:rPr>
              <a:t>Challenge owner</a:t>
            </a:r>
          </a:p>
        </p:txBody>
      </p:sp>
      <p:pic>
        <p:nvPicPr>
          <p:cNvPr id="906" name="Picture 905" descr="logo.png"/>
          <p:cNvPicPr>
            <a:picLocks noChangeAspect="1"/>
          </p:cNvPicPr>
          <p:nvPr/>
        </p:nvPicPr>
        <p:blipFill>
          <a:blip r:embed="rId3"/>
          <a:stretch>
            <a:fillRect/>
          </a:stretch>
        </p:blipFill>
        <p:spPr>
          <a:xfrm>
            <a:off x="8778240" y="5486400"/>
            <a:ext cx="1566717" cy="50292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3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Try Mutz yourself</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Scan header"/>
          <p:cNvSpPr txBox="1"/>
          <p:nvPr/>
        </p:nvSpPr>
        <p:spPr>
          <a:xfrm>
            <a:off x="841248" y="1874519"/>
            <a:ext cx="5486400" cy="365760"/>
          </a:xfrm>
          <a:prstGeom prst="rect">
            <a:avLst/>
          </a:prstGeom>
          <a:noFill/>
        </p:spPr>
        <p:txBody>
          <a:bodyPr wrap="square" lIns="0" rIns="0" tIns="0" bIns="0">
            <a:spAutoFit/>
          </a:bodyPr>
          <a:lstStyle/>
          <a:p>
            <a:pPr>
              <a:spcAft>
                <a:spcPts val="600"/>
              </a:spcAft>
            </a:pPr>
            <a:r>
              <a:rPr sz="1600" b="1">
                <a:solidFill>
                  <a:srgbClr val="000000"/>
                </a:solidFill>
              </a:rPr>
              <a:t>Scan to open the live demo</a:t>
            </a:r>
          </a:p>
        </p:txBody>
      </p:sp>
      <p:pic>
        <p:nvPicPr>
          <p:cNvPr id="908" name="QR live demo" descr="qr-live-demo.png"/>
          <p:cNvPicPr>
            <a:picLocks noChangeAspect="1"/>
          </p:cNvPicPr>
          <p:nvPr/>
        </p:nvPicPr>
        <p:blipFill>
          <a:blip r:embed="rId2"/>
          <a:stretch>
            <a:fillRect/>
          </a:stretch>
        </p:blipFill>
        <p:spPr>
          <a:xfrm>
            <a:off x="731520" y="2286000"/>
            <a:ext cx="2743200" cy="2743200"/>
          </a:xfrm>
          <a:prstGeom prst="rect">
            <a:avLst/>
          </a:prstGeom>
        </p:spPr>
      </p:pic>
      <p:sp>
        <p:nvSpPr>
          <p:cNvPr id="909" name="Login"/>
          <p:cNvSpPr txBox="1"/>
          <p:nvPr/>
        </p:nvSpPr>
        <p:spPr>
          <a:xfrm>
            <a:off x="3611880" y="2514600"/>
            <a:ext cx="2743200" cy="2194560"/>
          </a:xfrm>
          <a:prstGeom prst="rect">
            <a:avLst/>
          </a:prstGeom>
          <a:noFill/>
        </p:spPr>
        <p:txBody>
          <a:bodyPr wrap="square" lIns="0" rIns="0" tIns="0" bIns="0">
            <a:spAutoFit/>
          </a:bodyPr>
          <a:lstStyle/>
          <a:p>
            <a:pPr>
              <a:spcAft>
                <a:spcPts val="400"/>
              </a:spcAft>
            </a:pPr>
            <a:r>
              <a:rPr sz="1400" b="0">
                <a:solidFill>
                  <a:srgbClr val="6E7A80"/>
                </a:solidFill>
              </a:rPr>
              <a:t>Login</a:t>
            </a:r>
          </a:p>
          <a:p>
            <a:pPr>
              <a:spcAft>
                <a:spcPts val="400"/>
              </a:spcAft>
            </a:pPr>
            <a:r>
              <a:rPr sz="2800" b="1">
                <a:solidFill>
                  <a:srgbClr val="EA161F"/>
                </a:solidFill>
              </a:rPr>
              <a:t>mutz</a:t>
            </a:r>
          </a:p>
          <a:p>
            <a:pPr>
              <a:spcAft>
                <a:spcPts val="400"/>
              </a:spcAft>
            </a:pPr>
            <a:r>
              <a:rPr sz="1400" b="0">
                <a:solidFill>
                  <a:srgbClr val="6E7A80"/>
                </a:solidFill>
              </a:rPr>
              <a:t>Password</a:t>
            </a:r>
          </a:p>
          <a:p>
            <a:pPr>
              <a:spcAft>
                <a:spcPts val="400"/>
              </a:spcAft>
            </a:pPr>
            <a:r>
              <a:rPr sz="2200" b="1">
                <a:solidFill>
                  <a:srgbClr val="EA161F"/>
                </a:solidFill>
              </a:rPr>
              <a:t>bearlikeshoney</a:t>
            </a:r>
          </a:p>
        </p:txBody>
      </p:sp>
      <p:sp>
        <p:nvSpPr>
          <p:cNvPr id="910" name="Demo URL"/>
          <p:cNvSpPr txBox="1"/>
          <p:nvPr/>
        </p:nvSpPr>
        <p:spPr>
          <a:xfrm>
            <a:off x="841248" y="5120640"/>
            <a:ext cx="5486400" cy="365760"/>
          </a:xfrm>
          <a:prstGeom prst="rect">
            <a:avLst/>
          </a:prstGeom>
          <a:noFill/>
        </p:spPr>
        <p:txBody>
          <a:bodyPr wrap="square" lIns="0" rIns="0" tIns="0" bIns="0">
            <a:spAutoFit/>
          </a:bodyPr>
          <a:lstStyle/>
          <a:p>
            <a:pPr>
              <a:spcAft>
                <a:spcPts val="600"/>
              </a:spcAft>
            </a:pPr>
            <a:r>
              <a:rPr sz="1200" b="0">
                <a:solidFill>
                  <a:srgbClr val="6E7A80"/>
                </a:solidFill>
              </a:rPr>
              <a:t>mutz-117983845448.europe-west6.run.app</a:t>
            </a:r>
          </a:p>
        </p:txBody>
      </p:sp>
      <p:sp>
        <p:nvSpPr>
          <p:cNvPr id="911" name="Run header"/>
          <p:cNvSpPr txBox="1"/>
          <p:nvPr/>
        </p:nvSpPr>
        <p:spPr>
          <a:xfrm>
            <a:off x="7086600" y="1874519"/>
            <a:ext cx="4754880" cy="365760"/>
          </a:xfrm>
          <a:prstGeom prst="rect">
            <a:avLst/>
          </a:prstGeom>
          <a:noFill/>
        </p:spPr>
        <p:txBody>
          <a:bodyPr wrap="square" lIns="0" rIns="0" tIns="0" bIns="0">
            <a:spAutoFit/>
          </a:bodyPr>
          <a:lstStyle/>
          <a:p>
            <a:pPr>
              <a:spcAft>
                <a:spcPts val="600"/>
              </a:spcAft>
            </a:pPr>
            <a:r>
              <a:rPr sz="1600" b="1">
                <a:solidFill>
                  <a:srgbClr val="000000"/>
                </a:solidFill>
              </a:rPr>
              <a:t>Or run it on your own machine</a:t>
            </a:r>
          </a:p>
        </p:txBody>
      </p:sp>
      <p:sp>
        <p:nvSpPr>
          <p:cNvPr id="912" name="Command box"/>
          <p:cNvSpPr/>
          <p:nvPr/>
        </p:nvSpPr>
        <p:spPr>
          <a:xfrm>
            <a:off x="7086600" y="2331720"/>
            <a:ext cx="4754880" cy="1417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3" name="Command"/>
          <p:cNvSpPr txBox="1"/>
          <p:nvPr/>
        </p:nvSpPr>
        <p:spPr>
          <a:xfrm>
            <a:off x="7315200" y="2560320"/>
            <a:ext cx="4389120" cy="1188720"/>
          </a:xfrm>
          <a:prstGeom prst="rect">
            <a:avLst/>
          </a:prstGeom>
          <a:noFill/>
        </p:spPr>
        <p:txBody>
          <a:bodyPr wrap="square" lIns="0" rIns="0" tIns="0" bIns="0">
            <a:spAutoFit/>
          </a:bodyPr>
          <a:lstStyle/>
          <a:p>
            <a:pPr>
              <a:spcAft>
                <a:spcPts val="800"/>
              </a:spcAft>
            </a:pPr>
            <a:r>
              <a:rPr sz="1500" b="0">
                <a:solidFill>
                  <a:srgbClr val="FFFFFF"/>
                </a:solidFill>
                <a:latin typeface="Courier New"/>
              </a:rPr>
              <a:t>docker run -p 8000:8000 \</a:t>
            </a:r>
          </a:p>
          <a:p>
            <a:pPr>
              <a:spcAft>
                <a:spcPts val="800"/>
              </a:spcAft>
            </a:pPr>
            <a:r>
              <a:rPr sz="1500" b="0">
                <a:solidFill>
                  <a:srgbClr val="FFFFFF"/>
                </a:solidFill>
                <a:latin typeface="Courier New"/>
              </a:rPr>
              <a:t>  -e KEERA_API_KEY=&lt;your key&gt; \</a:t>
            </a:r>
          </a:p>
          <a:p>
            <a:pPr>
              <a:spcAft>
                <a:spcPts val="800"/>
              </a:spcAft>
            </a:pPr>
            <a:r>
              <a:rPr sz="1500" b="0">
                <a:solidFill>
                  <a:srgbClr val="FFFFFF"/>
                </a:solidFill>
                <a:latin typeface="Courier New"/>
              </a:rPr>
              <a:t>  ghcr.io/besaif/mutz</a:t>
            </a:r>
          </a:p>
        </p:txBody>
      </p:sp>
      <p:sp>
        <p:nvSpPr>
          <p:cNvPr id="914" name="Run details"/>
          <p:cNvSpPr txBox="1"/>
          <p:nvPr/>
        </p:nvSpPr>
        <p:spPr>
          <a:xfrm>
            <a:off x="7086600" y="4023360"/>
            <a:ext cx="4754880" cy="1463040"/>
          </a:xfrm>
          <a:prstGeom prst="rect">
            <a:avLst/>
          </a:prstGeom>
          <a:noFill/>
        </p:spPr>
        <p:txBody>
          <a:bodyPr wrap="square" lIns="0" rIns="0" tIns="0" bIns="0">
            <a:spAutoFit/>
          </a:bodyPr>
          <a:lstStyle/>
          <a:p>
            <a:pPr>
              <a:spcAft>
                <a:spcPts val="1000"/>
              </a:spcAft>
            </a:pPr>
            <a:r>
              <a:rPr sz="1500" b="0">
                <a:solidFill>
                  <a:srgbClr val="000000"/>
                </a:solidFill>
              </a:rPr>
              <a:t>Then open </a:t>
            </a:r>
            <a:r>
              <a:rPr sz="1500" b="1">
                <a:solidFill>
                  <a:srgbClr val="000000"/>
                </a:solidFill>
              </a:rPr>
              <a:t>localhost:8000</a:t>
            </a:r>
          </a:p>
          <a:p>
            <a:pPr>
              <a:spcAft>
                <a:spcPts val="1000"/>
              </a:spcAft>
            </a:pPr>
            <a:r>
              <a:rPr sz="1500" b="0">
                <a:solidFill>
                  <a:srgbClr val="000000"/>
                </a:solidFill>
              </a:rPr>
              <a:t>Data and search models included</a:t>
            </a:r>
          </a:p>
          <a:p>
            <a:pPr>
              <a:spcAft>
                <a:spcPts val="1000"/>
              </a:spcAft>
            </a:pPr>
            <a:r>
              <a:rPr sz="1500" b="0">
                <a:solidFill>
                  <a:srgbClr val="000000"/>
                </a:solidFill>
              </a:rPr>
              <a:t>Code: </a:t>
            </a:r>
            <a:r>
              <a:rPr sz="1500" b="1">
                <a:solidFill>
                  <a:srgbClr val="000000"/>
                </a:solidFill>
              </a:rPr>
              <a:t>github.com/beSaif/mutz</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Backup for questions</a:t>
            </a:r>
          </a:p>
        </p:txBody>
      </p:sp>
      <p:sp>
        <p:nvSpPr>
          <p:cNvPr id="3" name="Subtitle 2"/>
          <p:cNvSpPr>
            <a:spLocks noGrp="1"/>
          </p:cNvSpPr>
          <p:nvPr>
            <p:ph type="subTitle" idx="1"/>
          </p:nvPr>
        </p:nvSpPr>
        <p:spPr/>
        <p:txBody>
          <a:bodyPr/>
          <a:lstStyle/>
          <a:p>
            <a:r>
              <a:rPr sz="2000"/>
              <a:t>Demo fallback · Proof · Sovereignty · Scale · Strategy · Architecture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10</a:t>
            </a:fld>
            <a:endParaRPr lang="de-CH" dirty="0"/>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one-pager to pitch, with proof at every step</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11</a:t>
            </a:fld>
            <a:endParaRPr lang="de-CH" dirty="0"/>
          </a:p>
        </p:txBody>
      </p:sp>
      <p:sp>
        <p:nvSpPr>
          <p:cNvPr id="903" name="TextBox 902"/>
          <p:cNvSpPr txBox="1"/>
          <p:nvPr/>
        </p:nvSpPr>
        <p:spPr>
          <a:xfrm>
            <a:off x="841248"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1  </a:t>
            </a:r>
            <a:r>
              <a:rPr sz="2000" b="1" i="0">
                <a:solidFill>
                  <a:srgbClr val="000000"/>
                </a:solidFill>
              </a:rPr>
              <a:t>Brief</a:t>
            </a:r>
          </a:p>
        </p:txBody>
      </p:sp>
      <p:sp>
        <p:nvSpPr>
          <p:cNvPr id="904" name="TextBox 903"/>
          <p:cNvSpPr txBox="1"/>
          <p:nvPr/>
        </p:nvSpPr>
        <p:spPr>
          <a:xfrm>
            <a:off x="4572000"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2  </a:t>
            </a:r>
            <a:r>
              <a:rPr sz="2000" b="1" i="0">
                <a:solidFill>
                  <a:srgbClr val="000000"/>
                </a:solidFill>
              </a:rPr>
              <a:t>Matches</a:t>
            </a:r>
          </a:p>
        </p:txBody>
      </p:sp>
      <p:cxnSp>
        <p:nvCxnSpPr>
          <p:cNvPr id="905" name="Connector 904"/>
          <p:cNvCxnSpPr/>
          <p:nvPr/>
        </p:nvCxnSpPr>
        <p:spPr>
          <a:xfrm>
            <a:off x="4416552"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8302752" y="1828800"/>
            <a:ext cx="3520440" cy="411480"/>
          </a:xfrm>
          <a:prstGeom prst="rect">
            <a:avLst/>
          </a:prstGeom>
          <a:noFill/>
        </p:spPr>
        <p:txBody>
          <a:bodyPr wrap="square" lIns="0" rIns="0" tIns="0" bIns="0" anchor="t">
            <a:spAutoFit/>
          </a:bodyPr>
          <a:lstStyle/>
          <a:p>
            <a:pPr algn="l">
              <a:spcAft>
                <a:spcPts val="600"/>
              </a:spcAft>
            </a:pPr>
            <a:r>
              <a:rPr sz="2000" b="1" i="0">
                <a:solidFill>
                  <a:srgbClr val="EA161F"/>
                </a:solidFill>
              </a:rPr>
              <a:t>3  </a:t>
            </a:r>
            <a:r>
              <a:rPr sz="2000" b="1" i="0">
                <a:solidFill>
                  <a:srgbClr val="000000"/>
                </a:solidFill>
              </a:rPr>
              <a:t>Pitch</a:t>
            </a:r>
          </a:p>
        </p:txBody>
      </p:sp>
      <p:cxnSp>
        <p:nvCxnSpPr>
          <p:cNvPr id="907" name="Connector 906"/>
          <p:cNvCxnSpPr/>
          <p:nvPr/>
        </p:nvCxnSpPr>
        <p:spPr>
          <a:xfrm>
            <a:off x="8147304" y="1828800"/>
            <a:ext cx="0" cy="402336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8" name="TextBox 907"/>
          <p:cNvSpPr txBox="1"/>
          <p:nvPr/>
        </p:nvSpPr>
        <p:spPr>
          <a:xfrm>
            <a:off x="841248" y="2377440"/>
            <a:ext cx="3383280" cy="365760"/>
          </a:xfrm>
          <a:prstGeom prst="rect">
            <a:avLst/>
          </a:prstGeom>
          <a:noFill/>
        </p:spPr>
        <p:txBody>
          <a:bodyPr wrap="square" lIns="0" rIns="0" tIns="0" bIns="0" anchor="t">
            <a:spAutoFit/>
          </a:bodyPr>
          <a:lstStyle/>
          <a:p>
            <a:pPr algn="l">
              <a:spcAft>
                <a:spcPts val="600"/>
              </a:spcAft>
            </a:pPr>
            <a:r>
              <a:rPr sz="1400" b="0" i="0">
                <a:solidFill>
                  <a:srgbClr val="63737B"/>
                </a:solidFill>
              </a:rPr>
              <a:t>Apertus extracts the needs</a:t>
            </a:r>
          </a:p>
        </p:txBody>
      </p:sp>
      <p:sp>
        <p:nvSpPr>
          <p:cNvPr id="909" name="Rectangle 908"/>
          <p:cNvSpPr/>
          <p:nvPr/>
        </p:nvSpPr>
        <p:spPr>
          <a:xfrm>
            <a:off x="841248" y="2834640"/>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0" name="TextBox 909"/>
          <p:cNvSpPr txBox="1"/>
          <p:nvPr/>
        </p:nvSpPr>
        <p:spPr>
          <a:xfrm>
            <a:off x="978408" y="2834640"/>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Clinical study partner: metabolism in women</a:t>
            </a:r>
          </a:p>
        </p:txBody>
      </p:sp>
      <p:sp>
        <p:nvSpPr>
          <p:cNvPr id="911" name="Rectangle 910"/>
          <p:cNvSpPr/>
          <p:nvPr/>
        </p:nvSpPr>
        <p:spPr>
          <a:xfrm>
            <a:off x="841248" y="3547872"/>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978408" y="3547872"/>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R&amp;D partner: wearable biosensing</a:t>
            </a:r>
          </a:p>
        </p:txBody>
      </p:sp>
      <p:sp>
        <p:nvSpPr>
          <p:cNvPr id="913" name="Rectangle 912"/>
          <p:cNvSpPr/>
          <p:nvPr/>
        </p:nvSpPr>
        <p:spPr>
          <a:xfrm>
            <a:off x="841248" y="4261104"/>
            <a:ext cx="3383280" cy="603504"/>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4" name="TextBox 913"/>
          <p:cNvSpPr txBox="1"/>
          <p:nvPr/>
        </p:nvSpPr>
        <p:spPr>
          <a:xfrm>
            <a:off x="978408" y="4261104"/>
            <a:ext cx="3154680" cy="603504"/>
          </a:xfrm>
          <a:prstGeom prst="rect">
            <a:avLst/>
          </a:prstGeom>
          <a:noFill/>
        </p:spPr>
        <p:txBody>
          <a:bodyPr wrap="square" lIns="0" rIns="0" tIns="0" bIns="0" anchor="ctr">
            <a:spAutoFit/>
          </a:bodyPr>
          <a:lstStyle/>
          <a:p>
            <a:pPr algn="l">
              <a:spcAft>
                <a:spcPts val="600"/>
              </a:spcAft>
            </a:pPr>
            <a:r>
              <a:rPr sz="1400" b="0" i="0">
                <a:solidFill>
                  <a:srgbClr val="000000"/>
                </a:solidFill>
              </a:rPr>
              <a:t>Infrastructure: clinical trial support</a:t>
            </a:r>
          </a:p>
        </p:txBody>
      </p:sp>
      <p:sp>
        <p:nvSpPr>
          <p:cNvPr id="915" name="TextBox 914"/>
          <p:cNvSpPr txBox="1"/>
          <p:nvPr/>
        </p:nvSpPr>
        <p:spPr>
          <a:xfrm>
            <a:off x="841248" y="5029200"/>
            <a:ext cx="3383280" cy="731520"/>
          </a:xfrm>
          <a:prstGeom prst="rect">
            <a:avLst/>
          </a:prstGeom>
          <a:noFill/>
        </p:spPr>
        <p:txBody>
          <a:bodyPr wrap="square" lIns="0" rIns="0" tIns="0" bIns="0" anchor="t">
            <a:spAutoFit/>
          </a:bodyPr>
          <a:lstStyle/>
          <a:p>
            <a:pPr algn="l">
              <a:spcAft>
                <a:spcPts val="600"/>
              </a:spcAft>
            </a:pPr>
            <a:r>
              <a:rPr sz="1200" b="0" i="0">
                <a:solidFill>
                  <a:srgbClr val="63737B"/>
                </a:solidFill>
              </a:rPr>
              <a:t>Officer can edit or delete each need before searching</a:t>
            </a:r>
          </a:p>
        </p:txBody>
      </p:sp>
      <p:sp>
        <p:nvSpPr>
          <p:cNvPr id="916" name="TextBox 915"/>
          <p:cNvSpPr txBox="1"/>
          <p:nvPr/>
        </p:nvSpPr>
        <p:spPr>
          <a:xfrm>
            <a:off x="4572000" y="2377440"/>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Diabetes Center Berne · TIMES study</a:t>
            </a:r>
          </a:p>
          <a:p>
            <a:pPr algn="l">
              <a:spcAft>
                <a:spcPts val="200"/>
              </a:spcAft>
            </a:pPr>
            <a:r>
              <a:rPr sz="1300" b="0" i="0">
                <a:solidFill>
                  <a:srgbClr val="63737B"/>
                </a:solidFill>
              </a:rPr>
              <a:t>Type 1 diabetes across the menstrual cycle</a:t>
            </a:r>
          </a:p>
        </p:txBody>
      </p:sp>
      <p:sp>
        <p:nvSpPr>
          <p:cNvPr id="917" name="Rectangle 916"/>
          <p:cNvSpPr/>
          <p:nvPr/>
        </p:nvSpPr>
        <p:spPr>
          <a:xfrm>
            <a:off x="4572000" y="32461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[1] dcberne.com</a:t>
            </a:r>
          </a:p>
        </p:txBody>
      </p:sp>
      <p:sp>
        <p:nvSpPr>
          <p:cNvPr id="918" name="Rectangle 917"/>
          <p:cNvSpPr/>
          <p:nvPr/>
        </p:nvSpPr>
        <p:spPr>
          <a:xfrm>
            <a:off x="6263640" y="32461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19" name="Rectangle 918"/>
          <p:cNvSpPr/>
          <p:nvPr/>
        </p:nvSpPr>
        <p:spPr>
          <a:xfrm>
            <a:off x="7132320" y="32461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sp>
        <p:nvSpPr>
          <p:cNvPr id="920" name="TextBox 919"/>
          <p:cNvSpPr txBox="1"/>
          <p:nvPr/>
        </p:nvSpPr>
        <p:spPr>
          <a:xfrm>
            <a:off x="4572000" y="3749039"/>
            <a:ext cx="3429000" cy="914400"/>
          </a:xfrm>
          <a:prstGeom prst="rect">
            <a:avLst/>
          </a:prstGeom>
          <a:noFill/>
        </p:spPr>
        <p:txBody>
          <a:bodyPr wrap="square" lIns="0" rIns="0" tIns="0" bIns="0" anchor="t">
            <a:spAutoFit/>
          </a:bodyPr>
          <a:lstStyle/>
          <a:p>
            <a:pPr algn="l">
              <a:spcAft>
                <a:spcPts val="200"/>
              </a:spcAft>
            </a:pPr>
            <a:r>
              <a:rPr sz="1500" b="1" i="0">
                <a:solidFill>
                  <a:srgbClr val="000000"/>
                </a:solidFill>
              </a:rPr>
              <a:t>Prof. Dr. Lilian Witthauer</a:t>
            </a:r>
          </a:p>
          <a:p>
            <a:pPr algn="l">
              <a:spcAft>
                <a:spcPts val="200"/>
              </a:spcAft>
            </a:pPr>
            <a:r>
              <a:rPr sz="1300" b="0" i="0">
                <a:solidFill>
                  <a:srgbClr val="63737B"/>
                </a:solidFill>
              </a:rPr>
              <a:t>Diabetes, Machine Learning &amp; Sensor Technology</a:t>
            </a:r>
          </a:p>
        </p:txBody>
      </p:sp>
      <p:sp>
        <p:nvSpPr>
          <p:cNvPr id="921" name="Rectangle 920"/>
          <p:cNvSpPr/>
          <p:nvPr/>
        </p:nvSpPr>
        <p:spPr>
          <a:xfrm>
            <a:off x="4572000" y="4617720"/>
            <a:ext cx="160020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[2] artorg.unibe.ch</a:t>
            </a:r>
          </a:p>
        </p:txBody>
      </p:sp>
      <p:sp>
        <p:nvSpPr>
          <p:cNvPr id="922" name="Rectangle 921"/>
          <p:cNvSpPr/>
          <p:nvPr/>
        </p:nvSpPr>
        <p:spPr>
          <a:xfrm>
            <a:off x="6263640" y="4617720"/>
            <a:ext cx="77724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FFFFFF"/>
                </a:solidFill>
              </a:rPr>
              <a:t>Accept</a:t>
            </a:r>
          </a:p>
        </p:txBody>
      </p:sp>
      <p:sp>
        <p:nvSpPr>
          <p:cNvPr id="923" name="Rectangle 922"/>
          <p:cNvSpPr/>
          <p:nvPr/>
        </p:nvSpPr>
        <p:spPr>
          <a:xfrm>
            <a:off x="7132320" y="4617720"/>
            <a:ext cx="777240" cy="310896"/>
          </a:xfrm>
          <a:prstGeom prst="rect">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000">
                <a:solidFill>
                  <a:srgbClr val="000000"/>
                </a:solidFill>
              </a:rPr>
              <a:t>Reject</a:t>
            </a:r>
          </a:p>
        </p:txBody>
      </p:sp>
      <p:pic>
        <p:nvPicPr>
          <p:cNvPr id="924" name="Picture 923" descr="pot-full.png"/>
          <p:cNvPicPr>
            <a:picLocks noChangeAspect="1"/>
          </p:cNvPicPr>
          <p:nvPr/>
        </p:nvPicPr>
        <p:blipFill>
          <a:blip r:embed="rId2"/>
          <a:stretch>
            <a:fillRect/>
          </a:stretch>
        </p:blipFill>
        <p:spPr>
          <a:xfrm>
            <a:off x="4572000" y="5166360"/>
            <a:ext cx="553065" cy="685800"/>
          </a:xfrm>
          <a:prstGeom prst="rect">
            <a:avLst/>
          </a:prstGeom>
        </p:spPr>
      </p:pic>
      <p:sp>
        <p:nvSpPr>
          <p:cNvPr id="925" name="TextBox 924"/>
          <p:cNvSpPr txBox="1"/>
          <p:nvPr/>
        </p:nvSpPr>
        <p:spPr>
          <a:xfrm>
            <a:off x="5166360" y="5212080"/>
            <a:ext cx="2834640" cy="685800"/>
          </a:xfrm>
          <a:prstGeom prst="rect">
            <a:avLst/>
          </a:prstGeom>
          <a:noFill/>
        </p:spPr>
        <p:txBody>
          <a:bodyPr wrap="square" lIns="0" rIns="0" tIns="0" bIns="0" anchor="ctr">
            <a:spAutoFit/>
          </a:bodyPr>
          <a:lstStyle/>
          <a:p>
            <a:pPr algn="l">
              <a:spcAft>
                <a:spcPts val="600"/>
              </a:spcAft>
            </a:pPr>
            <a:r>
              <a:rPr sz="1200" b="0" i="0">
                <a:solidFill>
                  <a:srgbClr val="63737B"/>
                </a:solidFill>
              </a:rPr>
              <a:t>Coverage: strong, several independent pages</a:t>
            </a:r>
          </a:p>
        </p:txBody>
      </p:sp>
      <p:sp>
        <p:nvSpPr>
          <p:cNvPr id="926" name="A4 teaser preview"/>
          <p:cNvSpPr/>
          <p:nvPr/>
        </p:nvSpPr>
        <p:spPr>
          <a:xfrm>
            <a:off x="8302752" y="2377440"/>
            <a:ext cx="2148840" cy="3017520"/>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27" name="Connector 926"/>
          <p:cNvCxnSpPr/>
          <p:nvPr/>
        </p:nvCxnSpPr>
        <p:spPr>
          <a:xfrm>
            <a:off x="9377172" y="2514600"/>
            <a:ext cx="0" cy="2743200"/>
          </a:xfrm>
          <a:prstGeom prst="line">
            <a:avLst/>
          </a:prstGeom>
          <a:ln w="9525">
            <a:solidFill>
              <a:srgbClr val="EA161F"/>
            </a:solidFill>
          </a:ln>
        </p:spPr>
        <p:style>
          <a:lnRef idx="2">
            <a:schemeClr val="accent1"/>
          </a:lnRef>
          <a:fillRef idx="0">
            <a:schemeClr val="accent1"/>
          </a:fillRef>
          <a:effectRef idx="1">
            <a:schemeClr val="accent1"/>
          </a:effectRef>
          <a:fontRef idx="minor">
            <a:schemeClr val="tx1"/>
          </a:fontRef>
        </p:style>
      </p:cxnSp>
      <p:cxnSp>
        <p:nvCxnSpPr>
          <p:cNvPr id="928" name="Connector 927"/>
          <p:cNvCxnSpPr/>
          <p:nvPr/>
        </p:nvCxnSpPr>
        <p:spPr>
          <a:xfrm>
            <a:off x="8458200" y="27432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29" name="Connector 928"/>
          <p:cNvCxnSpPr/>
          <p:nvPr/>
        </p:nvCxnSpPr>
        <p:spPr>
          <a:xfrm>
            <a:off x="9509760" y="27432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0" name="Connector 929"/>
          <p:cNvCxnSpPr/>
          <p:nvPr/>
        </p:nvCxnSpPr>
        <p:spPr>
          <a:xfrm>
            <a:off x="8458200" y="32004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1" name="Connector 930"/>
          <p:cNvCxnSpPr/>
          <p:nvPr/>
        </p:nvCxnSpPr>
        <p:spPr>
          <a:xfrm>
            <a:off x="9509760" y="32004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2" name="Connector 931"/>
          <p:cNvCxnSpPr/>
          <p:nvPr/>
        </p:nvCxnSpPr>
        <p:spPr>
          <a:xfrm>
            <a:off x="8458200" y="36576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3" name="Connector 932"/>
          <p:cNvCxnSpPr/>
          <p:nvPr/>
        </p:nvCxnSpPr>
        <p:spPr>
          <a:xfrm>
            <a:off x="9509760" y="36576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4" name="Connector 933"/>
          <p:cNvCxnSpPr/>
          <p:nvPr/>
        </p:nvCxnSpPr>
        <p:spPr>
          <a:xfrm>
            <a:off x="8458200" y="41148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5" name="Connector 934"/>
          <p:cNvCxnSpPr/>
          <p:nvPr/>
        </p:nvCxnSpPr>
        <p:spPr>
          <a:xfrm>
            <a:off x="9509760" y="41148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cxnSp>
        <p:nvCxnSpPr>
          <p:cNvPr id="936" name="Connector 935"/>
          <p:cNvCxnSpPr/>
          <p:nvPr/>
        </p:nvCxnSpPr>
        <p:spPr>
          <a:xfrm>
            <a:off x="8458200" y="4572000"/>
            <a:ext cx="77724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cxnSp>
        <p:nvCxnSpPr>
          <p:cNvPr id="937" name="Connector 936"/>
          <p:cNvCxnSpPr/>
          <p:nvPr/>
        </p:nvCxnSpPr>
        <p:spPr>
          <a:xfrm>
            <a:off x="9509760" y="4572000"/>
            <a:ext cx="822960" cy="0"/>
          </a:xfrm>
          <a:prstGeom prst="line">
            <a:avLst/>
          </a:prstGeom>
          <a:ln w="25400">
            <a:solidFill>
              <a:srgbClr val="B1B9BD"/>
            </a:solidFill>
          </a:ln>
        </p:spPr>
        <p:style>
          <a:lnRef idx="2">
            <a:schemeClr val="accent1"/>
          </a:lnRef>
          <a:fillRef idx="0">
            <a:schemeClr val="accent1"/>
          </a:fillRef>
          <a:effectRef idx="1">
            <a:schemeClr val="accent1"/>
          </a:effectRef>
          <a:fontRef idx="minor">
            <a:schemeClr val="tx1"/>
          </a:fontRef>
        </p:style>
      </p:cxnSp>
      <p:sp>
        <p:nvSpPr>
          <p:cNvPr id="938" name="TextBox 937"/>
          <p:cNvSpPr txBox="1"/>
          <p:nvPr/>
        </p:nvSpPr>
        <p:spPr>
          <a:xfrm>
            <a:off x="10607040" y="2377440"/>
            <a:ext cx="1234440" cy="2103120"/>
          </a:xfrm>
          <a:prstGeom prst="rect">
            <a:avLst/>
          </a:prstGeom>
          <a:noFill/>
        </p:spPr>
        <p:txBody>
          <a:bodyPr wrap="square" lIns="0" rIns="0" tIns="0" bIns="0" anchor="t">
            <a:spAutoFit/>
          </a:bodyPr>
          <a:lstStyle/>
          <a:p>
            <a:pPr algn="l">
              <a:spcAft>
                <a:spcPts val="600"/>
              </a:spcAft>
            </a:pPr>
            <a:r>
              <a:rPr sz="1200" b="0" i="0">
                <a:solidFill>
                  <a:srgbClr val="63737B"/>
                </a:solidFill>
              </a:rPr>
              <a:t>CEO teaser, every claim numbered and linked</a:t>
            </a:r>
          </a:p>
        </p:txBody>
      </p:sp>
      <p:sp>
        <p:nvSpPr>
          <p:cNvPr id="939" name="Rectangle 938"/>
          <p:cNvSpPr/>
          <p:nvPr/>
        </p:nvSpPr>
        <p:spPr>
          <a:xfrm>
            <a:off x="8302752" y="5532120"/>
            <a:ext cx="128016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Export PDF</a:t>
            </a:r>
          </a:p>
        </p:txBody>
      </p:sp>
      <p:sp>
        <p:nvSpPr>
          <p:cNvPr id="940" name="TextBox 939"/>
          <p:cNvSpPr txBox="1"/>
          <p:nvPr/>
        </p:nvSpPr>
        <p:spPr>
          <a:xfrm>
            <a:off x="841248" y="5989320"/>
            <a:ext cx="10972800" cy="365760"/>
          </a:xfrm>
          <a:prstGeom prst="rect">
            <a:avLst/>
          </a:prstGeom>
          <a:noFill/>
        </p:spPr>
        <p:txBody>
          <a:bodyPr wrap="square" lIns="0" rIns="0" tIns="0" bIns="0" anchor="t">
            <a:spAutoFit/>
          </a:bodyPr>
          <a:lstStyle/>
          <a:p>
            <a:pPr algn="l">
              <a:spcAft>
                <a:spcPts val="600"/>
              </a:spcAft>
            </a:pPr>
            <a:r>
              <a:rPr sz="1400" b="1" i="0">
                <a:solidFill>
                  <a:srgbClr val="000000"/>
                </a:solidFill>
              </a:rPr>
              <a:t>Click any reason → </a:t>
            </a:r>
            <a:r>
              <a:rPr sz="1400" b="0" i="0">
                <a:solidFill>
                  <a:srgbClr val="000000"/>
                </a:solidFill>
              </a:rPr>
              <a:t>the source page opens at the exact sentence, highlighted</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 measured it on questions we never tuned on</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12</a:t>
            </a:fld>
            <a:endParaRPr lang="de-CH" dirty="0"/>
          </a:p>
        </p:txBody>
      </p:sp>
      <p:sp>
        <p:nvSpPr>
          <p:cNvPr id="903" name="TextBox 902"/>
          <p:cNvSpPr txBox="1"/>
          <p:nvPr/>
        </p:nvSpPr>
        <p:spPr>
          <a:xfrm>
            <a:off x="84124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4" name="TextBox 903"/>
          <p:cNvSpPr txBox="1"/>
          <p:nvPr/>
        </p:nvSpPr>
        <p:spPr>
          <a:xfrm>
            <a:off x="84124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of held-out questions have the right expert in the top 10</a:t>
            </a:r>
          </a:p>
        </p:txBody>
      </p:sp>
      <p:cxnSp>
        <p:nvCxnSpPr>
          <p:cNvPr id="905" name="Connector 904"/>
          <p:cNvCxnSpPr/>
          <p:nvPr/>
        </p:nvCxnSpPr>
        <p:spPr>
          <a:xfrm>
            <a:off x="344728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6" name="TextBox 905"/>
          <p:cNvSpPr txBox="1"/>
          <p:nvPr/>
        </p:nvSpPr>
        <p:spPr>
          <a:xfrm>
            <a:off x="3630168"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07" name="TextBox 906"/>
          <p:cNvSpPr txBox="1"/>
          <p:nvPr/>
        </p:nvSpPr>
        <p:spPr>
          <a:xfrm>
            <a:off x="363016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overlap between lay words and expert jargon results</a:t>
            </a:r>
          </a:p>
        </p:txBody>
      </p:sp>
      <p:cxnSp>
        <p:nvCxnSpPr>
          <p:cNvPr id="908" name="Connector 907"/>
          <p:cNvCxnSpPr/>
          <p:nvPr/>
        </p:nvCxnSpPr>
        <p:spPr>
          <a:xfrm>
            <a:off x="6236207"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9" name="TextBox 908"/>
          <p:cNvSpPr txBox="1"/>
          <p:nvPr/>
        </p:nvSpPr>
        <p:spPr>
          <a:xfrm>
            <a:off x="6419088" y="1874519"/>
            <a:ext cx="2560320" cy="1005840"/>
          </a:xfrm>
          <a:prstGeom prst="rect">
            <a:avLst/>
          </a:prstGeom>
          <a:noFill/>
        </p:spPr>
        <p:txBody>
          <a:bodyPr wrap="square" lIns="0" rIns="0" tIns="0" bIns="0" anchor="t">
            <a:spAutoFit/>
          </a:bodyPr>
          <a:lstStyle/>
          <a:p>
            <a:pPr algn="l">
              <a:spcAft>
                <a:spcPts val="600"/>
              </a:spcAft>
            </a:pPr>
            <a:r>
              <a:rPr sz="4400" b="1" i="0">
                <a:solidFill>
                  <a:srgbClr val="EA161F"/>
                </a:solidFill>
              </a:rPr>
              <a:t>0 / [N]</a:t>
            </a:r>
          </a:p>
        </p:txBody>
      </p:sp>
      <p:sp>
        <p:nvSpPr>
          <p:cNvPr id="910" name="TextBox 909"/>
          <p:cNvSpPr txBox="1"/>
          <p:nvPr/>
        </p:nvSpPr>
        <p:spPr>
          <a:xfrm>
            <a:off x="6419088"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facts without a verified quote on the source page</a:t>
            </a:r>
          </a:p>
        </p:txBody>
      </p:sp>
      <p:cxnSp>
        <p:nvCxnSpPr>
          <p:cNvPr id="911" name="Connector 910"/>
          <p:cNvCxnSpPr/>
          <p:nvPr/>
        </p:nvCxnSpPr>
        <p:spPr>
          <a:xfrm>
            <a:off x="9025128" y="1920240"/>
            <a:ext cx="0" cy="23774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208007" y="1874519"/>
            <a:ext cx="2560320" cy="1005840"/>
          </a:xfrm>
          <a:prstGeom prst="rect">
            <a:avLst/>
          </a:prstGeom>
          <a:noFill/>
        </p:spPr>
        <p:txBody>
          <a:bodyPr wrap="square" lIns="0" rIns="0" tIns="0" bIns="0" anchor="t">
            <a:spAutoFit/>
          </a:bodyPr>
          <a:lstStyle/>
          <a:p>
            <a:pPr algn="l">
              <a:spcAft>
                <a:spcPts val="600"/>
              </a:spcAft>
            </a:pPr>
            <a:r>
              <a:rPr sz="4400" b="1" i="0">
                <a:solidFill>
                  <a:srgbClr val="000000"/>
                </a:solidFill>
              </a:rPr>
              <a:t>[XX]%</a:t>
            </a:r>
          </a:p>
        </p:txBody>
      </p:sp>
      <p:sp>
        <p:nvSpPr>
          <p:cNvPr id="913" name="TextBox 912"/>
          <p:cNvSpPr txBox="1"/>
          <p:nvPr/>
        </p:nvSpPr>
        <p:spPr>
          <a:xfrm>
            <a:off x="9208007" y="2971800"/>
            <a:ext cx="2514600" cy="1371600"/>
          </a:xfrm>
          <a:prstGeom prst="rect">
            <a:avLst/>
          </a:prstGeom>
          <a:noFill/>
        </p:spPr>
        <p:txBody>
          <a:bodyPr wrap="square" lIns="0" rIns="0" tIns="0" bIns="0" anchor="t">
            <a:spAutoFit/>
          </a:bodyPr>
          <a:lstStyle/>
          <a:p>
            <a:pPr algn="l">
              <a:spcAft>
                <a:spcPts val="600"/>
              </a:spcAft>
            </a:pPr>
            <a:r>
              <a:rPr sz="1400" b="0" i="0">
                <a:solidFill>
                  <a:srgbClr val="000000"/>
                </a:solidFill>
              </a:rPr>
              <a:t>our weakest category: [name]. We show it.</a:t>
            </a:r>
          </a:p>
        </p:txBody>
      </p:sp>
      <p:cxnSp>
        <p:nvCxnSpPr>
          <p:cNvPr id="914" name="Connector 913"/>
          <p:cNvCxnSpPr/>
          <p:nvPr/>
        </p:nvCxnSpPr>
        <p:spPr>
          <a:xfrm>
            <a:off x="841248" y="4617720"/>
            <a:ext cx="1097280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5" name="TextBox 914"/>
          <p:cNvSpPr txBox="1"/>
          <p:nvPr/>
        </p:nvSpPr>
        <p:spPr>
          <a:xfrm>
            <a:off x="841248" y="4800600"/>
            <a:ext cx="6949440" cy="1463040"/>
          </a:xfrm>
          <a:prstGeom prst="rect">
            <a:avLst/>
          </a:prstGeom>
          <a:noFill/>
        </p:spPr>
        <p:txBody>
          <a:bodyPr wrap="square" lIns="0" rIns="0" tIns="0" bIns="0" anchor="t">
            <a:spAutoFit/>
          </a:bodyPr>
          <a:lstStyle/>
          <a:p>
            <a:pPr algn="l">
              <a:spcAft>
                <a:spcPts val="600"/>
              </a:spcAft>
            </a:pPr>
            <a:r>
              <a:rPr sz="1300" b="1" i="0">
                <a:solidFill>
                  <a:srgbClr val="63737B"/>
                </a:solidFill>
              </a:rPr>
              <a:t>How: </a:t>
            </a:r>
            <a:r>
              <a:rPr sz="1300" b="0" i="0">
                <a:solidFill>
                  <a:srgbClr val="63737B"/>
                </a:solidFill>
              </a:rPr>
              <a:t>[N] hand-written + [N] synthetic test cases, split into tune and held-out sets. Hybrid search (BM25 + BGE-M3, fused with RRF), cross-encoder rerank, every extracted fact checked against the page text.</a:t>
            </a:r>
          </a:p>
        </p:txBody>
      </p:sp>
      <p:sp>
        <p:nvSpPr>
          <p:cNvPr id="916" name="Rectangle 915"/>
          <p:cNvSpPr/>
          <p:nvPr/>
        </p:nvSpPr>
        <p:spPr>
          <a:xfrm>
            <a:off x="8138160" y="4800600"/>
            <a:ext cx="3657600" cy="1051560"/>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7" name="TextBox 916"/>
          <p:cNvSpPr txBox="1"/>
          <p:nvPr/>
        </p:nvSpPr>
        <p:spPr>
          <a:xfrm>
            <a:off x="8321040" y="4800600"/>
            <a:ext cx="3291840" cy="1051560"/>
          </a:xfrm>
          <a:prstGeom prst="rect">
            <a:avLst/>
          </a:prstGeom>
          <a:noFill/>
        </p:spPr>
        <p:txBody>
          <a:bodyPr wrap="square" lIns="0" rIns="0" tIns="0" bIns="0" anchor="ctr">
            <a:spAutoFit/>
          </a:bodyPr>
          <a:lstStyle/>
          <a:p>
            <a:pPr algn="l">
              <a:spcAft>
                <a:spcPts val="600"/>
              </a:spcAft>
            </a:pPr>
            <a:r>
              <a:rPr sz="1800" b="1" i="0">
                <a:solidFill>
                  <a:srgbClr val="FFFFFF"/>
                </a:solidFill>
              </a:rPr>
              <a:t>Judges: type your own question</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one-pager never leaves Switzerland</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13</a:t>
            </a:fld>
            <a:endParaRPr lang="de-CH" dirty="0"/>
          </a:p>
        </p:txBody>
      </p:sp>
      <p:sp>
        <p:nvSpPr>
          <p:cNvPr id="903" name="Rectangle 902"/>
          <p:cNvSpPr/>
          <p:nvPr/>
        </p:nvSpPr>
        <p:spPr>
          <a:xfrm>
            <a:off x="841248" y="1920240"/>
            <a:ext cx="3291840" cy="14630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2011680"/>
            <a:ext cx="2926080" cy="1280160"/>
          </a:xfrm>
          <a:prstGeom prst="rect">
            <a:avLst/>
          </a:prstGeom>
          <a:noFill/>
        </p:spPr>
        <p:txBody>
          <a:bodyPr wrap="square" lIns="0" rIns="0" tIns="0" bIns="0" anchor="ctr">
            <a:spAutoFit/>
          </a:bodyPr>
          <a:lstStyle/>
          <a:p>
            <a:pPr algn="l">
              <a:spcAft>
                <a:spcPts val="400"/>
              </a:spcAft>
            </a:pPr>
            <a:r>
              <a:rPr sz="1800" b="1" i="0">
                <a:solidFill>
                  <a:srgbClr val="FFFFFF"/>
                </a:solidFill>
              </a:rPr>
              <a:t>Confidential</a:t>
            </a:r>
          </a:p>
          <a:p>
            <a:pPr algn="l">
              <a:spcAft>
                <a:spcPts val="400"/>
              </a:spcAft>
            </a:pPr>
            <a:r>
              <a:rPr sz="1400" b="0" i="0">
                <a:solidFill>
                  <a:srgbClr val="FFFFFF"/>
                </a:solidFill>
              </a:rPr>
              <a:t>Company one-pager, officer notes</a:t>
            </a:r>
          </a:p>
        </p:txBody>
      </p:sp>
      <p:sp>
        <p:nvSpPr>
          <p:cNvPr id="905" name="TextBox 904"/>
          <p:cNvSpPr txBox="1"/>
          <p:nvPr/>
        </p:nvSpPr>
        <p:spPr>
          <a:xfrm>
            <a:off x="4206240" y="1920240"/>
            <a:ext cx="822960" cy="1463040"/>
          </a:xfrm>
          <a:prstGeom prst="rect">
            <a:avLst/>
          </a:prstGeom>
          <a:noFill/>
        </p:spPr>
        <p:txBody>
          <a:bodyPr wrap="square" lIns="0" rIns="0" tIns="0" bIns="0" anchor="ctr">
            <a:spAutoFit/>
          </a:bodyPr>
          <a:lstStyle/>
          <a:p>
            <a:pPr algn="ctr">
              <a:spcAft>
                <a:spcPts val="600"/>
              </a:spcAft>
            </a:pPr>
            <a:r>
              <a:rPr sz="3600" b="0" i="0">
                <a:solidFill>
                  <a:srgbClr val="EA161F"/>
                </a:solidFill>
              </a:rPr>
              <a:t>→</a:t>
            </a:r>
          </a:p>
        </p:txBody>
      </p:sp>
      <p:sp>
        <p:nvSpPr>
          <p:cNvPr id="906" name="Rectangle 905"/>
          <p:cNvSpPr/>
          <p:nvPr/>
        </p:nvSpPr>
        <p:spPr>
          <a:xfrm>
            <a:off x="5074920" y="1920240"/>
            <a:ext cx="3566160" cy="1463040"/>
          </a:xfrm>
          <a:prstGeom prst="rect">
            <a:avLst/>
          </a:prstGeom>
          <a:noFill/>
          <a:ln w="31750">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5257800" y="2011680"/>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Apertus v1.5 on CSCS</a:t>
            </a:r>
          </a:p>
          <a:p>
            <a:pPr algn="l">
              <a:spcAft>
                <a:spcPts val="400"/>
              </a:spcAft>
            </a:pPr>
            <a:r>
              <a:rPr sz="1400" b="0" i="0">
                <a:solidFill>
                  <a:srgbClr val="63737B"/>
                </a:solidFill>
              </a:rPr>
              <a:t>Swiss open model, Swiss supercomputing centre</a:t>
            </a:r>
          </a:p>
        </p:txBody>
      </p:sp>
      <p:sp>
        <p:nvSpPr>
          <p:cNvPr id="908" name="Rectangle 907"/>
          <p:cNvSpPr/>
          <p:nvPr/>
        </p:nvSpPr>
        <p:spPr>
          <a:xfrm>
            <a:off x="841248" y="3657600"/>
            <a:ext cx="3291840" cy="146304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1024128" y="3749039"/>
            <a:ext cx="2926080" cy="1280160"/>
          </a:xfrm>
          <a:prstGeom prst="rect">
            <a:avLst/>
          </a:prstGeom>
          <a:noFill/>
        </p:spPr>
        <p:txBody>
          <a:bodyPr wrap="square" lIns="0" rIns="0" tIns="0" bIns="0" anchor="ctr">
            <a:spAutoFit/>
          </a:bodyPr>
          <a:lstStyle/>
          <a:p>
            <a:pPr algn="l">
              <a:spcAft>
                <a:spcPts val="400"/>
              </a:spcAft>
            </a:pPr>
            <a:r>
              <a:rPr sz="1800" b="1" i="0">
                <a:solidFill>
                  <a:srgbClr val="000000"/>
                </a:solidFill>
              </a:rPr>
              <a:t>Public web text only</a:t>
            </a:r>
          </a:p>
          <a:p>
            <a:pPr algn="l">
              <a:spcAft>
                <a:spcPts val="400"/>
              </a:spcAft>
            </a:pPr>
            <a:r>
              <a:rPr sz="1400" b="0" i="0">
                <a:solidFill>
                  <a:srgbClr val="63737B"/>
                </a:solidFill>
              </a:rPr>
              <a:t>unibe.ch, ARTORG, Diabetes Center Berne</a:t>
            </a:r>
          </a:p>
        </p:txBody>
      </p:sp>
      <p:sp>
        <p:nvSpPr>
          <p:cNvPr id="910" name="TextBox 909"/>
          <p:cNvSpPr txBox="1"/>
          <p:nvPr/>
        </p:nvSpPr>
        <p:spPr>
          <a:xfrm>
            <a:off x="4206240" y="3657600"/>
            <a:ext cx="822960" cy="1463040"/>
          </a:xfrm>
          <a:prstGeom prst="rect">
            <a:avLst/>
          </a:prstGeom>
          <a:noFill/>
        </p:spPr>
        <p:txBody>
          <a:bodyPr wrap="square" lIns="0" rIns="0" tIns="0" bIns="0" anchor="ctr">
            <a:spAutoFit/>
          </a:bodyPr>
          <a:lstStyle/>
          <a:p>
            <a:pPr algn="ctr">
              <a:spcAft>
                <a:spcPts val="600"/>
              </a:spcAft>
            </a:pPr>
            <a:r>
              <a:rPr sz="3600" b="0" i="0">
                <a:solidFill>
                  <a:srgbClr val="63737B"/>
                </a:solidFill>
              </a:rPr>
              <a:t>→</a:t>
            </a:r>
          </a:p>
        </p:txBody>
      </p:sp>
      <p:sp>
        <p:nvSpPr>
          <p:cNvPr id="911" name="Rectangle 910"/>
          <p:cNvSpPr/>
          <p:nvPr/>
        </p:nvSpPr>
        <p:spPr>
          <a:xfrm>
            <a:off x="5074920" y="3657600"/>
            <a:ext cx="3566160" cy="1463040"/>
          </a:xfrm>
          <a:prstGeom prst="rect">
            <a:avLst/>
          </a:prstGeom>
          <a:noFill/>
          <a:ln w="19050">
            <a:solidFill>
              <a:srgbClr val="B1B9B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2" name="TextBox 911"/>
          <p:cNvSpPr txBox="1"/>
          <p:nvPr/>
        </p:nvSpPr>
        <p:spPr>
          <a:xfrm>
            <a:off x="5257800" y="3749039"/>
            <a:ext cx="3200400" cy="1280160"/>
          </a:xfrm>
          <a:prstGeom prst="rect">
            <a:avLst/>
          </a:prstGeom>
          <a:noFill/>
        </p:spPr>
        <p:txBody>
          <a:bodyPr wrap="square" lIns="0" rIns="0" tIns="0" bIns="0" anchor="ctr">
            <a:spAutoFit/>
          </a:bodyPr>
          <a:lstStyle/>
          <a:p>
            <a:pPr algn="l">
              <a:spcAft>
                <a:spcPts val="400"/>
              </a:spcAft>
            </a:pPr>
            <a:r>
              <a:rPr sz="1800" b="1" i="0">
                <a:solidFill>
                  <a:srgbClr val="000000"/>
                </a:solidFill>
              </a:rPr>
              <a:t>Partner models</a:t>
            </a:r>
          </a:p>
          <a:p>
            <a:pPr algn="l">
              <a:spcAft>
                <a:spcPts val="400"/>
              </a:spcAft>
            </a:pPr>
            <a:r>
              <a:rPr sz="1400" b="0" i="0">
                <a:solidFill>
                  <a:srgbClr val="63737B"/>
                </a:solidFill>
              </a:rPr>
              <a:t>Embeddings, reranker, independent judge</a:t>
            </a:r>
          </a:p>
        </p:txBody>
      </p:sp>
      <p:cxnSp>
        <p:nvCxnSpPr>
          <p:cNvPr id="913" name="Connector 912"/>
          <p:cNvCxnSpPr/>
          <p:nvPr/>
        </p:nvCxnSpPr>
        <p:spPr>
          <a:xfrm>
            <a:off x="905256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372600" y="1920240"/>
            <a:ext cx="2468880" cy="365760"/>
          </a:xfrm>
          <a:prstGeom prst="rect">
            <a:avLst/>
          </a:prstGeom>
          <a:noFill/>
        </p:spPr>
        <p:txBody>
          <a:bodyPr wrap="square" lIns="0" rIns="0" tIns="0" bIns="0" anchor="t">
            <a:spAutoFit/>
          </a:bodyPr>
          <a:lstStyle/>
          <a:p>
            <a:pPr algn="l">
              <a:spcAft>
                <a:spcPts val="600"/>
              </a:spcAft>
            </a:pPr>
            <a:r>
              <a:rPr sz="1600" b="1" i="0">
                <a:solidFill>
                  <a:srgbClr val="000000"/>
                </a:solidFill>
              </a:rPr>
              <a:t>Data rules</a:t>
            </a:r>
          </a:p>
        </p:txBody>
      </p:sp>
      <p:sp>
        <p:nvSpPr>
          <p:cNvPr id="915" name="TextBox 914"/>
          <p:cNvSpPr txBox="1"/>
          <p:nvPr/>
        </p:nvSpPr>
        <p:spPr>
          <a:xfrm>
            <a:off x="9372600" y="2377440"/>
            <a:ext cx="2468880" cy="3200400"/>
          </a:xfrm>
          <a:prstGeom prst="rect">
            <a:avLst/>
          </a:prstGeom>
          <a:noFill/>
        </p:spPr>
        <p:txBody>
          <a:bodyPr wrap="square" lIns="0" rIns="0" tIns="0" bIns="0" anchor="t">
            <a:spAutoFit/>
          </a:bodyPr>
          <a:lstStyle/>
          <a:p>
            <a:pPr algn="l">
              <a:spcAft>
                <a:spcPts val="1200"/>
              </a:spcAft>
            </a:pPr>
            <a:r>
              <a:rPr sz="1400" b="1" i="0">
                <a:solidFill>
                  <a:srgbClr val="EA161F"/>
                </a:solidFill>
              </a:rPr>
              <a:t>✓  </a:t>
            </a:r>
            <a:r>
              <a:rPr sz="1400" b="0" i="0">
                <a:solidFill>
                  <a:srgbClr val="000000"/>
                </a:solidFill>
              </a:rPr>
              <a:t>robots.txt respected</a:t>
            </a:r>
          </a:p>
          <a:p>
            <a:pPr algn="l">
              <a:spcAft>
                <a:spcPts val="1200"/>
              </a:spcAft>
            </a:pPr>
            <a:r>
              <a:rPr sz="1400" b="1" i="0">
                <a:solidFill>
                  <a:srgbClr val="EA161F"/>
                </a:solidFill>
              </a:rPr>
              <a:t>✓  </a:t>
            </a:r>
            <a:r>
              <a:rPr sz="1400" b="0" i="0">
                <a:solidFill>
                  <a:srgbClr val="000000"/>
                </a:solidFill>
              </a:rPr>
              <a:t>Only professional contact data</a:t>
            </a:r>
          </a:p>
          <a:p>
            <a:pPr algn="l">
              <a:spcAft>
                <a:spcPts val="1200"/>
              </a:spcAft>
            </a:pPr>
            <a:r>
              <a:rPr sz="1400" b="1" i="0">
                <a:solidFill>
                  <a:srgbClr val="EA161F"/>
                </a:solidFill>
              </a:rPr>
              <a:t>✓  </a:t>
            </a:r>
            <a:r>
              <a:rPr sz="1400" b="0" i="0">
                <a:solidFill>
                  <a:srgbClr val="000000"/>
                </a:solidFill>
              </a:rPr>
              <a:t>No LinkedIn, no social media</a:t>
            </a:r>
          </a:p>
          <a:p>
            <a:pPr algn="l">
              <a:spcAft>
                <a:spcPts val="1200"/>
              </a:spcAft>
            </a:pPr>
            <a:r>
              <a:rPr sz="1400" b="1" i="0">
                <a:solidFill>
                  <a:srgbClr val="EA161F"/>
                </a:solidFill>
              </a:rPr>
              <a:t>✓  </a:t>
            </a:r>
            <a:r>
              <a:rPr sz="1400" b="0" i="0">
                <a:solidFill>
                  <a:srgbClr val="000000"/>
                </a:solidFill>
              </a:rPr>
              <a:t>Every fact traceable to a public page</a:t>
            </a:r>
          </a:p>
        </p:txBody>
      </p:sp>
      <p:sp>
        <p:nvSpPr>
          <p:cNvPr id="916" name="TextBox 915"/>
          <p:cNvSpPr txBox="1"/>
          <p:nvPr/>
        </p:nvSpPr>
        <p:spPr>
          <a:xfrm>
            <a:off x="841248" y="5440680"/>
            <a:ext cx="7772400" cy="731520"/>
          </a:xfrm>
          <a:prstGeom prst="rect">
            <a:avLst/>
          </a:prstGeom>
          <a:noFill/>
        </p:spPr>
        <p:txBody>
          <a:bodyPr wrap="square" lIns="0" rIns="0" tIns="0" bIns="0" anchor="t">
            <a:spAutoFit/>
          </a:bodyPr>
          <a:lstStyle/>
          <a:p>
            <a:pPr algn="l">
              <a:spcAft>
                <a:spcPts val="600"/>
              </a:spcAft>
            </a:pPr>
            <a:r>
              <a:rPr sz="1400" b="1" i="0">
                <a:solidFill>
                  <a:srgbClr val="000000"/>
                </a:solidFill>
              </a:rPr>
              <a:t>Confidential input only ever goes to Apertus on Swiss infrastructure. That's not a checkbox: it is why this product can exist.</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Bern's research never sits idle</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14</a:t>
            </a:fld>
            <a:endParaRPr lang="de-CH" dirty="0"/>
          </a:p>
        </p:txBody>
      </p:sp>
      <p:sp>
        <p:nvSpPr>
          <p:cNvPr id="903" name="Rectangle 902"/>
          <p:cNvSpPr/>
          <p:nvPr/>
        </p:nvSpPr>
        <p:spPr>
          <a:xfrm>
            <a:off x="84124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New</a:t>
            </a:r>
          </a:p>
        </p:txBody>
      </p:sp>
      <p:sp>
        <p:nvSpPr>
          <p:cNvPr id="904" name="TextBox 903"/>
          <p:cNvSpPr txBox="1"/>
          <p:nvPr/>
        </p:nvSpPr>
        <p:spPr>
          <a:xfrm>
            <a:off x="180136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5" name="Rectangle 904"/>
          <p:cNvSpPr/>
          <p:nvPr/>
        </p:nvSpPr>
        <p:spPr>
          <a:xfrm>
            <a:off x="207568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Triaged</a:t>
            </a:r>
          </a:p>
        </p:txBody>
      </p:sp>
      <p:sp>
        <p:nvSpPr>
          <p:cNvPr id="906" name="TextBox 905"/>
          <p:cNvSpPr txBox="1"/>
          <p:nvPr/>
        </p:nvSpPr>
        <p:spPr>
          <a:xfrm>
            <a:off x="303580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7" name="Rectangle 906"/>
          <p:cNvSpPr/>
          <p:nvPr/>
        </p:nvSpPr>
        <p:spPr>
          <a:xfrm>
            <a:off x="331012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Pitched</a:t>
            </a:r>
          </a:p>
        </p:txBody>
      </p:sp>
      <p:sp>
        <p:nvSpPr>
          <p:cNvPr id="908" name="TextBox 907"/>
          <p:cNvSpPr txBox="1"/>
          <p:nvPr/>
        </p:nvSpPr>
        <p:spPr>
          <a:xfrm>
            <a:off x="427024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09" name="Rectangle 908"/>
          <p:cNvSpPr/>
          <p:nvPr/>
        </p:nvSpPr>
        <p:spPr>
          <a:xfrm>
            <a:off x="4544568" y="1874519"/>
            <a:ext cx="96012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Visit</a:t>
            </a:r>
          </a:p>
        </p:txBody>
      </p:sp>
      <p:sp>
        <p:nvSpPr>
          <p:cNvPr id="910" name="TextBox 909"/>
          <p:cNvSpPr txBox="1"/>
          <p:nvPr/>
        </p:nvSpPr>
        <p:spPr>
          <a:xfrm>
            <a:off x="5504688" y="1874519"/>
            <a:ext cx="274320" cy="310896"/>
          </a:xfrm>
          <a:prstGeom prst="rect">
            <a:avLst/>
          </a:prstGeom>
          <a:noFill/>
        </p:spPr>
        <p:txBody>
          <a:bodyPr wrap="square" lIns="0" rIns="0" tIns="0" bIns="0" anchor="ctr">
            <a:spAutoFit/>
          </a:bodyPr>
          <a:lstStyle/>
          <a:p>
            <a:pPr algn="ctr">
              <a:spcAft>
                <a:spcPts val="600"/>
              </a:spcAft>
            </a:pPr>
            <a:r>
              <a:rPr sz="1400" b="0" i="0">
                <a:solidFill>
                  <a:srgbClr val="63737B"/>
                </a:solidFill>
              </a:rPr>
              <a:t>→</a:t>
            </a:r>
          </a:p>
        </p:txBody>
      </p:sp>
      <p:sp>
        <p:nvSpPr>
          <p:cNvPr id="911" name="Rectangle 910"/>
          <p:cNvSpPr/>
          <p:nvPr/>
        </p:nvSpPr>
        <p:spPr>
          <a:xfrm>
            <a:off x="5779008" y="1874519"/>
            <a:ext cx="1234440" cy="310896"/>
          </a:xfrm>
          <a:prstGeom prst="rect">
            <a:avLst/>
          </a:prstGeom>
          <a:solidFill>
            <a:srgbClr val="EEF1F2"/>
          </a:solidFill>
          <a:ln w="9525">
            <a:solidFill>
              <a:srgbClr val="EEF1F2"/>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200">
                <a:solidFill>
                  <a:srgbClr val="000000"/>
                </a:solidFill>
              </a:rPr>
              <a:t>Won / Lost</a:t>
            </a:r>
          </a:p>
        </p:txBody>
      </p:sp>
      <p:sp>
        <p:nvSpPr>
          <p:cNvPr id="912" name="TextBox 911"/>
          <p:cNvSpPr txBox="1"/>
          <p:nvPr/>
        </p:nvSpPr>
        <p:spPr>
          <a:xfrm>
            <a:off x="841248"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Case</a:t>
            </a:r>
          </a:p>
        </p:txBody>
      </p:sp>
      <p:sp>
        <p:nvSpPr>
          <p:cNvPr id="913" name="TextBox 912"/>
          <p:cNvSpPr txBox="1"/>
          <p:nvPr/>
        </p:nvSpPr>
        <p:spPr>
          <a:xfrm>
            <a:off x="342900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Status</a:t>
            </a:r>
          </a:p>
        </p:txBody>
      </p:sp>
      <p:sp>
        <p:nvSpPr>
          <p:cNvPr id="914" name="TextBox 913"/>
          <p:cNvSpPr txBox="1"/>
          <p:nvPr/>
        </p:nvSpPr>
        <p:spPr>
          <a:xfrm>
            <a:off x="475488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Coverage</a:t>
            </a:r>
          </a:p>
        </p:txBody>
      </p:sp>
      <p:sp>
        <p:nvSpPr>
          <p:cNvPr id="915" name="TextBox 914"/>
          <p:cNvSpPr txBox="1"/>
          <p:nvPr/>
        </p:nvSpPr>
        <p:spPr>
          <a:xfrm>
            <a:off x="5806440" y="2514600"/>
            <a:ext cx="1737360" cy="274320"/>
          </a:xfrm>
          <a:prstGeom prst="rect">
            <a:avLst/>
          </a:prstGeom>
          <a:noFill/>
        </p:spPr>
        <p:txBody>
          <a:bodyPr wrap="square" lIns="0" rIns="0" tIns="0" bIns="0" anchor="t">
            <a:spAutoFit/>
          </a:bodyPr>
          <a:lstStyle/>
          <a:p>
            <a:pPr algn="l">
              <a:spcAft>
                <a:spcPts val="600"/>
              </a:spcAft>
            </a:pPr>
            <a:r>
              <a:rPr sz="1100" b="0" i="0">
                <a:solidFill>
                  <a:srgbClr val="63737B"/>
                </a:solidFill>
              </a:rPr>
              <a:t>Since last check</a:t>
            </a:r>
          </a:p>
        </p:txBody>
      </p:sp>
      <p:cxnSp>
        <p:nvCxnSpPr>
          <p:cNvPr id="916" name="Connector 915"/>
          <p:cNvCxnSpPr/>
          <p:nvPr/>
        </p:nvCxnSpPr>
        <p:spPr>
          <a:xfrm>
            <a:off x="841248" y="283464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7" name="TextBox 916"/>
          <p:cNvSpPr txBox="1"/>
          <p:nvPr/>
        </p:nvSpPr>
        <p:spPr>
          <a:xfrm>
            <a:off x="841248" y="2971800"/>
            <a:ext cx="2560320" cy="502920"/>
          </a:xfrm>
          <a:prstGeom prst="rect">
            <a:avLst/>
          </a:prstGeom>
          <a:noFill/>
        </p:spPr>
        <p:txBody>
          <a:bodyPr wrap="square" lIns="0" rIns="0" tIns="0" bIns="0" anchor="ctr">
            <a:spAutoFit/>
          </a:bodyPr>
          <a:lstStyle/>
          <a:p>
            <a:pPr algn="l">
              <a:spcAft>
                <a:spcPts val="600"/>
              </a:spcAft>
            </a:pPr>
            <a:r>
              <a:rPr sz="1400" b="1" i="0">
                <a:solidFill>
                  <a:srgbClr val="000000"/>
                </a:solidFill>
              </a:rPr>
              <a:t>Sport wearable patch</a:t>
            </a:r>
          </a:p>
        </p:txBody>
      </p:sp>
      <p:sp>
        <p:nvSpPr>
          <p:cNvPr id="918" name="TextBox 917"/>
          <p:cNvSpPr txBox="1"/>
          <p:nvPr/>
        </p:nvSpPr>
        <p:spPr>
          <a:xfrm>
            <a:off x="3429000" y="29718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Triaged</a:t>
            </a:r>
          </a:p>
        </p:txBody>
      </p:sp>
      <p:pic>
        <p:nvPicPr>
          <p:cNvPr id="919" name="Picture 918" descr="pot-full.png"/>
          <p:cNvPicPr>
            <a:picLocks noChangeAspect="1"/>
          </p:cNvPicPr>
          <p:nvPr/>
        </p:nvPicPr>
        <p:blipFill>
          <a:blip r:embed="rId2"/>
          <a:stretch>
            <a:fillRect/>
          </a:stretch>
        </p:blipFill>
        <p:spPr>
          <a:xfrm>
            <a:off x="4937760" y="2990088"/>
            <a:ext cx="368710" cy="457200"/>
          </a:xfrm>
          <a:prstGeom prst="rect">
            <a:avLst/>
          </a:prstGeom>
        </p:spPr>
      </p:pic>
      <p:sp>
        <p:nvSpPr>
          <p:cNvPr id="920" name="Rectangle 919"/>
          <p:cNvSpPr/>
          <p:nvPr/>
        </p:nvSpPr>
        <p:spPr>
          <a:xfrm>
            <a:off x="5806440" y="3063240"/>
            <a:ext cx="1600200" cy="310896"/>
          </a:xfrm>
          <a:prstGeom prst="rect">
            <a:avLst/>
          </a:prstGeom>
          <a:solidFill>
            <a:srgbClr val="EA161F"/>
          </a:solidFill>
          <a:ln w="95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1100">
                <a:solidFill>
                  <a:srgbClr val="FFFFFF"/>
                </a:solidFill>
              </a:rPr>
              <a:t>2 new matches</a:t>
            </a:r>
          </a:p>
        </p:txBody>
      </p:sp>
      <p:cxnSp>
        <p:nvCxnSpPr>
          <p:cNvPr id="921" name="Connector 920"/>
          <p:cNvCxnSpPr/>
          <p:nvPr/>
        </p:nvCxnSpPr>
        <p:spPr>
          <a:xfrm>
            <a:off x="841248" y="35661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841248" y="36576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Hearing implant start-up</a:t>
            </a:r>
          </a:p>
        </p:txBody>
      </p:sp>
      <p:sp>
        <p:nvSpPr>
          <p:cNvPr id="923" name="TextBox 922"/>
          <p:cNvSpPr txBox="1"/>
          <p:nvPr/>
        </p:nvSpPr>
        <p:spPr>
          <a:xfrm>
            <a:off x="3429000" y="36576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New</a:t>
            </a:r>
          </a:p>
        </p:txBody>
      </p:sp>
      <p:pic>
        <p:nvPicPr>
          <p:cNvPr id="924" name="Picture 923" descr="pot-thin.png"/>
          <p:cNvPicPr>
            <a:picLocks noChangeAspect="1"/>
          </p:cNvPicPr>
          <p:nvPr/>
        </p:nvPicPr>
        <p:blipFill>
          <a:blip r:embed="rId3"/>
          <a:stretch>
            <a:fillRect/>
          </a:stretch>
        </p:blipFill>
        <p:spPr>
          <a:xfrm>
            <a:off x="4937760" y="3675887"/>
            <a:ext cx="368710" cy="457200"/>
          </a:xfrm>
          <a:prstGeom prst="rect">
            <a:avLst/>
          </a:prstGeom>
        </p:spPr>
      </p:pic>
      <p:cxnSp>
        <p:nvCxnSpPr>
          <p:cNvPr id="925" name="Connector 924"/>
          <p:cNvCxnSpPr/>
          <p:nvPr/>
        </p:nvCxnSpPr>
        <p:spPr>
          <a:xfrm>
            <a:off x="841248" y="42519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6" name="TextBox 925"/>
          <p:cNvSpPr txBox="1"/>
          <p:nvPr/>
        </p:nvSpPr>
        <p:spPr>
          <a:xfrm>
            <a:off x="841248" y="43434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Lab-on-chip drug testing</a:t>
            </a:r>
          </a:p>
        </p:txBody>
      </p:sp>
      <p:sp>
        <p:nvSpPr>
          <p:cNvPr id="927" name="TextBox 926"/>
          <p:cNvSpPr txBox="1"/>
          <p:nvPr/>
        </p:nvSpPr>
        <p:spPr>
          <a:xfrm>
            <a:off x="3429000" y="43434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Pitched</a:t>
            </a:r>
          </a:p>
        </p:txBody>
      </p:sp>
      <p:pic>
        <p:nvPicPr>
          <p:cNvPr id="928" name="Picture 927" descr="pot-full.png"/>
          <p:cNvPicPr>
            <a:picLocks noChangeAspect="1"/>
          </p:cNvPicPr>
          <p:nvPr/>
        </p:nvPicPr>
        <p:blipFill>
          <a:blip r:embed="rId2"/>
          <a:stretch>
            <a:fillRect/>
          </a:stretch>
        </p:blipFill>
        <p:spPr>
          <a:xfrm>
            <a:off x="4937760" y="4361688"/>
            <a:ext cx="368710" cy="457200"/>
          </a:xfrm>
          <a:prstGeom prst="rect">
            <a:avLst/>
          </a:prstGeom>
        </p:spPr>
      </p:pic>
      <p:cxnSp>
        <p:nvCxnSpPr>
          <p:cNvPr id="929" name="Connector 928"/>
          <p:cNvCxnSpPr/>
          <p:nvPr/>
        </p:nvCxnSpPr>
        <p:spPr>
          <a:xfrm>
            <a:off x="841248" y="49377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0" name="TextBox 929"/>
          <p:cNvSpPr txBox="1"/>
          <p:nvPr/>
        </p:nvSpPr>
        <p:spPr>
          <a:xfrm>
            <a:off x="841248" y="5029200"/>
            <a:ext cx="2560320" cy="502920"/>
          </a:xfrm>
          <a:prstGeom prst="rect">
            <a:avLst/>
          </a:prstGeom>
          <a:noFill/>
        </p:spPr>
        <p:txBody>
          <a:bodyPr wrap="square" lIns="0" rIns="0" tIns="0" bIns="0" anchor="ctr">
            <a:spAutoFit/>
          </a:bodyPr>
          <a:lstStyle/>
          <a:p>
            <a:pPr algn="l">
              <a:spcAft>
                <a:spcPts val="600"/>
              </a:spcAft>
            </a:pPr>
            <a:r>
              <a:rPr sz="1400" b="0" i="0">
                <a:solidFill>
                  <a:srgbClr val="000000"/>
                </a:solidFill>
              </a:rPr>
              <a:t>Battery recycling</a:t>
            </a:r>
          </a:p>
        </p:txBody>
      </p:sp>
      <p:sp>
        <p:nvSpPr>
          <p:cNvPr id="931" name="TextBox 930"/>
          <p:cNvSpPr txBox="1"/>
          <p:nvPr/>
        </p:nvSpPr>
        <p:spPr>
          <a:xfrm>
            <a:off x="3429000" y="5029200"/>
            <a:ext cx="1280160" cy="502920"/>
          </a:xfrm>
          <a:prstGeom prst="rect">
            <a:avLst/>
          </a:prstGeom>
          <a:noFill/>
        </p:spPr>
        <p:txBody>
          <a:bodyPr wrap="square" lIns="0" rIns="0" tIns="0" bIns="0" anchor="ctr">
            <a:spAutoFit/>
          </a:bodyPr>
          <a:lstStyle/>
          <a:p>
            <a:pPr algn="l">
              <a:spcAft>
                <a:spcPts val="600"/>
              </a:spcAft>
            </a:pPr>
            <a:r>
              <a:rPr sz="1400" b="0" i="0">
                <a:solidFill>
                  <a:srgbClr val="000000"/>
                </a:solidFill>
              </a:rPr>
              <a:t>Not pitched</a:t>
            </a:r>
          </a:p>
        </p:txBody>
      </p:sp>
      <p:pic>
        <p:nvPicPr>
          <p:cNvPr id="932" name="Picture 931" descr="pot-empty.png"/>
          <p:cNvPicPr>
            <a:picLocks noChangeAspect="1"/>
          </p:cNvPicPr>
          <p:nvPr/>
        </p:nvPicPr>
        <p:blipFill>
          <a:blip r:embed="rId4"/>
          <a:stretch>
            <a:fillRect/>
          </a:stretch>
        </p:blipFill>
        <p:spPr>
          <a:xfrm>
            <a:off x="4937760" y="5047488"/>
            <a:ext cx="368710" cy="457200"/>
          </a:xfrm>
          <a:prstGeom prst="rect">
            <a:avLst/>
          </a:prstGeom>
        </p:spPr>
      </p:pic>
      <p:cxnSp>
        <p:nvCxnSpPr>
          <p:cNvPr id="933" name="Connector 932"/>
          <p:cNvCxnSpPr/>
          <p:nvPr/>
        </p:nvCxnSpPr>
        <p:spPr>
          <a:xfrm>
            <a:off x="841248" y="5623560"/>
            <a:ext cx="667512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34" name="TextBox 933"/>
          <p:cNvSpPr txBox="1"/>
          <p:nvPr/>
        </p:nvSpPr>
        <p:spPr>
          <a:xfrm>
            <a:off x="841248" y="5989320"/>
            <a:ext cx="6675120" cy="320040"/>
          </a:xfrm>
          <a:prstGeom prst="rect">
            <a:avLst/>
          </a:prstGeom>
          <a:noFill/>
        </p:spPr>
        <p:txBody>
          <a:bodyPr wrap="square" lIns="0" rIns="0" tIns="0" bIns="0" anchor="t">
            <a:spAutoFit/>
          </a:bodyPr>
          <a:lstStyle/>
          <a:p>
            <a:pPr algn="l">
              <a:spcAft>
                <a:spcPts val="600"/>
              </a:spcAft>
            </a:pPr>
            <a:r>
              <a:rPr sz="1000" b="0" i="0">
                <a:solidFill>
                  <a:srgbClr val="63737B"/>
                </a:solidFill>
              </a:rPr>
              <a:t>Demo cases, anonymised</a:t>
            </a:r>
          </a:p>
        </p:txBody>
      </p:sp>
      <p:cxnSp>
        <p:nvCxnSpPr>
          <p:cNvPr id="935" name="Connector 934"/>
          <p:cNvCxnSpPr/>
          <p:nvPr/>
        </p:nvCxnSpPr>
        <p:spPr>
          <a:xfrm>
            <a:off x="7909560" y="1874519"/>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pic>
        <p:nvPicPr>
          <p:cNvPr id="936" name="Mutz animation (alert)">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8275320" y="1783080"/>
            <a:ext cx="3520440" cy="2286000"/>
          </a:xfrm>
          <a:prstGeom prst="rect">
            <a:avLst/>
          </a:prstGeom>
        </p:spPr>
      </p:pic>
      <p:sp>
        <p:nvSpPr>
          <p:cNvPr id="937" name="Rectangle 936"/>
          <p:cNvSpPr/>
          <p:nvPr/>
        </p:nvSpPr>
        <p:spPr>
          <a:xfrm>
            <a:off x="8275320" y="4206240"/>
            <a:ext cx="3520440" cy="9144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8" name="TextBox 937"/>
          <p:cNvSpPr txBox="1"/>
          <p:nvPr/>
        </p:nvSpPr>
        <p:spPr>
          <a:xfrm>
            <a:off x="8458200" y="4279392"/>
            <a:ext cx="3200400" cy="777240"/>
          </a:xfrm>
          <a:prstGeom prst="rect">
            <a:avLst/>
          </a:prstGeom>
          <a:noFill/>
        </p:spPr>
        <p:txBody>
          <a:bodyPr wrap="square" lIns="0" rIns="0" tIns="0" bIns="0" anchor="ctr">
            <a:spAutoFit/>
          </a:bodyPr>
          <a:lstStyle/>
          <a:p>
            <a:pPr algn="l">
              <a:spcAft>
                <a:spcPts val="600"/>
              </a:spcAft>
            </a:pPr>
            <a:r>
              <a:rPr sz="1400" b="1" i="0">
                <a:solidFill>
                  <a:srgbClr val="000000"/>
                </a:solidFill>
              </a:rPr>
              <a:t>“New archive checked. 2 open cases have new matches.”</a:t>
            </a:r>
          </a:p>
        </p:txBody>
      </p:sp>
      <p:sp>
        <p:nvSpPr>
          <p:cNvPr id="939" name="TextBox 938"/>
          <p:cNvSpPr txBox="1"/>
          <p:nvPr/>
        </p:nvSpPr>
        <p:spPr>
          <a:xfrm>
            <a:off x="8275320" y="5303520"/>
            <a:ext cx="3520440" cy="1005840"/>
          </a:xfrm>
          <a:prstGeom prst="rect">
            <a:avLst/>
          </a:prstGeom>
          <a:noFill/>
        </p:spPr>
        <p:txBody>
          <a:bodyPr wrap="square" lIns="0" rIns="0" tIns="0" bIns="0" anchor="t">
            <a:spAutoFit/>
          </a:bodyPr>
          <a:lstStyle/>
          <a:p>
            <a:pPr algn="l">
              <a:spcAft>
                <a:spcPts val="600"/>
              </a:spcAft>
            </a:pPr>
            <a:r>
              <a:rPr sz="1400" b="0" i="0">
                <a:solidFill>
                  <a:srgbClr val="63737B"/>
                </a:solidFill>
              </a:rPr>
              <a:t>Add a source or re-crawl, and every open case is re-checked automatically.</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4600" fill="hold"/>
                                        <p:tgtEl>
                                          <p:spTgt spid="9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36"/>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search tool to an economic strategy tool</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15</a:t>
            </a:fld>
            <a:endParaRPr lang="de-CH" dirty="0"/>
          </a:p>
        </p:txBody>
      </p:sp>
      <p:sp>
        <p:nvSpPr>
          <p:cNvPr id="903" name="TextBox 902"/>
          <p:cNvSpPr txBox="1"/>
          <p:nvPr/>
        </p:nvSpPr>
        <p:spPr>
          <a:xfrm>
            <a:off x="841248" y="1828800"/>
            <a:ext cx="5303520" cy="411480"/>
          </a:xfrm>
          <a:prstGeom prst="rect">
            <a:avLst/>
          </a:prstGeom>
          <a:noFill/>
        </p:spPr>
        <p:txBody>
          <a:bodyPr wrap="square" lIns="0" rIns="0" tIns="0" bIns="0" anchor="t">
            <a:spAutoFit/>
          </a:bodyPr>
          <a:lstStyle/>
          <a:p>
            <a:pPr algn="l">
              <a:spcAft>
                <a:spcPts val="600"/>
              </a:spcAft>
            </a:pPr>
            <a:r>
              <a:rPr sz="1800" b="1" i="0">
                <a:solidFill>
                  <a:srgbClr val="000000"/>
                </a:solidFill>
              </a:rPr>
              <a:t>Word cloud: where Bern is strong</a:t>
            </a:r>
          </a:p>
        </p:txBody>
      </p:sp>
      <p:sp>
        <p:nvSpPr>
          <p:cNvPr id="904" name="TextBox 903"/>
          <p:cNvSpPr txBox="1"/>
          <p:nvPr/>
        </p:nvSpPr>
        <p:spPr>
          <a:xfrm>
            <a:off x="1465325" y="2630805"/>
            <a:ext cx="1336040" cy="222250"/>
          </a:xfrm>
          <a:prstGeom prst="rect">
            <a:avLst/>
          </a:prstGeom>
          <a:noFill/>
        </p:spPr>
        <p:txBody>
          <a:bodyPr wrap="none" lIns="0" rIns="0" tIns="0" bIns="0" anchor="ctr">
            <a:spAutoFit/>
          </a:bodyPr>
          <a:lstStyle/>
          <a:p>
            <a:pPr algn="ctr">
              <a:spcAft>
                <a:spcPts val="0"/>
              </a:spcAft>
            </a:pPr>
            <a:r>
              <a:rPr sz="1400" b="0" i="0">
                <a:solidFill>
                  <a:srgbClr val="63737B"/>
                </a:solidFill>
              </a:rPr>
              <a:t>Gut microbiome</a:t>
            </a:r>
          </a:p>
        </p:txBody>
      </p:sp>
      <p:sp>
        <p:nvSpPr>
          <p:cNvPr id="905" name="TextBox 904"/>
          <p:cNvSpPr txBox="1"/>
          <p:nvPr/>
        </p:nvSpPr>
        <p:spPr>
          <a:xfrm>
            <a:off x="2965958" y="258318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Hearing research</a:t>
            </a:r>
          </a:p>
        </p:txBody>
      </p:sp>
      <p:sp>
        <p:nvSpPr>
          <p:cNvPr id="906" name="TextBox 905"/>
          <p:cNvSpPr txBox="1"/>
          <p:nvPr/>
        </p:nvSpPr>
        <p:spPr>
          <a:xfrm>
            <a:off x="5253990" y="2630805"/>
            <a:ext cx="358140" cy="222250"/>
          </a:xfrm>
          <a:prstGeom prst="rect">
            <a:avLst/>
          </a:prstGeom>
          <a:noFill/>
        </p:spPr>
        <p:txBody>
          <a:bodyPr wrap="none" lIns="0" rIns="0" tIns="0" bIns="0" anchor="ctr">
            <a:spAutoFit/>
          </a:bodyPr>
          <a:lstStyle/>
          <a:p>
            <a:pPr algn="ctr">
              <a:spcAft>
                <a:spcPts val="0"/>
              </a:spcAft>
            </a:pPr>
            <a:r>
              <a:rPr sz="1400" b="0" i="0">
                <a:solidFill>
                  <a:srgbClr val="63737B"/>
                </a:solidFill>
              </a:rPr>
              <a:t>MRI</a:t>
            </a:r>
          </a:p>
        </p:txBody>
      </p:sp>
      <p:sp>
        <p:nvSpPr>
          <p:cNvPr id="907" name="TextBox 906"/>
          <p:cNvSpPr txBox="1"/>
          <p:nvPr/>
        </p:nvSpPr>
        <p:spPr>
          <a:xfrm>
            <a:off x="1089152" y="2962910"/>
            <a:ext cx="1869439" cy="317500"/>
          </a:xfrm>
          <a:prstGeom prst="rect">
            <a:avLst/>
          </a:prstGeom>
          <a:noFill/>
        </p:spPr>
        <p:txBody>
          <a:bodyPr wrap="none" lIns="0" rIns="0" tIns="0" bIns="0" anchor="ctr">
            <a:spAutoFit/>
          </a:bodyPr>
          <a:lstStyle/>
          <a:p>
            <a:pPr algn="ctr">
              <a:spcAft>
                <a:spcPts val="0"/>
              </a:spcAft>
            </a:pPr>
            <a:r>
              <a:rPr sz="2000" b="0" i="0">
                <a:solidFill>
                  <a:srgbClr val="EA161F"/>
                </a:solidFill>
              </a:rPr>
              <a:t>Organs-on-chip</a:t>
            </a:r>
          </a:p>
        </p:txBody>
      </p:sp>
      <p:sp>
        <p:nvSpPr>
          <p:cNvPr id="908" name="TextBox 907"/>
          <p:cNvSpPr txBox="1"/>
          <p:nvPr/>
        </p:nvSpPr>
        <p:spPr>
          <a:xfrm>
            <a:off x="3123184" y="2915285"/>
            <a:ext cx="2865120" cy="412750"/>
          </a:xfrm>
          <a:prstGeom prst="rect">
            <a:avLst/>
          </a:prstGeom>
          <a:noFill/>
        </p:spPr>
        <p:txBody>
          <a:bodyPr wrap="none" lIns="0" rIns="0" tIns="0" bIns="0" anchor="ctr">
            <a:spAutoFit/>
          </a:bodyPr>
          <a:lstStyle/>
          <a:p>
            <a:pPr algn="ctr">
              <a:spcAft>
                <a:spcPts val="0"/>
              </a:spcAft>
            </a:pPr>
            <a:r>
              <a:rPr sz="2600" b="1" i="0">
                <a:solidFill>
                  <a:srgbClr val="000000"/>
                </a:solidFill>
              </a:rPr>
              <a:t>Medical imaging</a:t>
            </a:r>
          </a:p>
        </p:txBody>
      </p:sp>
      <p:sp>
        <p:nvSpPr>
          <p:cNvPr id="909" name="TextBox 908"/>
          <p:cNvSpPr txBox="1"/>
          <p:nvPr/>
        </p:nvSpPr>
        <p:spPr>
          <a:xfrm>
            <a:off x="707135" y="3491865"/>
            <a:ext cx="1656080" cy="349250"/>
          </a:xfrm>
          <a:prstGeom prst="rect">
            <a:avLst/>
          </a:prstGeom>
          <a:noFill/>
        </p:spPr>
        <p:txBody>
          <a:bodyPr wrap="none" lIns="0" rIns="0" tIns="0" bIns="0" anchor="ctr">
            <a:spAutoFit/>
          </a:bodyPr>
          <a:lstStyle/>
          <a:p>
            <a:pPr algn="ctr">
              <a:spcAft>
                <a:spcPts val="0"/>
              </a:spcAft>
            </a:pPr>
            <a:r>
              <a:rPr sz="2200" b="1" i="0">
                <a:solidFill>
                  <a:srgbClr val="000000"/>
                </a:solidFill>
              </a:rPr>
              <a:t>Biosensors</a:t>
            </a:r>
          </a:p>
        </p:txBody>
      </p:sp>
      <p:sp>
        <p:nvSpPr>
          <p:cNvPr id="910" name="TextBox 909"/>
          <p:cNvSpPr txBox="1"/>
          <p:nvPr/>
        </p:nvSpPr>
        <p:spPr>
          <a:xfrm>
            <a:off x="2527808" y="3348990"/>
            <a:ext cx="2367280" cy="635000"/>
          </a:xfrm>
          <a:prstGeom prst="rect">
            <a:avLst/>
          </a:prstGeom>
          <a:noFill/>
        </p:spPr>
        <p:txBody>
          <a:bodyPr wrap="none" lIns="0" rIns="0" tIns="0" bIns="0" anchor="ctr">
            <a:spAutoFit/>
          </a:bodyPr>
          <a:lstStyle/>
          <a:p>
            <a:pPr algn="ctr">
              <a:spcAft>
                <a:spcPts val="0"/>
              </a:spcAft>
            </a:pPr>
            <a:r>
              <a:rPr sz="4000" b="1" i="0">
                <a:solidFill>
                  <a:srgbClr val="EA161F"/>
                </a:solidFill>
              </a:rPr>
              <a:t>Diabetes</a:t>
            </a:r>
          </a:p>
        </p:txBody>
      </p:sp>
      <p:sp>
        <p:nvSpPr>
          <p:cNvPr id="911" name="TextBox 910"/>
          <p:cNvSpPr txBox="1"/>
          <p:nvPr/>
        </p:nvSpPr>
        <p:spPr>
          <a:xfrm>
            <a:off x="5059680" y="3539490"/>
            <a:ext cx="1310640" cy="254000"/>
          </a:xfrm>
          <a:prstGeom prst="rect">
            <a:avLst/>
          </a:prstGeom>
          <a:noFill/>
        </p:spPr>
        <p:txBody>
          <a:bodyPr wrap="none" lIns="0" rIns="0" tIns="0" bIns="0" anchor="ctr">
            <a:spAutoFit/>
          </a:bodyPr>
          <a:lstStyle/>
          <a:p>
            <a:pPr algn="ctr">
              <a:spcAft>
                <a:spcPts val="0"/>
              </a:spcAft>
            </a:pPr>
            <a:r>
              <a:rPr sz="1600" b="0" i="0">
                <a:solidFill>
                  <a:srgbClr val="000000"/>
                </a:solidFill>
              </a:rPr>
              <a:t>Nutrition AI</a:t>
            </a:r>
          </a:p>
        </p:txBody>
      </p:sp>
      <p:sp>
        <p:nvSpPr>
          <p:cNvPr id="912" name="TextBox 911"/>
          <p:cNvSpPr txBox="1"/>
          <p:nvPr/>
        </p:nvSpPr>
        <p:spPr>
          <a:xfrm>
            <a:off x="983488" y="4004310"/>
            <a:ext cx="2822448" cy="381000"/>
          </a:xfrm>
          <a:prstGeom prst="rect">
            <a:avLst/>
          </a:prstGeom>
          <a:noFill/>
        </p:spPr>
        <p:txBody>
          <a:bodyPr wrap="none" lIns="0" rIns="0" tIns="0" bIns="0" anchor="ctr">
            <a:spAutoFit/>
          </a:bodyPr>
          <a:lstStyle/>
          <a:p>
            <a:pPr algn="ctr">
              <a:spcAft>
                <a:spcPts val="0"/>
              </a:spcAft>
            </a:pPr>
            <a:r>
              <a:rPr sz="2400" b="1" i="0">
                <a:solidFill>
                  <a:srgbClr val="EA161F"/>
                </a:solidFill>
              </a:rPr>
              <a:t>Surgical sensing</a:t>
            </a:r>
          </a:p>
        </p:txBody>
      </p:sp>
      <p:sp>
        <p:nvSpPr>
          <p:cNvPr id="913" name="TextBox 912"/>
          <p:cNvSpPr txBox="1"/>
          <p:nvPr/>
        </p:nvSpPr>
        <p:spPr>
          <a:xfrm>
            <a:off x="3970528" y="4036060"/>
            <a:ext cx="2123440" cy="317500"/>
          </a:xfrm>
          <a:prstGeom prst="rect">
            <a:avLst/>
          </a:prstGeom>
          <a:noFill/>
        </p:spPr>
        <p:txBody>
          <a:bodyPr wrap="none" lIns="0" rIns="0" tIns="0" bIns="0" anchor="ctr">
            <a:spAutoFit/>
          </a:bodyPr>
          <a:lstStyle/>
          <a:p>
            <a:pPr algn="ctr">
              <a:spcAft>
                <a:spcPts val="0"/>
              </a:spcAft>
            </a:pPr>
            <a:r>
              <a:rPr sz="2000" b="0" i="0">
                <a:solidFill>
                  <a:srgbClr val="000000"/>
                </a:solidFill>
              </a:rPr>
              <a:t>Machine learning</a:t>
            </a:r>
          </a:p>
        </p:txBody>
      </p:sp>
      <p:sp>
        <p:nvSpPr>
          <p:cNvPr id="914" name="TextBox 913"/>
          <p:cNvSpPr txBox="1"/>
          <p:nvPr/>
        </p:nvSpPr>
        <p:spPr>
          <a:xfrm>
            <a:off x="792226" y="4398010"/>
            <a:ext cx="1310640" cy="254000"/>
          </a:xfrm>
          <a:prstGeom prst="rect">
            <a:avLst/>
          </a:prstGeom>
          <a:noFill/>
        </p:spPr>
        <p:txBody>
          <a:bodyPr wrap="none" lIns="0" rIns="0" tIns="0" bIns="0" anchor="ctr">
            <a:spAutoFit/>
          </a:bodyPr>
          <a:lstStyle/>
          <a:p>
            <a:pPr algn="ctr">
              <a:spcAft>
                <a:spcPts val="0"/>
              </a:spcAft>
            </a:pPr>
            <a:r>
              <a:rPr sz="1600" b="0" i="0">
                <a:solidFill>
                  <a:srgbClr val="63737B"/>
                </a:solidFill>
              </a:rPr>
              <a:t>Biomechanics</a:t>
            </a:r>
          </a:p>
        </p:txBody>
      </p:sp>
      <p:sp>
        <p:nvSpPr>
          <p:cNvPr id="915" name="TextBox 914"/>
          <p:cNvSpPr txBox="1"/>
          <p:nvPr/>
        </p:nvSpPr>
        <p:spPr>
          <a:xfrm>
            <a:off x="2267458" y="4398010"/>
            <a:ext cx="2428240" cy="254000"/>
          </a:xfrm>
          <a:prstGeom prst="rect">
            <a:avLst/>
          </a:prstGeom>
          <a:noFill/>
        </p:spPr>
        <p:txBody>
          <a:bodyPr wrap="none" lIns="0" rIns="0" tIns="0" bIns="0" anchor="ctr">
            <a:spAutoFit/>
          </a:bodyPr>
          <a:lstStyle/>
          <a:p>
            <a:pPr algn="ctr">
              <a:spcAft>
                <a:spcPts val="0"/>
              </a:spcAft>
            </a:pPr>
            <a:r>
              <a:rPr sz="1600" b="0" i="0">
                <a:solidFill>
                  <a:srgbClr val="000000"/>
                </a:solidFill>
              </a:rPr>
              <a:t>Rehabilitation robotics</a:t>
            </a:r>
          </a:p>
        </p:txBody>
      </p:sp>
      <p:sp>
        <p:nvSpPr>
          <p:cNvPr id="916" name="TextBox 915"/>
          <p:cNvSpPr txBox="1"/>
          <p:nvPr/>
        </p:nvSpPr>
        <p:spPr>
          <a:xfrm>
            <a:off x="4860290" y="441388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Cardiac devices</a:t>
            </a:r>
          </a:p>
        </p:txBody>
      </p:sp>
      <p:sp>
        <p:nvSpPr>
          <p:cNvPr id="917" name="TextBox 916"/>
          <p:cNvSpPr txBox="1"/>
          <p:nvPr/>
        </p:nvSpPr>
        <p:spPr>
          <a:xfrm>
            <a:off x="950976" y="4662170"/>
            <a:ext cx="1818640" cy="254000"/>
          </a:xfrm>
          <a:prstGeom prst="rect">
            <a:avLst/>
          </a:prstGeom>
          <a:noFill/>
        </p:spPr>
        <p:txBody>
          <a:bodyPr wrap="none" lIns="0" rIns="0" tIns="0" bIns="0" anchor="ctr">
            <a:spAutoFit/>
          </a:bodyPr>
          <a:lstStyle/>
          <a:p>
            <a:pPr algn="ctr">
              <a:spcAft>
                <a:spcPts val="0"/>
              </a:spcAft>
            </a:pPr>
            <a:r>
              <a:rPr sz="1600" b="0" i="0">
                <a:solidFill>
                  <a:srgbClr val="63737B"/>
                </a:solidFill>
              </a:rPr>
              <a:t>Radiation therapy</a:t>
            </a:r>
          </a:p>
        </p:txBody>
      </p:sp>
      <p:sp>
        <p:nvSpPr>
          <p:cNvPr id="918" name="TextBox 917"/>
          <p:cNvSpPr txBox="1"/>
          <p:nvPr/>
        </p:nvSpPr>
        <p:spPr>
          <a:xfrm>
            <a:off x="2934208" y="4678045"/>
            <a:ext cx="1602740" cy="222250"/>
          </a:xfrm>
          <a:prstGeom prst="rect">
            <a:avLst/>
          </a:prstGeom>
          <a:noFill/>
        </p:spPr>
        <p:txBody>
          <a:bodyPr wrap="none" lIns="0" rIns="0" tIns="0" bIns="0" anchor="ctr">
            <a:spAutoFit/>
          </a:bodyPr>
          <a:lstStyle/>
          <a:p>
            <a:pPr algn="ctr">
              <a:spcAft>
                <a:spcPts val="0"/>
              </a:spcAft>
            </a:pPr>
            <a:r>
              <a:rPr sz="1400" b="0" i="0">
                <a:solidFill>
                  <a:srgbClr val="63737B"/>
                </a:solidFill>
              </a:rPr>
              <a:t>Acoustic robotics</a:t>
            </a:r>
          </a:p>
        </p:txBody>
      </p:sp>
      <p:sp>
        <p:nvSpPr>
          <p:cNvPr id="919" name="TextBox 918"/>
          <p:cNvSpPr txBox="1"/>
          <p:nvPr/>
        </p:nvSpPr>
        <p:spPr>
          <a:xfrm>
            <a:off x="4701540" y="4678045"/>
            <a:ext cx="1424940" cy="222250"/>
          </a:xfrm>
          <a:prstGeom prst="rect">
            <a:avLst/>
          </a:prstGeom>
          <a:noFill/>
        </p:spPr>
        <p:txBody>
          <a:bodyPr wrap="none" lIns="0" rIns="0" tIns="0" bIns="0" anchor="ctr">
            <a:spAutoFit/>
          </a:bodyPr>
          <a:lstStyle/>
          <a:p>
            <a:pPr algn="ctr">
              <a:spcAft>
                <a:spcPts val="0"/>
              </a:spcAft>
            </a:pPr>
            <a:r>
              <a:rPr sz="1400" b="0" i="0">
                <a:solidFill>
                  <a:srgbClr val="63737B"/>
                </a:solidFill>
              </a:rPr>
              <a:t>Gerontechnology</a:t>
            </a:r>
          </a:p>
        </p:txBody>
      </p:sp>
      <p:sp>
        <p:nvSpPr>
          <p:cNvPr id="920" name="TextBox 919"/>
          <p:cNvSpPr txBox="1"/>
          <p:nvPr/>
        </p:nvSpPr>
        <p:spPr>
          <a:xfrm>
            <a:off x="841248" y="5303520"/>
            <a:ext cx="5303520" cy="685800"/>
          </a:xfrm>
          <a:prstGeom prst="rect">
            <a:avLst/>
          </a:prstGeom>
          <a:noFill/>
        </p:spPr>
        <p:txBody>
          <a:bodyPr wrap="square" lIns="0" rIns="0" tIns="0" bIns="0" anchor="t">
            <a:spAutoFit/>
          </a:bodyPr>
          <a:lstStyle/>
          <a:p>
            <a:pPr algn="l">
              <a:spcAft>
                <a:spcPts val="600"/>
              </a:spcAft>
            </a:pPr>
            <a:r>
              <a:rPr sz="1200" b="0" i="0">
                <a:solidFill>
                  <a:srgbClr val="63737B"/>
                </a:solidFill>
              </a:rPr>
              <a:t>Example from the crawled archives. Bigger word = more verified pages.</a:t>
            </a:r>
          </a:p>
        </p:txBody>
      </p:sp>
      <p:cxnSp>
        <p:nvCxnSpPr>
          <p:cNvPr id="921" name="Connector 920"/>
          <p:cNvCxnSpPr/>
          <p:nvPr/>
        </p:nvCxnSpPr>
        <p:spPr>
          <a:xfrm>
            <a:off x="6492240" y="1828800"/>
            <a:ext cx="0" cy="443484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22" name="TextBox 921"/>
          <p:cNvSpPr txBox="1"/>
          <p:nvPr/>
        </p:nvSpPr>
        <p:spPr>
          <a:xfrm>
            <a:off x="6858000" y="1828800"/>
            <a:ext cx="4937760" cy="411480"/>
          </a:xfrm>
          <a:prstGeom prst="rect">
            <a:avLst/>
          </a:prstGeom>
          <a:noFill/>
        </p:spPr>
        <p:txBody>
          <a:bodyPr wrap="square" lIns="0" rIns="0" tIns="0" bIns="0" anchor="t">
            <a:spAutoFit/>
          </a:bodyPr>
          <a:lstStyle/>
          <a:p>
            <a:pPr algn="l">
              <a:spcAft>
                <a:spcPts val="600"/>
              </a:spcAft>
            </a:pPr>
            <a:r>
              <a:rPr sz="1800" b="1" i="0">
                <a:solidFill>
                  <a:srgbClr val="000000"/>
                </a:solidFill>
              </a:rPr>
              <a:t>Gap report: what leads ask for</a:t>
            </a:r>
          </a:p>
        </p:txBody>
      </p:sp>
      <p:sp>
        <p:nvSpPr>
          <p:cNvPr id="923" name="TextBox 922"/>
          <p:cNvSpPr txBox="1"/>
          <p:nvPr/>
        </p:nvSpPr>
        <p:spPr>
          <a:xfrm>
            <a:off x="6858000" y="2286000"/>
            <a:ext cx="4937760" cy="365760"/>
          </a:xfrm>
          <a:prstGeom prst="rect">
            <a:avLst/>
          </a:prstGeom>
          <a:noFill/>
        </p:spPr>
        <p:txBody>
          <a:bodyPr wrap="square" lIns="0" rIns="0" tIns="0" bIns="0" anchor="t">
            <a:spAutoFit/>
          </a:bodyPr>
          <a:lstStyle/>
          <a:p>
            <a:pPr algn="l">
              <a:spcAft>
                <a:spcPts val="600"/>
              </a:spcAft>
            </a:pPr>
            <a:r>
              <a:rPr sz="1300" b="0" i="0">
                <a:solidFill>
                  <a:srgbClr val="63737B"/>
                </a:solidFill>
              </a:rPr>
              <a:t>Needs that ended in an empty pot</a:t>
            </a:r>
          </a:p>
        </p:txBody>
      </p:sp>
      <p:sp>
        <p:nvSpPr>
          <p:cNvPr id="924" name="TextBox 923"/>
          <p:cNvSpPr txBox="1"/>
          <p:nvPr/>
        </p:nvSpPr>
        <p:spPr>
          <a:xfrm>
            <a:off x="6858000" y="27889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Battery technology</a:t>
            </a:r>
          </a:p>
        </p:txBody>
      </p:sp>
      <p:sp>
        <p:nvSpPr>
          <p:cNvPr id="925" name="Rectangle 924"/>
          <p:cNvSpPr/>
          <p:nvPr/>
        </p:nvSpPr>
        <p:spPr>
          <a:xfrm>
            <a:off x="9098280" y="2898648"/>
            <a:ext cx="1787651"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10977372" y="27889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27" name="TextBox 926"/>
          <p:cNvSpPr txBox="1"/>
          <p:nvPr/>
        </p:nvSpPr>
        <p:spPr>
          <a:xfrm>
            <a:off x="6858000" y="34747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Offshore wind</a:t>
            </a:r>
          </a:p>
        </p:txBody>
      </p:sp>
      <p:sp>
        <p:nvSpPr>
          <p:cNvPr id="928" name="Rectangle 927"/>
          <p:cNvSpPr/>
          <p:nvPr/>
        </p:nvSpPr>
        <p:spPr>
          <a:xfrm>
            <a:off x="9098280" y="3584448"/>
            <a:ext cx="1156716"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9" name="TextBox 928"/>
          <p:cNvSpPr txBox="1"/>
          <p:nvPr/>
        </p:nvSpPr>
        <p:spPr>
          <a:xfrm>
            <a:off x="10346436" y="34747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0" name="TextBox 929"/>
          <p:cNvSpPr txBox="1"/>
          <p:nvPr/>
        </p:nvSpPr>
        <p:spPr>
          <a:xfrm>
            <a:off x="6858000" y="4160520"/>
            <a:ext cx="2194560" cy="457200"/>
          </a:xfrm>
          <a:prstGeom prst="rect">
            <a:avLst/>
          </a:prstGeom>
          <a:noFill/>
        </p:spPr>
        <p:txBody>
          <a:bodyPr wrap="square" lIns="0" rIns="0" tIns="0" bIns="0" anchor="ctr">
            <a:spAutoFit/>
          </a:bodyPr>
          <a:lstStyle/>
          <a:p>
            <a:pPr algn="l">
              <a:spcAft>
                <a:spcPts val="600"/>
              </a:spcAft>
            </a:pPr>
            <a:r>
              <a:rPr sz="1300" b="0" i="0">
                <a:solidFill>
                  <a:srgbClr val="000000"/>
                </a:solidFill>
              </a:rPr>
              <a:t>Semiconductor packaging</a:t>
            </a:r>
          </a:p>
        </p:txBody>
      </p:sp>
      <p:sp>
        <p:nvSpPr>
          <p:cNvPr id="931" name="Rectangle 930"/>
          <p:cNvSpPr/>
          <p:nvPr/>
        </p:nvSpPr>
        <p:spPr>
          <a:xfrm>
            <a:off x="9098280" y="4270248"/>
            <a:ext cx="736092" cy="237744"/>
          </a:xfrm>
          <a:prstGeom prst="rect">
            <a:avLst/>
          </a:prstGeom>
          <a:solidFill>
            <a:srgbClr val="EA16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2" name="TextBox 931"/>
          <p:cNvSpPr txBox="1"/>
          <p:nvPr/>
        </p:nvSpPr>
        <p:spPr>
          <a:xfrm>
            <a:off x="9925812" y="4160520"/>
            <a:ext cx="640080" cy="457200"/>
          </a:xfrm>
          <a:prstGeom prst="rect">
            <a:avLst/>
          </a:prstGeom>
          <a:noFill/>
        </p:spPr>
        <p:txBody>
          <a:bodyPr wrap="square" lIns="0" rIns="0" tIns="0" bIns="0" anchor="ctr">
            <a:spAutoFit/>
          </a:bodyPr>
          <a:lstStyle/>
          <a:p>
            <a:pPr algn="l">
              <a:spcAft>
                <a:spcPts val="600"/>
              </a:spcAft>
            </a:pPr>
            <a:r>
              <a:rPr sz="1200" b="0" i="0">
                <a:solidFill>
                  <a:srgbClr val="63737B"/>
                </a:solidFill>
              </a:rPr>
              <a:t>[XX]</a:t>
            </a:r>
          </a:p>
        </p:txBody>
      </p:sp>
      <p:sp>
        <p:nvSpPr>
          <p:cNvPr id="933" name="TextBox 932"/>
          <p:cNvSpPr txBox="1"/>
          <p:nvPr/>
        </p:nvSpPr>
        <p:spPr>
          <a:xfrm>
            <a:off x="6858000" y="4937760"/>
            <a:ext cx="4937760" cy="1280160"/>
          </a:xfrm>
          <a:prstGeom prst="rect">
            <a:avLst/>
          </a:prstGeom>
          <a:noFill/>
        </p:spPr>
        <p:txBody>
          <a:bodyPr wrap="square" lIns="0" rIns="0" tIns="0" bIns="0" anchor="t">
            <a:spAutoFit/>
          </a:bodyPr>
          <a:lstStyle/>
          <a:p>
            <a:pPr algn="l">
              <a:spcAft>
                <a:spcPts val="600"/>
              </a:spcAft>
            </a:pPr>
            <a:r>
              <a:rPr sz="1400" b="1" i="0">
                <a:solidFill>
                  <a:srgbClr val="000000"/>
                </a:solidFill>
              </a:rPr>
              <a:t>For the canton: </a:t>
            </a:r>
            <a:r>
              <a:rPr sz="1400" b="0" i="0">
                <a:solidFill>
                  <a:srgbClr val="000000"/>
                </a:solidFill>
              </a:rPr>
              <a:t>which strengths to market abroad, and where leads keep asking for something Bern does not have yet.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One more archive is six lines of config</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16</a:t>
            </a:fld>
            <a:endParaRPr lang="de-CH" dirty="0"/>
          </a:p>
        </p:txBody>
      </p:sp>
      <p:sp>
        <p:nvSpPr>
          <p:cNvPr id="903" name="YAML snippet"/>
          <p:cNvSpPr/>
          <p:nvPr/>
        </p:nvSpPr>
        <p:spPr>
          <a:xfrm>
            <a:off x="841248" y="1920240"/>
            <a:ext cx="5486400" cy="30175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97280" y="2148840"/>
            <a:ext cx="5029200" cy="2651760"/>
          </a:xfrm>
          <a:prstGeom prst="rect">
            <a:avLst/>
          </a:prstGeom>
          <a:noFill/>
        </p:spPr>
        <p:txBody>
          <a:bodyPr wrap="square" lIns="0" rIns="0" tIns="0" bIns="0" anchor="t">
            <a:spAutoFit/>
          </a:bodyPr>
          <a:lstStyle/>
          <a:p>
            <a:pPr algn="l">
              <a:spcAft>
                <a:spcPts val="800"/>
              </a:spcAft>
            </a:pPr>
            <a:r>
              <a:rPr sz="1500" b="0" i="0">
                <a:solidFill>
                  <a:srgbClr val="FFFFFF"/>
                </a:solidFill>
                <a:latin typeface="Courier New"/>
              </a:rPr>
              <a:t>- id: sitem</a:t>
            </a:r>
          </a:p>
          <a:p>
            <a:pPr algn="l">
              <a:spcAft>
                <a:spcPts val="800"/>
              </a:spcAft>
            </a:pPr>
            <a:r>
              <a:rPr sz="1500" b="0" i="0">
                <a:solidFill>
                  <a:srgbClr val="FFFFFF"/>
                </a:solidFill>
                <a:latin typeface="Courier New"/>
              </a:rPr>
              <a:t>  name: sitem-insel</a:t>
            </a:r>
          </a:p>
          <a:p>
            <a:pPr algn="l">
              <a:spcAft>
                <a:spcPts val="800"/>
              </a:spcAft>
            </a:pPr>
            <a:r>
              <a:rPr sz="1500" b="0" i="0">
                <a:solidFill>
                  <a:srgbClr val="FFFFFF"/>
                </a:solidFill>
                <a:latin typeface="Courier New"/>
              </a:rPr>
              <a:t>  seeds: [https://www.sitem-insel.ch/]</a:t>
            </a:r>
          </a:p>
          <a:p>
            <a:pPr algn="l">
              <a:spcAft>
                <a:spcPts val="800"/>
              </a:spcAft>
            </a:pPr>
            <a:r>
              <a:rPr sz="1500" b="0" i="0">
                <a:solidFill>
                  <a:srgbClr val="FFFFFF"/>
                </a:solidFill>
                <a:latin typeface="Courier New"/>
              </a:rPr>
              <a:t>  allow_domains: [www.sitem-insel.ch]</a:t>
            </a:r>
          </a:p>
          <a:p>
            <a:pPr algn="l">
              <a:spcAft>
                <a:spcPts val="800"/>
              </a:spcAft>
            </a:pPr>
            <a:r>
              <a:rPr sz="1500" b="0" i="0">
                <a:solidFill>
                  <a:srgbClr val="FFFFFF"/>
                </a:solidFill>
                <a:latin typeface="Courier New"/>
              </a:rPr>
              <a:t>  languages: [de, en]</a:t>
            </a:r>
          </a:p>
          <a:p>
            <a:pPr algn="l">
              <a:spcAft>
                <a:spcPts val="800"/>
              </a:spcAft>
            </a:pPr>
            <a:r>
              <a:rPr sz="1500" b="0" i="0">
                <a:solidFill>
                  <a:srgbClr val="FFFFFF"/>
                </a:solidFill>
                <a:latin typeface="Courier New"/>
              </a:rPr>
              <a:t>  max_pages: 300</a:t>
            </a:r>
          </a:p>
        </p:txBody>
      </p:sp>
      <p:sp>
        <p:nvSpPr>
          <p:cNvPr id="905" name="TextBox 904"/>
          <p:cNvSpPr txBox="1"/>
          <p:nvPr/>
        </p:nvSpPr>
        <p:spPr>
          <a:xfrm>
            <a:off x="841248" y="5120640"/>
            <a:ext cx="5486400" cy="1097280"/>
          </a:xfrm>
          <a:prstGeom prst="rect">
            <a:avLst/>
          </a:prstGeom>
          <a:noFill/>
        </p:spPr>
        <p:txBody>
          <a:bodyPr wrap="square" lIns="0" rIns="0" tIns="0" bIns="0" anchor="t">
            <a:spAutoFit/>
          </a:bodyPr>
          <a:lstStyle/>
          <a:p>
            <a:pPr algn="l">
              <a:spcAft>
                <a:spcPts val="600"/>
              </a:spcAft>
            </a:pPr>
            <a:r>
              <a:rPr sz="1400" b="0" i="0">
                <a:solidFill>
                  <a:srgbClr val="63737B"/>
                </a:solidFill>
              </a:rPr>
              <a:t>No code change. Crawl, extract, verify, index, and every open case is re-checked.</a:t>
            </a:r>
          </a:p>
        </p:txBody>
      </p:sp>
      <p:cxnSp>
        <p:nvCxnSpPr>
          <p:cNvPr id="906" name="Connector 905"/>
          <p:cNvCxnSpPr/>
          <p:nvPr/>
        </p:nvCxnSpPr>
        <p:spPr>
          <a:xfrm>
            <a:off x="672084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07" name="TextBox 906"/>
          <p:cNvSpPr txBox="1"/>
          <p:nvPr/>
        </p:nvSpPr>
        <p:spPr>
          <a:xfrm>
            <a:off x="7086600" y="1874519"/>
            <a:ext cx="4754880" cy="365760"/>
          </a:xfrm>
          <a:prstGeom prst="rect">
            <a:avLst/>
          </a:prstGeom>
          <a:noFill/>
        </p:spPr>
        <p:txBody>
          <a:bodyPr wrap="square" lIns="0" rIns="0" tIns="0" bIns="0" anchor="t">
            <a:spAutoFit/>
          </a:bodyPr>
          <a:lstStyle/>
          <a:p>
            <a:pPr algn="l">
              <a:spcAft>
                <a:spcPts val="600"/>
              </a:spcAft>
            </a:pPr>
            <a:r>
              <a:rPr sz="1600" b="1" i="0">
                <a:solidFill>
                  <a:srgbClr val="000000"/>
                </a:solidFill>
              </a:rPr>
              <a:t>Value for the agency</a:t>
            </a:r>
          </a:p>
        </p:txBody>
      </p:sp>
      <p:sp>
        <p:nvSpPr>
          <p:cNvPr id="908" name="TextBox 907"/>
          <p:cNvSpPr txBox="1"/>
          <p:nvPr/>
        </p:nvSpPr>
        <p:spPr>
          <a:xfrm>
            <a:off x="7086600" y="2377440"/>
            <a:ext cx="4754880" cy="1463040"/>
          </a:xfrm>
          <a:prstGeom prst="rect">
            <a:avLst/>
          </a:prstGeom>
          <a:noFill/>
        </p:spPr>
        <p:txBody>
          <a:bodyPr wrap="square" lIns="0" rIns="0" tIns="0" bIns="0" anchor="t">
            <a:spAutoFit/>
          </a:bodyPr>
          <a:lstStyle/>
          <a:p>
            <a:pPr algn="l">
              <a:spcAft>
                <a:spcPts val="400"/>
              </a:spcAft>
            </a:pPr>
            <a:r>
              <a:rPr sz="4400" b="1" i="0">
                <a:solidFill>
                  <a:srgbClr val="EA161F"/>
                </a:solidFill>
              </a:rPr>
              <a:t>[X] h</a:t>
            </a:r>
            <a:r>
              <a:rPr sz="1600" b="0" i="0">
                <a:solidFill>
                  <a:srgbClr val="000000"/>
                </a:solidFill>
              </a:rPr>
              <a:t>  saved per case</a:t>
            </a:r>
          </a:p>
          <a:p>
            <a:pPr algn="l">
              <a:spcAft>
                <a:spcPts val="400"/>
              </a:spcAft>
            </a:pPr>
            <a:r>
              <a:rPr sz="1600" b="0" i="0">
                <a:solidFill>
                  <a:srgbClr val="000000"/>
                </a:solidFill>
              </a:rPr>
              <a:t>× 300 cases a year = [XXX] officer hours</a:t>
            </a:r>
          </a:p>
        </p:txBody>
      </p:sp>
      <p:cxnSp>
        <p:nvCxnSpPr>
          <p:cNvPr id="909" name="Connector 908"/>
          <p:cNvCxnSpPr/>
          <p:nvPr/>
        </p:nvCxnSpPr>
        <p:spPr>
          <a:xfrm>
            <a:off x="7086600" y="4069080"/>
            <a:ext cx="4754880" cy="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7086600" y="4251960"/>
            <a:ext cx="4754880" cy="1828800"/>
          </a:xfrm>
          <a:prstGeom prst="rect">
            <a:avLst/>
          </a:prstGeom>
          <a:noFill/>
        </p:spPr>
        <p:txBody>
          <a:bodyPr wrap="square" lIns="0" rIns="0" tIns="0" bIns="0" anchor="t">
            <a:spAutoFit/>
          </a:bodyPr>
          <a:lstStyle/>
          <a:p>
            <a:pPr algn="l">
              <a:spcAft>
                <a:spcPts val="1000"/>
              </a:spcAft>
            </a:pPr>
            <a:r>
              <a:rPr sz="1500" b="1" i="0">
                <a:solidFill>
                  <a:srgbClr val="000000"/>
                </a:solidFill>
              </a:rPr>
              <a:t>[XX] tokens</a:t>
            </a:r>
            <a:r>
              <a:rPr sz="1500" b="0" i="0">
                <a:solidFill>
                  <a:srgbClr val="000000"/>
                </a:solidFill>
              </a:rPr>
              <a:t> per case on Apertus</a:t>
            </a:r>
          </a:p>
          <a:p>
            <a:pPr algn="l">
              <a:spcAft>
                <a:spcPts val="1000"/>
              </a:spcAft>
            </a:pPr>
            <a:r>
              <a:rPr sz="1500" b="1" i="0">
                <a:solidFill>
                  <a:srgbClr val="000000"/>
                </a:solidFill>
              </a:rPr>
              <a:t>[XX] pages</a:t>
            </a:r>
            <a:r>
              <a:rPr sz="1500" b="0" i="0">
                <a:solidFill>
                  <a:srgbClr val="000000"/>
                </a:solidFill>
              </a:rPr>
              <a:t> crawled across 3 sources</a:t>
            </a:r>
          </a:p>
          <a:p>
            <a:pPr algn="l">
              <a:spcAft>
                <a:spcPts val="1000"/>
              </a:spcAft>
            </a:pPr>
            <a:r>
              <a:rPr sz="1500" b="1" i="0">
                <a:solidFill>
                  <a:srgbClr val="000000"/>
                </a:solidFill>
              </a:rPr>
              <a:t>Runs on CSCS or one GPU box</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this means for Bern's economy</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17</a:t>
            </a:fld>
            <a:endParaRPr lang="de-CH" dirty="0"/>
          </a:p>
        </p:txBody>
      </p:sp>
      <p:sp>
        <p:nvSpPr>
          <p:cNvPr id="903" name="TextBox 902"/>
          <p:cNvSpPr txBox="1"/>
          <p:nvPr/>
        </p:nvSpPr>
        <p:spPr>
          <a:xfrm>
            <a:off x="84124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1</a:t>
            </a:r>
          </a:p>
        </p:txBody>
      </p:sp>
      <p:sp>
        <p:nvSpPr>
          <p:cNvPr id="904" name="TextBox 903"/>
          <p:cNvSpPr txBox="1"/>
          <p:nvPr/>
        </p:nvSpPr>
        <p:spPr>
          <a:xfrm>
            <a:off x="143560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faster</a:t>
            </a:r>
          </a:p>
          <a:p>
            <a:pPr algn="l">
              <a:spcAft>
                <a:spcPts val="400"/>
              </a:spcAft>
            </a:pPr>
            <a:r>
              <a:rPr sz="1400" b="0" i="0">
                <a:solidFill>
                  <a:srgbClr val="000000"/>
                </a:solidFill>
              </a:rPr>
              <a:t>The teaser is ready before the other cantons have finished reading.</a:t>
            </a:r>
          </a:p>
        </p:txBody>
      </p:sp>
      <p:sp>
        <p:nvSpPr>
          <p:cNvPr id="905" name="TextBox 904"/>
          <p:cNvSpPr txBox="1"/>
          <p:nvPr/>
        </p:nvSpPr>
        <p:spPr>
          <a:xfrm>
            <a:off x="4590288" y="192024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2</a:t>
            </a:r>
          </a:p>
        </p:txBody>
      </p:sp>
      <p:sp>
        <p:nvSpPr>
          <p:cNvPr id="906" name="TextBox 905"/>
          <p:cNvSpPr txBox="1"/>
          <p:nvPr/>
        </p:nvSpPr>
        <p:spPr>
          <a:xfrm>
            <a:off x="5184648" y="196596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Bid smarter</a:t>
            </a:r>
          </a:p>
          <a:p>
            <a:pPr algn="l">
              <a:spcAft>
                <a:spcPts val="400"/>
              </a:spcAft>
            </a:pPr>
            <a:r>
              <a:rPr sz="1400" b="0" i="0">
                <a:solidFill>
                  <a:srgbClr val="000000"/>
                </a:solidFill>
              </a:rPr>
              <a:t>Only where Bern is strong, so every pitch is credible.</a:t>
            </a:r>
          </a:p>
        </p:txBody>
      </p:sp>
      <p:sp>
        <p:nvSpPr>
          <p:cNvPr id="907" name="TextBox 906"/>
          <p:cNvSpPr txBox="1"/>
          <p:nvPr/>
        </p:nvSpPr>
        <p:spPr>
          <a:xfrm>
            <a:off x="84124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3</a:t>
            </a:r>
          </a:p>
        </p:txBody>
      </p:sp>
      <p:sp>
        <p:nvSpPr>
          <p:cNvPr id="908" name="TextBox 907"/>
          <p:cNvSpPr txBox="1"/>
          <p:nvPr/>
        </p:nvSpPr>
        <p:spPr>
          <a:xfrm>
            <a:off x="143560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Invest smarter</a:t>
            </a:r>
          </a:p>
          <a:p>
            <a:pPr algn="l">
              <a:spcAft>
                <a:spcPts val="400"/>
              </a:spcAft>
            </a:pPr>
            <a:r>
              <a:rPr sz="1400" b="0" i="0">
                <a:solidFill>
                  <a:srgbClr val="000000"/>
                </a:solidFill>
              </a:rPr>
              <a:t>The gap report shows where demand meets no Bern supply.</a:t>
            </a:r>
          </a:p>
        </p:txBody>
      </p:sp>
      <p:sp>
        <p:nvSpPr>
          <p:cNvPr id="909" name="TextBox 908"/>
          <p:cNvSpPr txBox="1"/>
          <p:nvPr/>
        </p:nvSpPr>
        <p:spPr>
          <a:xfrm>
            <a:off x="4590288" y="3611880"/>
            <a:ext cx="548640" cy="548640"/>
          </a:xfrm>
          <a:prstGeom prst="rect">
            <a:avLst/>
          </a:prstGeom>
          <a:noFill/>
        </p:spPr>
        <p:txBody>
          <a:bodyPr wrap="square" lIns="0" rIns="0" tIns="0" bIns="0" anchor="t">
            <a:spAutoFit/>
          </a:bodyPr>
          <a:lstStyle/>
          <a:p>
            <a:pPr algn="l">
              <a:spcAft>
                <a:spcPts val="600"/>
              </a:spcAft>
            </a:pPr>
            <a:r>
              <a:rPr sz="2800" b="1" i="0">
                <a:solidFill>
                  <a:srgbClr val="EA161F"/>
                </a:solidFill>
              </a:rPr>
              <a:t>4</a:t>
            </a:r>
          </a:p>
        </p:txBody>
      </p:sp>
      <p:sp>
        <p:nvSpPr>
          <p:cNvPr id="910" name="TextBox 909"/>
          <p:cNvSpPr txBox="1"/>
          <p:nvPr/>
        </p:nvSpPr>
        <p:spPr>
          <a:xfrm>
            <a:off x="5184648" y="3657600"/>
            <a:ext cx="2926080" cy="1463040"/>
          </a:xfrm>
          <a:prstGeom prst="rect">
            <a:avLst/>
          </a:prstGeom>
          <a:noFill/>
        </p:spPr>
        <p:txBody>
          <a:bodyPr wrap="square" lIns="0" rIns="0" tIns="0" bIns="0" anchor="t">
            <a:spAutoFit/>
          </a:bodyPr>
          <a:lstStyle/>
          <a:p>
            <a:pPr algn="l">
              <a:spcAft>
                <a:spcPts val="400"/>
              </a:spcAft>
            </a:pPr>
            <a:r>
              <a:rPr sz="1800" b="1" i="0">
                <a:solidFill>
                  <a:srgbClr val="000000"/>
                </a:solidFill>
              </a:rPr>
              <a:t>Small labs win too</a:t>
            </a:r>
          </a:p>
          <a:p>
            <a:pPr algn="l">
              <a:spcAft>
                <a:spcPts val="400"/>
              </a:spcAft>
            </a:pPr>
            <a:r>
              <a:rPr sz="1400" b="0" i="0">
                <a:solidFill>
                  <a:srgbClr val="000000"/>
                </a:solidFill>
              </a:rPr>
              <a:t>Companies find the one-page group, not just the big institutes.</a:t>
            </a:r>
          </a:p>
        </p:txBody>
      </p:sp>
      <p:cxnSp>
        <p:nvCxnSpPr>
          <p:cNvPr id="911" name="Connector 910"/>
          <p:cNvCxnSpPr/>
          <p:nvPr/>
        </p:nvCxnSpPr>
        <p:spPr>
          <a:xfrm>
            <a:off x="8503920" y="1920240"/>
            <a:ext cx="0" cy="4206239"/>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8869680" y="1920240"/>
            <a:ext cx="2971800" cy="365760"/>
          </a:xfrm>
          <a:prstGeom prst="rect">
            <a:avLst/>
          </a:prstGeom>
          <a:noFill/>
        </p:spPr>
        <p:txBody>
          <a:bodyPr wrap="square" lIns="0" rIns="0" tIns="0" bIns="0" anchor="t">
            <a:spAutoFit/>
          </a:bodyPr>
          <a:lstStyle/>
          <a:p>
            <a:pPr algn="l">
              <a:spcAft>
                <a:spcPts val="600"/>
              </a:spcAft>
            </a:pPr>
            <a:r>
              <a:rPr sz="1400" b="0" i="0">
                <a:solidFill>
                  <a:srgbClr val="63737B"/>
                </a:solidFill>
              </a:rPr>
              <a:t>The opportunity</a:t>
            </a:r>
          </a:p>
        </p:txBody>
      </p:sp>
      <p:sp>
        <p:nvSpPr>
          <p:cNvPr id="913" name="TextBox 912"/>
          <p:cNvSpPr txBox="1"/>
          <p:nvPr/>
        </p:nvSpPr>
        <p:spPr>
          <a:xfrm>
            <a:off x="8869680" y="23317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500+</a:t>
            </a:r>
          </a:p>
        </p:txBody>
      </p:sp>
      <p:sp>
        <p:nvSpPr>
          <p:cNvPr id="914" name="TextBox 913"/>
          <p:cNvSpPr txBox="1"/>
          <p:nvPr/>
        </p:nvSpPr>
        <p:spPr>
          <a:xfrm>
            <a:off x="8869680" y="31546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active investment projects in the Greater Geneva Bern area, 2024</a:t>
            </a:r>
          </a:p>
        </p:txBody>
      </p:sp>
      <p:sp>
        <p:nvSpPr>
          <p:cNvPr id="915" name="TextBox 914"/>
          <p:cNvSpPr txBox="1"/>
          <p:nvPr/>
        </p:nvSpPr>
        <p:spPr>
          <a:xfrm>
            <a:off x="8869680" y="4160520"/>
            <a:ext cx="2971800" cy="822960"/>
          </a:xfrm>
          <a:prstGeom prst="rect">
            <a:avLst/>
          </a:prstGeom>
          <a:noFill/>
        </p:spPr>
        <p:txBody>
          <a:bodyPr wrap="square" lIns="0" rIns="0" tIns="0" bIns="0" anchor="t">
            <a:spAutoFit/>
          </a:bodyPr>
          <a:lstStyle/>
          <a:p>
            <a:pPr algn="l">
              <a:spcAft>
                <a:spcPts val="600"/>
              </a:spcAft>
            </a:pPr>
            <a:r>
              <a:rPr sz="4400" b="1" i="0">
                <a:solidFill>
                  <a:srgbClr val="000000"/>
                </a:solidFill>
              </a:rPr>
              <a:t>79</a:t>
            </a:r>
          </a:p>
        </p:txBody>
      </p:sp>
      <p:sp>
        <p:nvSpPr>
          <p:cNvPr id="916" name="TextBox 915"/>
          <p:cNvSpPr txBox="1"/>
          <p:nvPr/>
        </p:nvSpPr>
        <p:spPr>
          <a:xfrm>
            <a:off x="8869680" y="4983480"/>
            <a:ext cx="2971800" cy="914400"/>
          </a:xfrm>
          <a:prstGeom prst="rect">
            <a:avLst/>
          </a:prstGeom>
          <a:noFill/>
        </p:spPr>
        <p:txBody>
          <a:bodyPr wrap="square" lIns="0" rIns="0" tIns="0" bIns="0" anchor="t">
            <a:spAutoFit/>
          </a:bodyPr>
          <a:lstStyle/>
          <a:p>
            <a:pPr algn="l">
              <a:spcAft>
                <a:spcPts val="600"/>
              </a:spcAft>
            </a:pPr>
            <a:r>
              <a:rPr sz="1300" b="0" i="0">
                <a:solidFill>
                  <a:srgbClr val="000000"/>
                </a:solidFill>
              </a:rPr>
              <a:t>companies settled in its member cantons that year</a:t>
            </a:r>
          </a:p>
        </p:txBody>
      </p:sp>
      <p:sp>
        <p:nvSpPr>
          <p:cNvPr id="917" name="TextBox 916"/>
          <p:cNvSpPr txBox="1"/>
          <p:nvPr/>
        </p:nvSpPr>
        <p:spPr>
          <a:xfrm>
            <a:off x="8869680" y="5897880"/>
            <a:ext cx="2971800" cy="320040"/>
          </a:xfrm>
          <a:prstGeom prst="rect">
            <a:avLst/>
          </a:prstGeom>
          <a:noFill/>
        </p:spPr>
        <p:txBody>
          <a:bodyPr wrap="square" lIns="0" rIns="0" tIns="0" bIns="0" anchor="t">
            <a:spAutoFit/>
          </a:bodyPr>
          <a:lstStyle/>
          <a:p>
            <a:pPr algn="l">
              <a:spcAft>
                <a:spcPts val="600"/>
              </a:spcAft>
            </a:pPr>
            <a:r>
              <a:rPr sz="1000" b="0" i="0">
                <a:solidFill>
                  <a:srgbClr val="63737B"/>
                </a:solidFill>
              </a:rPr>
              <a:t>Source: GGBa annual report 2024</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How it works</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18</a:t>
            </a:fld>
            <a:endParaRPr lang="de-CH" dirty="0"/>
          </a:p>
        </p:txBody>
      </p:sp>
      <p:sp>
        <p:nvSpPr>
          <p:cNvPr id="903" name="TextBox 902"/>
          <p:cNvSpPr txBox="1"/>
          <p:nvPr/>
        </p:nvSpPr>
        <p:spPr>
          <a:xfrm>
            <a:off x="841248" y="201168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Ingest
(offline)</a:t>
            </a:r>
          </a:p>
        </p:txBody>
      </p:sp>
      <p:sp>
        <p:nvSpPr>
          <p:cNvPr id="904" name="Rectangle 903"/>
          <p:cNvSpPr/>
          <p:nvPr/>
        </p:nvSpPr>
        <p:spPr>
          <a:xfrm>
            <a:off x="2423160"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5" name="TextBox 904"/>
          <p:cNvSpPr txBox="1"/>
          <p:nvPr/>
        </p:nvSpPr>
        <p:spPr>
          <a:xfrm>
            <a:off x="2514600"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Polite crawler</a:t>
            </a:r>
          </a:p>
          <a:p>
            <a:pPr algn="l">
              <a:spcAft>
                <a:spcPts val="200"/>
              </a:spcAft>
            </a:pPr>
            <a:r>
              <a:rPr sz="1100" b="0" i="0">
                <a:solidFill>
                  <a:srgbClr val="63737B"/>
                </a:solidFill>
              </a:rPr>
              <a:t>robots, rate limit, sources.yaml</a:t>
            </a:r>
          </a:p>
        </p:txBody>
      </p:sp>
      <p:sp>
        <p:nvSpPr>
          <p:cNvPr id="906" name="Rectangle 905"/>
          <p:cNvSpPr/>
          <p:nvPr/>
        </p:nvSpPr>
        <p:spPr>
          <a:xfrm>
            <a:off x="4027931"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7" name="TextBox 906"/>
          <p:cNvSpPr txBox="1"/>
          <p:nvPr/>
        </p:nvSpPr>
        <p:spPr>
          <a:xfrm>
            <a:off x="4119371"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Clean + chunk</a:t>
            </a:r>
          </a:p>
          <a:p>
            <a:pPr algn="l">
              <a:spcAft>
                <a:spcPts val="200"/>
              </a:spcAft>
            </a:pPr>
            <a:r>
              <a:rPr sz="1100" b="0" i="0">
                <a:solidFill>
                  <a:srgbClr val="63737B"/>
                </a:solidFill>
              </a:rPr>
              <a:t>3 languages</a:t>
            </a:r>
          </a:p>
        </p:txBody>
      </p:sp>
      <p:sp>
        <p:nvSpPr>
          <p:cNvPr id="908" name="Rectangle 907"/>
          <p:cNvSpPr/>
          <p:nvPr/>
        </p:nvSpPr>
        <p:spPr>
          <a:xfrm>
            <a:off x="5632704"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9" name="TextBox 908"/>
          <p:cNvSpPr txBox="1"/>
          <p:nvPr/>
        </p:nvSpPr>
        <p:spPr>
          <a:xfrm>
            <a:off x="5724144"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Extract</a:t>
            </a:r>
          </a:p>
          <a:p>
            <a:pPr algn="l">
              <a:spcAft>
                <a:spcPts val="200"/>
              </a:spcAft>
            </a:pPr>
            <a:r>
              <a:rPr sz="1100" b="0" i="0">
                <a:solidFill>
                  <a:srgbClr val="63737B"/>
                </a:solidFill>
              </a:rPr>
              <a:t>Apertus 8B, quotes required</a:t>
            </a:r>
          </a:p>
        </p:txBody>
      </p:sp>
      <p:sp>
        <p:nvSpPr>
          <p:cNvPr id="910" name="Rectangle 909"/>
          <p:cNvSpPr/>
          <p:nvPr/>
        </p:nvSpPr>
        <p:spPr>
          <a:xfrm>
            <a:off x="7237475" y="201168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1" name="TextBox 910"/>
          <p:cNvSpPr txBox="1"/>
          <p:nvPr/>
        </p:nvSpPr>
        <p:spPr>
          <a:xfrm>
            <a:off x="7328915"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Verify</a:t>
            </a:r>
          </a:p>
          <a:p>
            <a:pPr algn="l">
              <a:spcAft>
                <a:spcPts val="200"/>
              </a:spcAft>
            </a:pPr>
            <a:r>
              <a:rPr sz="1100" b="0" i="0">
                <a:solidFill>
                  <a:srgbClr val="63737B"/>
                </a:solidFill>
              </a:rPr>
              <a:t>quote must exist in page</a:t>
            </a:r>
          </a:p>
        </p:txBody>
      </p:sp>
      <p:sp>
        <p:nvSpPr>
          <p:cNvPr id="912" name="Rectangle 911"/>
          <p:cNvSpPr/>
          <p:nvPr/>
        </p:nvSpPr>
        <p:spPr>
          <a:xfrm>
            <a:off x="8842248"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3" name="TextBox 912"/>
          <p:cNvSpPr txBox="1"/>
          <p:nvPr/>
        </p:nvSpPr>
        <p:spPr>
          <a:xfrm>
            <a:off x="8933688"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Resolve</a:t>
            </a:r>
          </a:p>
          <a:p>
            <a:pPr algn="l">
              <a:spcAft>
                <a:spcPts val="200"/>
              </a:spcAft>
            </a:pPr>
            <a:r>
              <a:rPr sz="1100" b="0" i="0">
                <a:solidFill>
                  <a:srgbClr val="63737B"/>
                </a:solidFill>
              </a:rPr>
              <a:t>merge people and units</a:t>
            </a:r>
          </a:p>
        </p:txBody>
      </p:sp>
      <p:sp>
        <p:nvSpPr>
          <p:cNvPr id="914" name="Rectangle 913"/>
          <p:cNvSpPr/>
          <p:nvPr/>
        </p:nvSpPr>
        <p:spPr>
          <a:xfrm>
            <a:off x="10447019" y="201168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5" name="TextBox 914"/>
          <p:cNvSpPr txBox="1"/>
          <p:nvPr/>
        </p:nvSpPr>
        <p:spPr>
          <a:xfrm>
            <a:off x="10538459" y="208483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Graph + index</a:t>
            </a:r>
          </a:p>
          <a:p>
            <a:pPr algn="l">
              <a:spcAft>
                <a:spcPts val="200"/>
              </a:spcAft>
            </a:pPr>
            <a:r>
              <a:rPr sz="1100" b="0" i="0">
                <a:solidFill>
                  <a:srgbClr val="63737B"/>
                </a:solidFill>
              </a:rPr>
              <a:t>BM25 + BGE-M3</a:t>
            </a:r>
          </a:p>
        </p:txBody>
      </p:sp>
      <p:sp>
        <p:nvSpPr>
          <p:cNvPr id="916" name="TextBox 915"/>
          <p:cNvSpPr txBox="1"/>
          <p:nvPr/>
        </p:nvSpPr>
        <p:spPr>
          <a:xfrm>
            <a:off x="841248" y="3657600"/>
            <a:ext cx="1463040" cy="914400"/>
          </a:xfrm>
          <a:prstGeom prst="rect">
            <a:avLst/>
          </a:prstGeom>
          <a:noFill/>
        </p:spPr>
        <p:txBody>
          <a:bodyPr wrap="square" lIns="0" rIns="0" tIns="0" bIns="0" anchor="ctr">
            <a:spAutoFit/>
          </a:bodyPr>
          <a:lstStyle/>
          <a:p>
            <a:pPr algn="l">
              <a:spcAft>
                <a:spcPts val="600"/>
              </a:spcAft>
            </a:pPr>
            <a:r>
              <a:rPr sz="1400" b="1" i="0">
                <a:solidFill>
                  <a:srgbClr val="000000"/>
                </a:solidFill>
              </a:rPr>
              <a:t>Query
(online)</a:t>
            </a:r>
          </a:p>
        </p:txBody>
      </p:sp>
      <p:sp>
        <p:nvSpPr>
          <p:cNvPr id="917" name="Rectangle 916"/>
          <p:cNvSpPr/>
          <p:nvPr/>
        </p:nvSpPr>
        <p:spPr>
          <a:xfrm>
            <a:off x="2423160"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8" name="TextBox 917"/>
          <p:cNvSpPr txBox="1"/>
          <p:nvPr/>
        </p:nvSpPr>
        <p:spPr>
          <a:xfrm>
            <a:off x="2514600"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Needs</a:t>
            </a:r>
          </a:p>
          <a:p>
            <a:pPr algn="l">
              <a:spcAft>
                <a:spcPts val="200"/>
              </a:spcAft>
            </a:pPr>
            <a:r>
              <a:rPr sz="1100" b="0" i="0">
                <a:solidFill>
                  <a:srgbClr val="63737B"/>
                </a:solidFill>
              </a:rPr>
              <a:t>Apertus 70B on CSCS</a:t>
            </a:r>
          </a:p>
        </p:txBody>
      </p:sp>
      <p:sp>
        <p:nvSpPr>
          <p:cNvPr id="919" name="Rectangle 918"/>
          <p:cNvSpPr/>
          <p:nvPr/>
        </p:nvSpPr>
        <p:spPr>
          <a:xfrm>
            <a:off x="4027931"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0" name="TextBox 919"/>
          <p:cNvSpPr txBox="1"/>
          <p:nvPr/>
        </p:nvSpPr>
        <p:spPr>
          <a:xfrm>
            <a:off x="4119371"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Expand</a:t>
            </a:r>
          </a:p>
          <a:p>
            <a:pPr algn="l">
              <a:spcAft>
                <a:spcPts val="200"/>
              </a:spcAft>
            </a:pPr>
            <a:r>
              <a:rPr sz="1100" b="0" i="0">
                <a:solidFill>
                  <a:srgbClr val="63737B"/>
                </a:solidFill>
              </a:rPr>
              <a:t>MeSH + rewrites, DE/FR/EN</a:t>
            </a:r>
          </a:p>
        </p:txBody>
      </p:sp>
      <p:sp>
        <p:nvSpPr>
          <p:cNvPr id="921" name="Rectangle 920"/>
          <p:cNvSpPr/>
          <p:nvPr/>
        </p:nvSpPr>
        <p:spPr>
          <a:xfrm>
            <a:off x="5632704"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2" name="TextBox 921"/>
          <p:cNvSpPr txBox="1"/>
          <p:nvPr/>
        </p:nvSpPr>
        <p:spPr>
          <a:xfrm>
            <a:off x="5724144"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Retrieve</a:t>
            </a:r>
          </a:p>
          <a:p>
            <a:pPr algn="l">
              <a:spcAft>
                <a:spcPts val="200"/>
              </a:spcAft>
            </a:pPr>
            <a:r>
              <a:rPr sz="1100" b="0" i="0">
                <a:solidFill>
                  <a:srgbClr val="63737B"/>
                </a:solidFill>
              </a:rPr>
              <a:t>hybrid, RRF</a:t>
            </a:r>
          </a:p>
        </p:txBody>
      </p:sp>
      <p:sp>
        <p:nvSpPr>
          <p:cNvPr id="923" name="Rectangle 922"/>
          <p:cNvSpPr/>
          <p:nvPr/>
        </p:nvSpPr>
        <p:spPr>
          <a:xfrm>
            <a:off x="7237475"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4" name="TextBox 923"/>
          <p:cNvSpPr txBox="1"/>
          <p:nvPr/>
        </p:nvSpPr>
        <p:spPr>
          <a:xfrm>
            <a:off x="7328915"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Aggregate</a:t>
            </a:r>
          </a:p>
          <a:p>
            <a:pPr algn="l">
              <a:spcAft>
                <a:spcPts val="200"/>
              </a:spcAft>
            </a:pPr>
            <a:r>
              <a:rPr sz="1100" b="0" i="0">
                <a:solidFill>
                  <a:srgbClr val="63737B"/>
                </a:solidFill>
              </a:rPr>
              <a:t>chunks → experts</a:t>
            </a:r>
          </a:p>
        </p:txBody>
      </p:sp>
      <p:sp>
        <p:nvSpPr>
          <p:cNvPr id="925" name="Rectangle 924"/>
          <p:cNvSpPr/>
          <p:nvPr/>
        </p:nvSpPr>
        <p:spPr>
          <a:xfrm>
            <a:off x="8842248" y="3657600"/>
            <a:ext cx="1376172" cy="114300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6" name="TextBox 925"/>
          <p:cNvSpPr txBox="1"/>
          <p:nvPr/>
        </p:nvSpPr>
        <p:spPr>
          <a:xfrm>
            <a:off x="8933688"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Rerank</a:t>
            </a:r>
          </a:p>
          <a:p>
            <a:pPr algn="l">
              <a:spcAft>
                <a:spcPts val="200"/>
              </a:spcAft>
            </a:pPr>
            <a:r>
              <a:rPr sz="1100" b="0" i="0">
                <a:solidFill>
                  <a:srgbClr val="63737B"/>
                </a:solidFill>
              </a:rPr>
              <a:t>cross-encoder + fairness</a:t>
            </a:r>
          </a:p>
        </p:txBody>
      </p:sp>
      <p:sp>
        <p:nvSpPr>
          <p:cNvPr id="927" name="Rectangle 926"/>
          <p:cNvSpPr/>
          <p:nvPr/>
        </p:nvSpPr>
        <p:spPr>
          <a:xfrm>
            <a:off x="10447019" y="3657600"/>
            <a:ext cx="1376172" cy="1143000"/>
          </a:xfrm>
          <a:prstGeom prst="rect">
            <a:avLst/>
          </a:prstGeom>
          <a:solidFill>
            <a:srgbClr val="EEF1F2"/>
          </a:solidFill>
          <a:ln w="22225">
            <a:solidFill>
              <a:srgbClr val="EA16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8" name="TextBox 927"/>
          <p:cNvSpPr txBox="1"/>
          <p:nvPr/>
        </p:nvSpPr>
        <p:spPr>
          <a:xfrm>
            <a:off x="10538459" y="3730752"/>
            <a:ext cx="1193292" cy="1005840"/>
          </a:xfrm>
          <a:prstGeom prst="rect">
            <a:avLst/>
          </a:prstGeom>
          <a:noFill/>
        </p:spPr>
        <p:txBody>
          <a:bodyPr wrap="square" lIns="0" rIns="0" tIns="0" bIns="0" anchor="t">
            <a:spAutoFit/>
          </a:bodyPr>
          <a:lstStyle/>
          <a:p>
            <a:pPr algn="l">
              <a:spcAft>
                <a:spcPts val="200"/>
              </a:spcAft>
            </a:pPr>
            <a:r>
              <a:rPr sz="1300" b="1" i="0">
                <a:solidFill>
                  <a:srgbClr val="000000"/>
                </a:solidFill>
              </a:rPr>
              <a:t>Explain</a:t>
            </a:r>
          </a:p>
          <a:p>
            <a:pPr algn="l">
              <a:spcAft>
                <a:spcPts val="200"/>
              </a:spcAft>
            </a:pPr>
            <a:r>
              <a:rPr sz="1100" b="0" i="0">
                <a:solidFill>
                  <a:srgbClr val="63737B"/>
                </a:solidFill>
              </a:rPr>
              <a:t>grounded reasons, [n] cites</a:t>
            </a:r>
          </a:p>
        </p:txBody>
      </p:sp>
      <p:sp>
        <p:nvSpPr>
          <p:cNvPr id="929" name="TextBox 928"/>
          <p:cNvSpPr txBox="1"/>
          <p:nvPr/>
        </p:nvSpPr>
        <p:spPr>
          <a:xfrm>
            <a:off x="841248" y="5166360"/>
            <a:ext cx="10972800" cy="1005840"/>
          </a:xfrm>
          <a:prstGeom prst="rect">
            <a:avLst/>
          </a:prstGeom>
          <a:noFill/>
        </p:spPr>
        <p:txBody>
          <a:bodyPr wrap="square" lIns="0" rIns="0" tIns="0" bIns="0" anchor="t">
            <a:spAutoFit/>
          </a:bodyPr>
          <a:lstStyle/>
          <a:p>
            <a:pPr algn="l">
              <a:spcAft>
                <a:spcPts val="600"/>
              </a:spcAft>
            </a:pPr>
            <a:r>
              <a:rPr sz="1400" b="1" i="0">
                <a:solidFill>
                  <a:srgbClr val="63737B"/>
                </a:solidFill>
              </a:rPr>
              <a:t>Evidence table: </a:t>
            </a:r>
            <a:r>
              <a:rPr sz="1400" b="0" i="0">
                <a:solidFill>
                  <a:srgbClr val="63737B"/>
                </a:solidFill>
              </a:rPr>
              <a:t>every fact points to (quote, URL, fetch date). No evidence row, no fact in the UI. Red = Apertus. Mutz calls the same functions as the UI.</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“Why isn't Prof. X on the list?”</a:t>
            </a:r>
          </a:p>
        </p:txBody>
      </p:sp>
      <p:sp>
        <p:nvSpPr>
          <p:cNvPr id="900" name="Datumsplatzhalter 3">
            <a:extLst>
              <a:ext uri="{FF2B5EF4-FFF2-40B4-BE49-F238E27FC236}">
                <a16:creationId xmlns:a16="http://schemas.microsoft.com/office/drawing/2014/main" id="{7759626A-D212-47F9-AD91-396A99606B59}"/>
              </a:ext>
            </a:extLst>
          </p:cNvPr>
          <p:cNvSpPr>
            <a:spLocks noGrp="1"/>
          </p:cNvSpPr>
          <p:nvPr>
            <p:ph type="dt" sz="half" idx="10"/>
          </p:nvPr>
        </p:nvSpPr>
        <p:spPr/>
        <p:txBody>
          <a:bodyPr/>
          <a:lstStyle/>
          <a:p>
            <a:r>
              <a:rPr lang="de-CH" smtClean="0"/>
              <a:t>19 October 2026</a:t>
            </a:r>
            <a:endParaRPr lang="de-CH" dirty="0"/>
          </a:p>
        </p:txBody>
      </p:sp>
      <p:sp>
        <p:nvSpPr>
          <p:cNvPr id="901" name="Fußzeilenplatzhalter 4">
            <a:extLst>
              <a:ext uri="{FF2B5EF4-FFF2-40B4-BE49-F238E27FC236}">
                <a16:creationId xmlns:a16="http://schemas.microsoft.com/office/drawing/2014/main" id="{C7FF4EBF-1F95-422C-ABDC-BAC99BA2526A}"/>
              </a:ext>
            </a:extLst>
          </p:cNvPr>
          <p:cNvSpPr>
            <a:spLocks noGrp="1"/>
          </p:cNvSpPr>
          <p:nvPr>
            <p:ph type="ftr" sz="quarter" idx="11"/>
          </p:nvPr>
        </p:nvSpPr>
        <p:spPr/>
        <p:txBody>
          <a:bodyPr/>
          <a:lstStyle/>
          <a:p>
            <a:r>
              <a:rPr lang="de-CH"/>
              <a:t>Hack Apertus Liebefeld · Prototype</a:t>
            </a:r>
            <a:endParaRPr lang="de-CH" dirty="0"/>
          </a:p>
        </p:txBody>
      </p:sp>
      <p:sp>
        <p:nvSpPr>
          <p:cNvPr id="902" name="Foliennummernplatzhalter 5">
            <a:extLst>
              <a:ext uri="{FF2B5EF4-FFF2-40B4-BE49-F238E27FC236}">
                <a16:creationId xmlns:a16="http://schemas.microsoft.com/office/drawing/2014/main" id="{56A97AFD-16FE-4EA5-A888-4A84A29DE559}"/>
              </a:ext>
            </a:extLst>
          </p:cNvPr>
          <p:cNvSpPr>
            <a:spLocks noGrp="1"/>
          </p:cNvSpPr>
          <p:nvPr>
            <p:ph type="sldNum" sz="quarter" idx="12"/>
          </p:nvPr>
        </p:nvSpPr>
        <p:spPr/>
        <p:txBody>
          <a:bodyPr/>
          <a:lstStyle/>
          <a:p>
            <a:fld id="{442AD375-037F-43D0-B059-5172DA06796A}" type="slidenum">
              <a:rPr lang="de-CH" smtClean="0"/>
              <a:pPr/>
              <a:t>19</a:t>
            </a:fld>
            <a:endParaRPr lang="de-CH" dirty="0"/>
          </a:p>
        </p:txBody>
      </p:sp>
      <p:sp>
        <p:nvSpPr>
          <p:cNvPr id="903" name="Rectangle 902"/>
          <p:cNvSpPr/>
          <p:nvPr/>
        </p:nvSpPr>
        <p:spPr>
          <a:xfrm>
            <a:off x="841248" y="1920240"/>
            <a:ext cx="6583680" cy="822960"/>
          </a:xfrm>
          <a:prstGeom prst="rect">
            <a:avLst/>
          </a:prstGeom>
          <a:solidFill>
            <a:srgbClr val="EE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4" name="TextBox 903"/>
          <p:cNvSpPr txBox="1"/>
          <p:nvPr/>
        </p:nvSpPr>
        <p:spPr>
          <a:xfrm>
            <a:off x="1024128" y="1920240"/>
            <a:ext cx="6217920" cy="822960"/>
          </a:xfrm>
          <a:prstGeom prst="rect">
            <a:avLst/>
          </a:prstGeom>
          <a:noFill/>
        </p:spPr>
        <p:txBody>
          <a:bodyPr wrap="square" lIns="0" rIns="0" tIns="0" bIns="0" anchor="ctr">
            <a:spAutoFit/>
          </a:bodyPr>
          <a:lstStyle/>
          <a:p>
            <a:pPr algn="l">
              <a:spcAft>
                <a:spcPts val="600"/>
              </a:spcAft>
            </a:pPr>
            <a:r>
              <a:rPr sz="1200" b="0" i="0">
                <a:solidFill>
                  <a:srgbClr val="63737B"/>
                </a:solidFill>
              </a:rPr>
              <a:t>Officer  </a:t>
            </a:r>
            <a:r>
              <a:rPr sz="1600" b="1" i="0">
                <a:solidFill>
                  <a:srgbClr val="000000"/>
                </a:solidFill>
              </a:rPr>
              <a:t>Why isn't Prof. [X] in the results?</a:t>
            </a:r>
          </a:p>
        </p:txBody>
      </p:sp>
      <p:sp>
        <p:nvSpPr>
          <p:cNvPr id="905" name="Rectangle 904"/>
          <p:cNvSpPr/>
          <p:nvPr/>
        </p:nvSpPr>
        <p:spPr>
          <a:xfrm>
            <a:off x="841248" y="2926080"/>
            <a:ext cx="6583680" cy="1920240"/>
          </a:xfrm>
          <a:prstGeom prst="rect">
            <a:avLst/>
          </a:prstGeom>
          <a:no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6" name="TextBox 905"/>
          <p:cNvSpPr txBox="1"/>
          <p:nvPr/>
        </p:nvSpPr>
        <p:spPr>
          <a:xfrm>
            <a:off x="1024128" y="3017520"/>
            <a:ext cx="6217920" cy="1783080"/>
          </a:xfrm>
          <a:prstGeom prst="rect">
            <a:avLst/>
          </a:prstGeom>
          <a:noFill/>
        </p:spPr>
        <p:txBody>
          <a:bodyPr wrap="square" lIns="0" rIns="0" tIns="0" bIns="0" anchor="t">
            <a:spAutoFit/>
          </a:bodyPr>
          <a:lstStyle/>
          <a:p>
            <a:pPr algn="l">
              <a:spcAft>
                <a:spcPts val="800"/>
              </a:spcAft>
            </a:pPr>
            <a:r>
              <a:rPr sz="1200" b="1" i="0">
                <a:solidFill>
                  <a:srgbClr val="EA161F"/>
                </a:solidFill>
              </a:rPr>
              <a:t>Mutz  </a:t>
            </a:r>
            <a:r>
              <a:rPr sz="1500" b="1" i="0">
                <a:solidFill>
                  <a:srgbClr val="000000"/>
                </a:solidFill>
              </a:rPr>
              <a:t>Prof. [X] is rank [N] for this need.</a:t>
            </a:r>
          </a:p>
          <a:p>
            <a:pPr algn="l">
              <a:spcAft>
                <a:spcPts val="800"/>
              </a:spcAft>
            </a:pPr>
            <a:r>
              <a:rPr sz="1500" b="0" i="0">
                <a:solidFill>
                  <a:srgbClr val="000000"/>
                </a:solidFill>
              </a:rPr>
              <a:t>I found [1] page about [topic] [1]. A strong match needs two independent pages, so I kept [X] below the top 10.</a:t>
            </a:r>
          </a:p>
          <a:p>
            <a:pPr algn="l">
              <a:spcAft>
                <a:spcPts val="800"/>
              </a:spcAft>
            </a:pPr>
            <a:r>
              <a:rPr sz="1500" b="0" i="0">
                <a:solidFill>
                  <a:srgbClr val="EA161F"/>
                </a:solidFill>
              </a:rPr>
              <a:t>Show the page  ·  Add to pitch anyway</a:t>
            </a:r>
          </a:p>
        </p:txBody>
      </p:sp>
      <p:pic>
        <p:nvPicPr>
          <p:cNvPr id="907" name="Picture 906" descr="head-card.png"/>
          <p:cNvPicPr>
            <a:picLocks noChangeAspect="1"/>
          </p:cNvPicPr>
          <p:nvPr/>
        </p:nvPicPr>
        <p:blipFill>
          <a:blip r:embed="rId2"/>
          <a:stretch>
            <a:fillRect/>
          </a:stretch>
        </p:blipFill>
        <p:spPr>
          <a:xfrm>
            <a:off x="841248" y="4983480"/>
            <a:ext cx="1234440" cy="1234440"/>
          </a:xfrm>
          <a:prstGeom prst="rect">
            <a:avLst/>
          </a:prstGeom>
        </p:spPr>
      </p:pic>
      <p:sp>
        <p:nvSpPr>
          <p:cNvPr id="908" name="TextBox 907"/>
          <p:cNvSpPr txBox="1"/>
          <p:nvPr/>
        </p:nvSpPr>
        <p:spPr>
          <a:xfrm>
            <a:off x="2194560" y="5120640"/>
            <a:ext cx="5212080" cy="1097280"/>
          </a:xfrm>
          <a:prstGeom prst="rect">
            <a:avLst/>
          </a:prstGeom>
          <a:noFill/>
        </p:spPr>
        <p:txBody>
          <a:bodyPr wrap="square" lIns="0" rIns="0" tIns="0" bIns="0" anchor="t">
            <a:spAutoFit/>
          </a:bodyPr>
          <a:lstStyle/>
          <a:p>
            <a:pPr algn="l">
              <a:spcAft>
                <a:spcPts val="600"/>
              </a:spcAft>
            </a:pPr>
            <a:r>
              <a:rPr sz="1400" b="0" i="0">
                <a:solidFill>
                  <a:srgbClr val="63737B"/>
                </a:solidFill>
              </a:rPr>
              <a:t>The numbers come from the ranking itself. Apertus only puts them into words.</a:t>
            </a:r>
          </a:p>
        </p:txBody>
      </p:sp>
      <p:cxnSp>
        <p:nvCxnSpPr>
          <p:cNvPr id="909" name="Connector 908"/>
          <p:cNvCxnSpPr/>
          <p:nvPr/>
        </p:nvCxnSpPr>
        <p:spPr>
          <a:xfrm>
            <a:off x="7818120" y="1920240"/>
            <a:ext cx="0" cy="4297680"/>
          </a:xfrm>
          <a:prstGeom prst="line">
            <a:avLst/>
          </a:prstGeom>
          <a:ln w="9525">
            <a:solidFill>
              <a:srgbClr val="B1B9BD"/>
            </a:solidFill>
          </a:ln>
        </p:spPr>
        <p:style>
          <a:lnRef idx="2">
            <a:schemeClr val="accent1"/>
          </a:lnRef>
          <a:fillRef idx="0">
            <a:schemeClr val="accent1"/>
          </a:fillRef>
          <a:effectRef idx="1">
            <a:schemeClr val="accent1"/>
          </a:effectRef>
          <a:fontRef idx="minor">
            <a:schemeClr val="tx1"/>
          </a:fontRef>
        </p:style>
      </p:cxnSp>
      <p:sp>
        <p:nvSpPr>
          <p:cNvPr id="910" name="TextBox 909"/>
          <p:cNvSpPr txBox="1"/>
          <p:nvPr/>
        </p:nvSpPr>
        <p:spPr>
          <a:xfrm>
            <a:off x="8183879" y="1920240"/>
            <a:ext cx="3657600" cy="365760"/>
          </a:xfrm>
          <a:prstGeom prst="rect">
            <a:avLst/>
          </a:prstGeom>
          <a:noFill/>
        </p:spPr>
        <p:txBody>
          <a:bodyPr wrap="square" lIns="0" rIns="0" tIns="0" bIns="0" anchor="t">
            <a:spAutoFit/>
          </a:bodyPr>
          <a:lstStyle/>
          <a:p>
            <a:pPr algn="l">
              <a:spcAft>
                <a:spcPts val="600"/>
              </a:spcAft>
            </a:pPr>
            <a:r>
              <a:rPr sz="1600" b="1" i="0">
                <a:solidFill>
                  <a:srgbClr val="000000"/>
                </a:solidFill>
              </a:rPr>
              <a:t>Every fact has a provenance</a:t>
            </a:r>
          </a:p>
        </p:txBody>
      </p:sp>
      <p:cxnSp>
        <p:nvCxnSpPr>
          <p:cNvPr id="911" name="Connector 910"/>
          <p:cNvCxnSpPr/>
          <p:nvPr/>
        </p:nvCxnSpPr>
        <p:spPr>
          <a:xfrm>
            <a:off x="8183879" y="2697480"/>
            <a:ext cx="640080" cy="0"/>
          </a:xfrm>
          <a:prstGeom prst="line">
            <a:avLst/>
          </a:prstGeom>
          <a:ln w="38100">
            <a:solidFill>
              <a:srgbClr val="000000"/>
            </a:solidFill>
          </a:ln>
        </p:spPr>
        <p:style>
          <a:lnRef idx="2">
            <a:schemeClr val="accent1"/>
          </a:lnRef>
          <a:fillRef idx="0">
            <a:schemeClr val="accent1"/>
          </a:fillRef>
          <a:effectRef idx="1">
            <a:schemeClr val="accent1"/>
          </a:effectRef>
          <a:fontRef idx="minor">
            <a:schemeClr val="tx1"/>
          </a:fontRef>
        </p:style>
      </p:cxnSp>
      <p:sp>
        <p:nvSpPr>
          <p:cNvPr id="912" name="TextBox 911"/>
          <p:cNvSpPr txBox="1"/>
          <p:nvPr/>
        </p:nvSpPr>
        <p:spPr>
          <a:xfrm>
            <a:off x="9006840" y="246888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Read</a:t>
            </a:r>
          </a:p>
          <a:p>
            <a:pPr algn="l">
              <a:spcAft>
                <a:spcPts val="200"/>
              </a:spcAft>
            </a:pPr>
            <a:r>
              <a:rPr sz="1300" b="0" i="0">
                <a:solidFill>
                  <a:srgbClr val="63737B"/>
                </a:solidFill>
              </a:rPr>
              <a:t>verified quote on the page</a:t>
            </a:r>
          </a:p>
        </p:txBody>
      </p:sp>
      <p:cxnSp>
        <p:nvCxnSpPr>
          <p:cNvPr id="913" name="Connector 912"/>
          <p:cNvCxnSpPr/>
          <p:nvPr/>
        </p:nvCxnSpPr>
        <p:spPr>
          <a:xfrm>
            <a:off x="8183879" y="3566160"/>
            <a:ext cx="640080" cy="0"/>
          </a:xfrm>
          <a:prstGeom prst="line">
            <a:avLst/>
          </a:prstGeom>
          <a:ln w="25400">
            <a:solidFill>
              <a:srgbClr val="63737B"/>
            </a:solidFill>
          </a:ln>
        </p:spPr>
        <p:style>
          <a:lnRef idx="2">
            <a:schemeClr val="accent1"/>
          </a:lnRef>
          <a:fillRef idx="0">
            <a:schemeClr val="accent1"/>
          </a:fillRef>
          <a:effectRef idx="1">
            <a:schemeClr val="accent1"/>
          </a:effectRef>
          <a:fontRef idx="minor">
            <a:schemeClr val="tx1"/>
          </a:fontRef>
        </p:style>
      </p:cxnSp>
      <p:sp>
        <p:nvSpPr>
          <p:cNvPr id="914" name="TextBox 913"/>
          <p:cNvSpPr txBox="1"/>
          <p:nvPr/>
        </p:nvSpPr>
        <p:spPr>
          <a:xfrm>
            <a:off x="9006840" y="333756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Derived</a:t>
            </a:r>
          </a:p>
          <a:p>
            <a:pPr algn="l">
              <a:spcAft>
                <a:spcPts val="200"/>
              </a:spcAft>
            </a:pPr>
            <a:r>
              <a:rPr sz="1300" b="0" i="0">
                <a:solidFill>
                  <a:srgbClr val="63737B"/>
                </a:solidFill>
              </a:rPr>
              <a:t>from a related page</a:t>
            </a:r>
          </a:p>
        </p:txBody>
      </p:sp>
      <p:cxnSp>
        <p:nvCxnSpPr>
          <p:cNvPr id="915" name="Connector 914"/>
          <p:cNvCxnSpPr/>
          <p:nvPr/>
        </p:nvCxnSpPr>
        <p:spPr>
          <a:xfrm>
            <a:off x="8183879" y="4434840"/>
            <a:ext cx="640080" cy="0"/>
          </a:xfrm>
          <a:prstGeom prst="line">
            <a:avLst/>
          </a:prstGeom>
          <a:ln w="25400">
            <a:solidFill>
              <a:srgbClr val="EA161F"/>
            </a:solidFill>
          </a:ln>
        </p:spPr>
        <p:style>
          <a:lnRef idx="2">
            <a:schemeClr val="accent1"/>
          </a:lnRef>
          <a:fillRef idx="0">
            <a:schemeClr val="accent1"/>
          </a:fillRef>
          <a:effectRef idx="1">
            <a:schemeClr val="accent1"/>
          </a:effectRef>
          <a:fontRef idx="minor">
            <a:schemeClr val="tx1"/>
          </a:fontRef>
        </p:style>
      </p:cxnSp>
      <p:sp>
        <p:nvSpPr>
          <p:cNvPr id="916" name="TextBox 915"/>
          <p:cNvSpPr txBox="1"/>
          <p:nvPr/>
        </p:nvSpPr>
        <p:spPr>
          <a:xfrm>
            <a:off x="9006840" y="420624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Assumed</a:t>
            </a:r>
          </a:p>
          <a:p>
            <a:pPr algn="l">
              <a:spcAft>
                <a:spcPts val="200"/>
              </a:spcAft>
            </a:pPr>
            <a:r>
              <a:rPr sz="1300" b="0" i="0">
                <a:solidFill>
                  <a:srgbClr val="63737B"/>
                </a:solidFill>
              </a:rPr>
              <a:t>model inference, flagged</a:t>
            </a:r>
          </a:p>
        </p:txBody>
      </p:sp>
      <p:cxnSp>
        <p:nvCxnSpPr>
          <p:cNvPr id="917" name="Connector 916"/>
          <p:cNvCxnSpPr/>
          <p:nvPr/>
        </p:nvCxnSpPr>
        <p:spPr>
          <a:xfrm>
            <a:off x="8183879" y="5303520"/>
            <a:ext cx="640080" cy="0"/>
          </a:xfrm>
          <a:prstGeom prst="line">
            <a:avLst/>
          </a:prstGeom>
          <a:ln w="19050">
            <a:solidFill>
              <a:srgbClr val="B1B9BD"/>
            </a:solidFill>
          </a:ln>
        </p:spPr>
        <p:style>
          <a:lnRef idx="2">
            <a:schemeClr val="accent1"/>
          </a:lnRef>
          <a:fillRef idx="0">
            <a:schemeClr val="accent1"/>
          </a:fillRef>
          <a:effectRef idx="1">
            <a:schemeClr val="accent1"/>
          </a:effectRef>
          <a:fontRef idx="minor">
            <a:schemeClr val="tx1"/>
          </a:fontRef>
        </p:style>
      </p:cxnSp>
      <p:sp>
        <p:nvSpPr>
          <p:cNvPr id="918" name="TextBox 917"/>
          <p:cNvSpPr txBox="1"/>
          <p:nvPr/>
        </p:nvSpPr>
        <p:spPr>
          <a:xfrm>
            <a:off x="9006840" y="5074920"/>
            <a:ext cx="2834640" cy="777240"/>
          </a:xfrm>
          <a:prstGeom prst="rect">
            <a:avLst/>
          </a:prstGeom>
          <a:noFill/>
        </p:spPr>
        <p:txBody>
          <a:bodyPr wrap="square" lIns="0" rIns="0" tIns="0" bIns="0" anchor="t">
            <a:spAutoFit/>
          </a:bodyPr>
          <a:lstStyle/>
          <a:p>
            <a:pPr algn="l">
              <a:spcAft>
                <a:spcPts val="200"/>
              </a:spcAft>
            </a:pPr>
            <a:r>
              <a:rPr sz="1500" b="1" i="0">
                <a:solidFill>
                  <a:srgbClr val="000000"/>
                </a:solidFill>
              </a:rPr>
              <a:t>Missing</a:t>
            </a:r>
          </a:p>
          <a:p>
            <a:pPr algn="l">
              <a:spcAft>
                <a:spcPts val="200"/>
              </a:spcAft>
            </a:pPr>
            <a:r>
              <a:rPr sz="1300" b="0" i="0">
                <a:solidFill>
                  <a:srgbClr val="63737B"/>
                </a:solidFill>
              </a:rPr>
              <a:t>not stated anywhere</a:t>
            </a:r>
          </a:p>
        </p:txBody>
      </p:sp>
    </p:spTree>
  </p:cSld>
  <p:clrMapOvr>
    <a:masterClrMapping/>
  </p:clrMapOvr>
  <p:transition spd="med">
    <p:fade/>
  </p:transition>
</p:sld>
</file>

<file path=ppt/theme/theme1.xml><?xml version="1.0" encoding="utf-8"?>
<a:theme xmlns:a="http://schemas.openxmlformats.org/drawingml/2006/main" name="Benutzerdefiniertes Design">
  <a:themeElements>
    <a:clrScheme name="Kanton Bern">
      <a:dk1>
        <a:sysClr val="windowText" lastClr="000000"/>
      </a:dk1>
      <a:lt1>
        <a:sysClr val="window" lastClr="FFFFFF"/>
      </a:lt1>
      <a:dk2>
        <a:srgbClr val="63737B"/>
      </a:dk2>
      <a:lt2>
        <a:srgbClr val="B1B9BD"/>
      </a:lt2>
      <a:accent1>
        <a:srgbClr val="3C505A"/>
      </a:accent1>
      <a:accent2>
        <a:srgbClr val="96D7F0"/>
      </a:accent2>
      <a:accent3>
        <a:srgbClr val="A0C7A0"/>
      </a:accent3>
      <a:accent4>
        <a:srgbClr val="E1D2C6"/>
      </a:accent4>
      <a:accent5>
        <a:srgbClr val="644B41"/>
      </a:accent5>
      <a:accent6>
        <a:srgbClr val="EA161F"/>
      </a:accent6>
      <a:hlink>
        <a:srgbClr val="000000"/>
      </a:hlink>
      <a:folHlink>
        <a:srgbClr val="00000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6"/>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dirty="0"/>
        </a:defPPr>
      </a:lstStyle>
    </a:txDef>
  </a:objectDefaults>
  <a:extraClrSchemeLst/>
  <a:extLst>
    <a:ext uri="{05A4C25C-085E-4340-85A3-A5531E510DB2}">
      <thm15:themeFamily xmlns:thm15="http://schemas.microsoft.com/office/thememl/2012/main" name="Präsentation PowerPoint DE.potx" id="{E35E844B-C969-45C1-85DE-B7ED56A30097}" vid="{9CD5C389-EEA3-4CD9-ADDA-01A292F3BE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blank</Template>
  <TotalTime>0</TotalTime>
  <Words>702</Words>
  <Application>Microsoft Office PowerPoint</Application>
  <PresentationFormat>Grand écran</PresentationFormat>
  <Paragraphs>186</Paragraphs>
  <Slides>19</Slides>
  <Notes>2</Notes>
  <HiddenSlides>0</HiddenSlides>
  <MMClips>0</MMClips>
  <ScaleCrop>false</ScaleCrop>
  <HeadingPairs>
    <vt:vector size="6" baseType="variant">
      <vt:variant>
        <vt:lpstr>Polices utilisées</vt:lpstr>
      </vt:variant>
      <vt:variant>
        <vt:i4>1</vt:i4>
      </vt:variant>
      <vt:variant>
        <vt:lpstr>Thème</vt:lpstr>
      </vt:variant>
      <vt:variant>
        <vt:i4>1</vt:i4>
      </vt:variant>
      <vt:variant>
        <vt:lpstr>Titres des diapositives</vt:lpstr>
      </vt:variant>
      <vt:variant>
        <vt:i4>19</vt:i4>
      </vt:variant>
    </vt:vector>
  </HeadingPairs>
  <TitlesOfParts>
    <vt:vector size="21" baseType="lpstr">
      <vt:lpstr>Arial</vt:lpstr>
      <vt:lpstr>Benutzerdefiniertes Design</vt:lpstr>
      <vt:lpstr>Titel (maximal 2 Zeilen)</vt:lpstr>
      <vt:lpstr>Titel (maximal 2 Zeilen)</vt:lpstr>
      <vt:lpstr>Titel (maximal 2 Zeilen)</vt:lpstr>
      <vt:lpstr>Beispiel Kapiteltitel Schwarz</vt:lpstr>
      <vt:lpstr>Beispiel Kapiteltitel Blaugrau</vt:lpstr>
      <vt:lpstr>Beispiel Kapiteltitel Weiss</vt:lpstr>
      <vt:lpstr>Beispiel Kapiteltitel Rot</vt:lpstr>
      <vt:lpstr>Hinweis zum Erstellen von Aufzählungen</vt:lpstr>
      <vt:lpstr>Programm</vt:lpstr>
      <vt:lpstr>Beispielfolie «Titel und Inhalt»</vt:lpstr>
      <vt:lpstr>Beispielfolie «Titel, Untertitel und Inhalt»</vt:lpstr>
      <vt:lpstr>Beispielfolie «Titel, Inhalt und Bild rechts»</vt:lpstr>
      <vt:lpstr>Beispielfolie «Titel, Inhalt und Bild links»</vt:lpstr>
      <vt:lpstr>Tabelle</vt:lpstr>
      <vt:lpstr>Beispielfolie Säulendiagramm</vt:lpstr>
      <vt:lpstr>Beispielfolie Säulendiagramm</vt:lpstr>
      <vt:lpstr>Beispielfolie Kreisdiagramm</vt:lpstr>
      <vt:lpstr>Hinterlegtes Farbkonzept</vt:lpstr>
      <vt:lpstr>Kontakt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Ziegler Joëlle, WEU-AWI-SFBE-BI</dc:creator>
  <dc:description>V02-2022-06-13</dc:description>
  <cp:lastModifiedBy>Ziegler Joëlle, WEU-AWI-SFBE-BI</cp:lastModifiedBy>
  <cp:revision>1</cp:revision>
  <cp:lastPrinted>2018-09-06T06:44:02Z</cp:lastPrinted>
  <dcterms:created xsi:type="dcterms:W3CDTF">2026-10-18T09:02:13Z</dcterms:created>
  <dcterms:modified xsi:type="dcterms:W3CDTF">2026-10-18T09:03:04Z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4fdd986-87d9-48c6-acda-407b1ab5fef0_Enabled">
    <vt:lpwstr>true</vt:lpwstr>
  </property>
  <property fmtid="{D5CDD505-2E9C-101B-9397-08002B2CF9AE}" pid="3" name="MSIP_Label_74fdd986-87d9-48c6-acda-407b1ab5fef0_SetDate">
    <vt:lpwstr>2026-10-18T09:03:03Z</vt:lpwstr>
  </property>
  <property fmtid="{D5CDD505-2E9C-101B-9397-08002B2CF9AE}" pid="4" name="MSIP_Label_74fdd986-87d9-48c6-acda-407b1ab5fef0_Method">
    <vt:lpwstr>Standard</vt:lpwstr>
  </property>
  <property fmtid="{D5CDD505-2E9C-101B-9397-08002B2CF9AE}" pid="5" name="MSIP_Label_74fdd986-87d9-48c6-acda-407b1ab5fef0_Name">
    <vt:lpwstr>NICHT KLASSIFIZIERT</vt:lpwstr>
  </property>
  <property fmtid="{D5CDD505-2E9C-101B-9397-08002B2CF9AE}" pid="6" name="MSIP_Label_74fdd986-87d9-48c6-acda-407b1ab5fef0_SiteId">
    <vt:lpwstr>cb96f99a-a111-42d7-9f65-e111197ba4bb</vt:lpwstr>
  </property>
  <property fmtid="{D5CDD505-2E9C-101B-9397-08002B2CF9AE}" pid="7" name="MSIP_Label_74fdd986-87d9-48c6-acda-407b1ab5fef0_ActionId">
    <vt:lpwstr>106f63c6-80dd-4266-a76a-39bb703d85e2</vt:lpwstr>
  </property>
  <property fmtid="{D5CDD505-2E9C-101B-9397-08002B2CF9AE}" pid="8" name="MSIP_Label_74fdd986-87d9-48c6-acda-407b1ab5fef0_ContentBits">
    <vt:lpwstr>0</vt:lpwstr>
  </property>
  <property fmtid="{D5CDD505-2E9C-101B-9397-08002B2CF9AE}" pid="9" name="MSIP_Label_74fdd986-87d9-48c6-acda-407b1ab5fef0_Tag">
    <vt:lpwstr>10, 3, 0, 1</vt:lpwstr>
  </property>
</Properties>
</file>