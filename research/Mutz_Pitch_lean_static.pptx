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1"/>
  </p:notesMasterIdLst>
  <p:handoutMasterIdLst>
    <p:handoutMasterId r:id="rId22"/>
  </p:handoutMasterIdLst>
  <p:sldIdLst>
    <p:sldId id="282" r:id="rId27"/>
    <p:sldId id="283" r:id="rId28"/>
    <p:sldId id="284" r:id="rId29"/>
    <p:sldId id="285" r:id="rId30"/>
    <p:sldId id="286" r:id="rId31"/>
    <p:sldId id="287" r:id="rId32"/>
    <p:sldId id="288" r:id="rId33"/>
    <p:sldId id="289" r:id="rId34"/>
    <p:sldId id="290" r:id="rId35"/>
    <p:sldId id="301" r:id="rId46"/>
    <p:sldId id="291" r:id="rId36"/>
    <p:sldId id="292" r:id="rId37"/>
    <p:sldId id="293" r:id="rId38"/>
    <p:sldId id="294" r:id="rId39"/>
    <p:sldId id="295" r:id="rId40"/>
    <p:sldId id="296" r:id="rId41"/>
    <p:sldId id="297" r:id="rId42"/>
    <p:sldId id="298" r:id="rId43"/>
    <p:sldId id="299" r:id="rId44"/>
    <p:sldId id="300" r:id="rId4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A161F"/>
    <a:srgbClr val="999999"/>
    <a:srgbClr val="DC121C"/>
    <a:srgbClr val="E2141E"/>
    <a:srgbClr val="F69CA0"/>
    <a:srgbClr val="F379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1" autoAdjust="0"/>
  </p:normalViewPr>
  <p:slideViewPr>
    <p:cSldViewPr showGuides="1">
      <p:cViewPr varScale="1">
        <p:scale>
          <a:sx n="67" d="100"/>
          <a:sy n="67" d="100"/>
        </p:scale>
        <p:origin x="572" y="44"/>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123" d="100"/>
          <a:sy n="123" d="100"/>
        </p:scale>
        <p:origin x="4896"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18.10.2026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‹N°›</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73424" y="1246193"/>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964488"/>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964488"/>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‹N°›</a:t>
            </a:fld>
            <a:endParaRPr lang="de-CH" dirty="0"/>
          </a:p>
        </p:txBody>
      </p:sp>
      <p:sp>
        <p:nvSpPr>
          <p:cNvPr id="16" name="Notizenplatzhalter 15"/>
          <p:cNvSpPr>
            <a:spLocks noGrp="1"/>
          </p:cNvSpPr>
          <p:nvPr>
            <p:ph type="body" sz="quarter" idx="3"/>
          </p:nvPr>
        </p:nvSpPr>
        <p:spPr>
          <a:xfrm>
            <a:off x="773424" y="4644008"/>
            <a:ext cx="5560412" cy="388843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18.10.2026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[4:40–4:45] Speaker A. Leave this slide up during Q&amp;A.</a:t>
            </a:r>
          </a:p>
          <a:p>
            <a:r>
              <a:t>"Want to try Mutz yourself? Scan the code. The login is mutz, the password bearlikeshoney, because that's what our bear likes. Or run it on your own laptop with this one command."</a:t>
            </a:r>
          </a:p>
          <a:p>
            <a:r>
              <a:t>Live demo is kept warm until 23:59 tonight. The docker image needs an Apertus key for the Keera gateway.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[0:00–0:15] Speaker A. Walk on, let the slide sit for a second.</a:t>
            </a:r>
          </a:p>
          <a:p/>
          <a:p>
            <a:r>
              <a:t>"Fun fact. In the year 1191, Duke Berchtold of Zähringen founded a new city here, and promised to name it after the first animal he caught on the hunt. Which animal was it?"</a:t>
            </a:r>
          </a:p>
          <a:p/>
          <a:p>
            <a:r>
              <a:t>(Pause. Let a few people answer out loud before you click.)</a:t>
            </a:r>
          </a:p>
          <a:p/>
          <a:p>
            <a:r>
              <a:t>(Legend, not a documented fact: say "legend says" if anyone asks.)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[0:15–0:22] Speaker A.</a:t>
            </a:r>
          </a:p>
          <a:p/>
          <a:p>
            <a:r>
              <a:t>"It was a bear. That's how Bern got its name, and its bear."</a:t>
            </a:r>
          </a:p>
          <a:p/>
          <a:p>
            <a:r>
              <a:t>(Pause while Mutz pops up and smiles. Let the audience smile too.)</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[0:22–0:40] Speaker A, in time with the animation (Mutz tears through the pages and finds the full pot, then the "mutz" wordmark lands).</a:t>
            </a:r>
          </a:p>
          <a:p/>
          <a:p>
            <a:r>
              <a:t>"Our Bernese bear, the Mutz, has stopped hunting for prey. Now he goes looking for honey instead: the right research partner for every company that wants to come to Bern."</a:t>
            </a:r>
          </a:p>
          <a:p/>
          <a:p>
            <a:r>
              <a:t>(Say "honey" as the pot fills. Let the wordmark land before you move 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[0:40–1:00] Speaker A.</a:t>
            </a:r>
          </a:p>
          <a:p/>
          <a:p>
            <a:r>
              <a:t>"Every year, about 300 confidential company leads reach the Bern Economic Development Agency. Each company needs the right partner in Bern, and that partner is hidden somewhere in hundreds of research pages, in three languages. Zurich and Lausanne get the same leads. The fastest, most convincing answer wins."</a:t>
            </a:r>
          </a:p>
          <a:p/>
          <a:p>
            <a:r>
              <a:t>(Optional, for experts: "And the lead is confidential, so it can't go into any public AI.")</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[1:00–3:15] Speaker B drives, Speaker A narrates. This is the heart of the pitch.</a:t>
            </a:r>
          </a:p>
          <a:p/>
          <a:p>
            <a:r>
              <a:t>Before the demo: "Because these leads are confidential, Mutz runs on Apertus, on Swiss infrastructure. Salaries, revenue and contact details are struck out on our own machine before anything reaches Apertus at all. Let us show you."</a:t>
            </a:r>
          </a:p>
          <a:p/>
          <a:p>
            <a:r>
              <a:t>1. Case list: "This is the officer's Monday morning: every open lead and where it stands."</a:t>
            </a:r>
          </a:p>
          <a:p>
            <a:r>
              <a:t>2. Paste the one-pager: "Apertus reads the one-pager and pulls out what the company actually needs. Each need points back to the sentence it came from." (Point at the header: Apertus on CSCS, Switzerland.)</a:t>
            </a:r>
          </a:p>
          <a:p>
            <a:r>
              <a:t>3. Matches, click a reason: "For every need, Mutz ranks people and labs in Bern, with a plain reason. Click it, and the source page opens at the exact sentence." Pause.</a:t>
            </a:r>
          </a:p>
          <a:p>
            <a:r>
              <a:t>4. Accept two, reject one, export: "The officer decides. Accept, reject, and the pitch is ready, with every claim numbered and linked."</a:t>
            </a:r>
          </a:p>
          <a:p>
            <a:r>
              <a:t>5. Weak field (battery recycling): "And when Bern has nothing? Kei Honig im Topf. No honey in the pot. Mutz says so, and shows everything it searched."</a:t>
            </a:r>
          </a:p>
          <a:p>
            <a:r>
              <a:t>6. Optional, if there is time: the company sends more information, and Mutz re-checks only the needs that changed.</a:t>
            </a:r>
          </a:p>
          <a:p/>
          <a:p>
            <a:r>
              <a:t>Do not demo "add a source, then an alert": it is not built yet.</a:t>
            </a:r>
          </a:p>
          <a:p>
            <a:r>
              <a:t>Fallback: backup video in a hidden tab; backup slide "From one-pager to pitch" at the end.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[3:15–3:30] Speaker A. (Skip if the demo already showed the empty pot clearly.)</a:t>
            </a:r>
          </a:p>
          <a:p/>
          <a:p>
            <a:r>
              <a:t>"Mutz is honest and trustworthy by design, with Apertus. Every need gets a honey pot. Full: pitch it. Thin: check first. Empty: don't pitch. As the agency told us: 'we cannot oversell, we must sell what we have.'"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[3:30–3:50] Speaker A.</a:t>
            </a:r>
          </a:p>
          <a:p/>
          <a:p>
            <a:r>
              <a:t>"Bern's research should never sit idle. When a company sends more information, Mutz re-checks only what changed. Next, it'll do the same for every open case whenever new research comes in. And every search adds up: the word cloud and gap report show where Bern is strong, and where companies keep asking for something Bern doesn't have yet, so the canton can plan for it."</a:t>
            </a:r>
          </a:p>
          <a:p/>
          <a:p>
            <a:r>
              <a:t>HONESTY: re-evaluation on new company information is built. Alerts on new research are the next step and not built. Don't say they work today.</a:t>
            </a:r>
          </a:p>
          <a:p>
            <a:r>
              <a:t>(Details for questions: backup slides "Bern's research never sits idle" and "From a search tool to an economic strategy tool".)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[3:50–4:10] Speaker B.</a:t>
            </a:r>
          </a:p>
          <a:p/>
          <a:p>
            <a:r>
              <a:t>"Our results, on questions we never tuned on: in 21 out of 23, the right expert is in the top 10. Plain-language questions: 10 out of 11. And every one of our 19,631 facts links back to the page it came from."</a:t>
            </a:r>
          </a:p>
          <a:p/>
          <a:p>
            <a:r>
              <a:t>Numbers from the single held-out run on 19 Oct 2026 (data/eval/latest_heldout.json, logged in data/eval/heldout_runs.jsonl). 91% = questions with at least one right expert in the top 10. Recall@10 (share of all expected groups found) is 89%. Dev split, which we tuned on: 88%. Details: backup slide "We measured it on questions we never tuned on".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[4:25–4:40] Speaker A. Slow down.</a:t>
            </a:r>
          </a:p>
          <a:p/>
          <a:p>
            <a:r>
              <a:t>"In 1191, a bear gave Bern its name. Today, a bear finds Bern's honey. Bern is full of it: world-class research. Mutz finds the right pot for every company. Thank you."</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Everything below is for Q&amp;A only. Jump here with the slide number, don't present it.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Backup slide for the demo (use if the live demo fails, or flash it for 5 seconds as a summary).</a:t>
            </a:r>
          </a:p>
          <a:p/>
          <a:p>
            <a:r>
              <a:t>"Three screens, one job each. Brief: Apertus pulls the needs out of the one-pager. Matches: ranked experts with a plain reason and a source. Pitch: a CEO teaser where every claim is numbered and linked. And the officer stays in control at every step: accept, reject, edit."</a:t>
            </a:r>
          </a:p>
          <a:p/>
          <a:p>
            <a:r>
              <a:t>Expert strip: needs extraction and query expansion with Apertus 70B; hybrid retrieval aggregated to people and units; grounded reasons cite chunk IDs; text-fragment deep links open the page at the quote.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B (the technical person).</a:t>
            </a:r>
          </a:p>
          <a:p/>
          <a:p>
            <a:r>
              <a:t>"We measured it on questions we never tuned on. 21 of 23 held-out questions have the right expert in the top 10. Plain-language questions: 10 of 11. No fact without a source. And here's our weakest category: funding. The one held-out funding question is missed by search; in the app, funding needs are answered from a checked list of Bern programmes."</a:t>
            </a:r>
          </a:p>
          <a:p/>
          <a:p>
            <a:r>
              <a:t>If asked:</a:t>
            </a:r>
          </a:p>
          <a:p>
            <a:r>
              <a:t>- Recall@10: held-out 89%, dev 88%, synthetic 68% (47 lay queries Apertus wrote for single small units; harder, and optimistic because Apertus also expands our queries).</a:t>
            </a:r>
          </a:p>
          <a:p>
            <a:r>
              <a:t>- Held-out misses: tc12 "AI to plan cancer radiation treatment" (those affiliated groups are only listed on an ARTORG index page that links to Insel pages we don't crawl), tc22 startup funding, tc25 contact details for the head of MSL.</a:t>
            </a:r>
          </a:p>
          <a:p>
            <a:r>
              <a:t>- 19,631 facts: 19,630 carry a quote verified on the page; one unit name comes from the page URL. Reasons shown in results: 100% quote their page.</a:t>
            </a:r>
          </a:p>
          <a:p>
            <a:r>
              <a:t>- Weakest sources on held-out: ARTORG and DCB, 67% each.</a:t>
            </a:r>
          </a:p>
          <a:p/>
          <a:p>
            <a:r>
              <a:t>Only offer the live question if the "no match" path is solid.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A.</a:t>
            </a:r>
          </a:p>
          <a:p/>
          <a:p>
            <a:r>
              <a:t>"Remember: 'we cannot put it onto any model.' So we drew a hard line. Anything confidential, the one-pager and the officer's notes, only goes to Apertus, the Swiss open model, running at CSCS in Switzerland. Salaries, revenue and contact details are struck out locally before that. The other models, the embeddings and the reranker, run inside our own container: no third-party model API at all.</a:t>
            </a:r>
          </a:p>
          <a:p/>
          <a:p>
            <a:r>
              <a:t>For the agency, that's not a compliance checkbox. It's the reason this tool can exist at all."</a:t>
            </a:r>
          </a:p>
          <a:p/>
          <a:p>
            <a:r>
              <a:t>Expert note: every gateway call is logged with model and token counts (logs/gateway.jsonl). The shared demo runs on Cloud Run in europe-west6 (Zurich); in production the agency would host the container itself.</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B.</a:t>
            </a:r>
          </a:p>
          <a:p/>
          <a:p>
            <a:r>
              <a:t>"With 300 leads a year, the officer needs more than a search box. Here's the case list: new, triaged, pitched, visit, won or lost.</a:t>
            </a:r>
          </a:p>
          <a:p/>
          <a:p>
            <a:r>
              <a:t>Today, when a company sends more information, Mutz re-checks only the needs that changed. The next step is the alert on the right: add a source or re-crawl, and every open case is re-checked, with a note like 'New archive checked. 2 open cases have new matches.'"</a:t>
            </a:r>
          </a:p>
          <a:p/>
          <a:p>
            <a:r>
              <a:t>HONESTY: the alert is a mock-up of the next step. It is not built; don't demo it.</a:t>
            </a:r>
          </a:p>
          <a:p/>
          <a:p>
            <a:r>
              <a:t>How we'd build it: after each ingest, re-run every open case's needs, diff the top 10 and coverage against a stored snapshot, and raise an alert on new entries or a coverage upgrade. In production a nightly re-crawl triggers it.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A.</a:t>
            </a:r>
          </a:p>
          <a:p/>
          <a:p>
            <a:r>
              <a:t>"Every search leaves a trace. Flip them around and you get two things the agency has never had.</a:t>
            </a:r>
          </a:p>
          <a:p/>
          <a:p>
            <a:r>
              <a:t>Left: a word cloud of Bern's expertise. The bigger the word, the more verified pages back it.</a:t>
            </a:r>
          </a:p>
          <a:p/>
          <a:p>
            <a:r>
              <a:t>Right: a gap report. Every empty honey pot is a data point. In our test data, battery technology came up in 9 leads and every one ended in an empty pot. That is information for the canton's economic strategy."</a:t>
            </a:r>
          </a:p>
          <a:p/>
          <a:p>
            <a:r>
              <a:t>HONESTY: the bars come from the Insights screen, and 62 of its 81 leads are seeded demo leads, so say it's test data. Small batch manufacturing (18 empty of 26) may be a source we haven't crawled rather than a real gap in Bern; Insights flags it that way.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B.</a:t>
            </a:r>
          </a:p>
          <a:p/>
          <a:p>
            <a:r>
              <a:t>"Scaling to all of Bern doesn't need new code. A new archive is six lines of config, and the Archives screen writes them for you from a URL. We started with life science and medtech, because that's where the agency told us Bern is strongest.</a:t>
            </a:r>
          </a:p>
          <a:p/>
          <a:p>
            <a:r>
              <a:t>A search for one need takes about ten seconds, and a full case costs about 35,000 Apertus tokens."</a:t>
            </a:r>
          </a:p>
          <a:p/>
          <a:p>
            <a:r>
              <a:t>Measured: ≈10 s is the mean search time per question in the held-out eval (9.7 s; dev 6.5 s), with gateway answers partly cached. ≈35k tokens is an estimate from logs/gateway.jsonl averages: needs extraction ~2.1k, ~6.4k per need (expansion plus 14 Apertus grading calls) for ~4 needs, pitch ~7.7k.</a:t>
            </a:r>
          </a:p>
          <a:p>
            <a:r>
              <a:t>Hours saved per case are not measured. Time a manual search against the tool on 3 cases before claiming any.</a:t>
            </a:r>
          </a:p>
          <a:p>
            <a:r>
              <a:t>www.sitem-insel.ch redirects to sitem-insel.ch, so the entry uses the bare domain.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[4:40–4:55] Speaker A.</a:t>
            </a:r>
          </a:p>
          <a:p/>
          <a:p>
            <a:r>
              <a:t>"What does this mean for Bern? In 2024, the Greater Geneva Bern area worked on more than 500 investment projects, and 79 companies settled in its member cantons. Every one of those started as a one-pager like ours.</a:t>
            </a:r>
          </a:p>
          <a:p/>
          <a:p>
            <a:r>
              <a:t>With Mutz, Bern bids faster, bids only where it's strong, learns where to invest, and gives small research groups the same chance as big institutes. Every company that settles here means jobs, partnerships and research that reaches the market."</a:t>
            </a:r>
          </a:p>
          <a:p/>
          <a:p>
            <a:r>
              <a:t>(Check the GGBa figures against the annual report before presenting.)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Backup for technical questions. Walk left to right; stress the verifier and the evidence table.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Use when a judge asks about ranking fairness or 'black box'. The explanation is built from logged scores, never invented by the model.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6"/>
            <a:ext cx="8496300" cy="1558082"/>
          </a:xfrm>
        </p:spPr>
        <p:txBody>
          <a:bodyPr anchor="b"/>
          <a:lstStyle>
            <a:lvl1pPr algn="l">
              <a:lnSpc>
                <a:spcPct val="105000"/>
              </a:lnSpc>
              <a:defRPr sz="5100"/>
            </a:lvl1pPr>
          </a:lstStyle>
          <a:p>
            <a:r>
              <a:rPr lang="de-CH" dirty="0"/>
              <a:t>Titel (maximal zwei Zeilen)</a:t>
            </a:r>
          </a:p>
        </p:txBody>
      </p:sp>
      <p:sp>
        <p:nvSpPr>
          <p:cNvPr id="3" name="Untertitel 2"/>
          <p:cNvSpPr>
            <a:spLocks noGrp="1"/>
          </p:cNvSpPr>
          <p:nvPr>
            <p:ph type="subTitle" idx="1" hasCustomPrompt="1"/>
          </p:nvPr>
        </p:nvSpPr>
        <p:spPr>
          <a:xfrm>
            <a:off x="839788" y="3757613"/>
            <a:ext cx="8496300" cy="1500187"/>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p>
            <a:fld id="{D8188CD8-7FF1-4ED3-8276-926FEB01991B}"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03DC6B3D-051C-4BB5-9F4B-3A2474AD9302}"/>
              </a:ext>
            </a:extLst>
          </p:cNvPr>
          <p:cNvSpPr>
            <a:spLocks noGrp="1"/>
          </p:cNvSpPr>
          <p:nvPr>
            <p:ph type="body" sz="quarter" idx="13" hasCustomPrompt="1"/>
          </p:nvPr>
        </p:nvSpPr>
        <p:spPr>
          <a:xfrm>
            <a:off x="839788" y="1881188"/>
            <a:ext cx="5256212" cy="252412"/>
          </a:xfrm>
        </p:spPr>
        <p:txBody>
          <a:bodyPr lIns="18000"/>
          <a:lstStyle>
            <a:lvl1pPr>
              <a:defRPr sz="1300" b="1" spc="-20" baseline="0">
                <a:solidFill>
                  <a:srgbClr val="EA161F"/>
                </a:solidFill>
                <a:latin typeface="Arial" panose="020B0604020202020204" pitchFamily="34" charset="0"/>
                <a:cs typeface="Arial" panose="020B0604020202020204" pitchFamily="34" charset="0"/>
              </a:defRPr>
            </a:lvl1pPr>
          </a:lstStyle>
          <a:p>
            <a:pPr lvl="0"/>
            <a:r>
              <a:rPr lang="de-DE" dirty="0"/>
              <a:t>Spitzmarke hinzufügen</a:t>
            </a:r>
            <a:endParaRPr lang="de-CH" dirty="0"/>
          </a:p>
        </p:txBody>
      </p:sp>
      <p:sp>
        <p:nvSpPr>
          <p:cNvPr id="11" name="Textplatzhalter 4">
            <a:extLst>
              <a:ext uri="{FF2B5EF4-FFF2-40B4-BE49-F238E27FC236}">
                <a16:creationId xmlns:a16="http://schemas.microsoft.com/office/drawing/2014/main" id="{F6BA63E4-E10F-4E0A-91F5-2A2F84225353}"/>
              </a:ext>
            </a:extLst>
          </p:cNvPr>
          <p:cNvSpPr>
            <a:spLocks noGrp="1"/>
          </p:cNvSpPr>
          <p:nvPr>
            <p:ph type="body" sz="quarter" idx="14" hasCustomPrompt="1"/>
          </p:nvPr>
        </p:nvSpPr>
        <p:spPr>
          <a:xfrm>
            <a:off x="839788" y="6033704"/>
            <a:ext cx="5256212" cy="430643"/>
          </a:xfrm>
        </p:spPr>
        <p:txBody>
          <a:bodyPr anchor="b"/>
          <a:lstStyle>
            <a:lvl1pPr>
              <a:defRPr sz="1300" b="0" spc="0" baseline="0">
                <a:solidFill>
                  <a:schemeClr val="tx1"/>
                </a:solidFill>
                <a:latin typeface="Arial" panose="020B0604020202020204" pitchFamily="34" charset="0"/>
                <a:cs typeface="Arial" panose="020B0604020202020204" pitchFamily="34" charset="0"/>
              </a:defRPr>
            </a:lvl1pPr>
          </a:lstStyle>
          <a:p>
            <a:pPr lvl="0"/>
            <a:r>
              <a:rPr lang="de-DE" dirty="0"/>
              <a:t>Referent/-in</a:t>
            </a:r>
            <a:br>
              <a:rPr lang="de-DE" dirty="0"/>
            </a:br>
            <a:r>
              <a:rPr lang="de-DE" dirty="0"/>
              <a:t>Organisationseinheit</a:t>
            </a:r>
            <a:endParaRPr lang="de-CH" dirty="0"/>
          </a:p>
        </p:txBody>
      </p:sp>
    </p:spTree>
    <p:extLst>
      <p:ext uri="{BB962C8B-B14F-4D97-AF65-F5344CB8AC3E}">
        <p14:creationId xmlns:p14="http://schemas.microsoft.com/office/powerpoint/2010/main" val="133853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mit Bild (hell) ">
    <p:spTree>
      <p:nvGrpSpPr>
        <p:cNvPr id="1" name=""/>
        <p:cNvGrpSpPr/>
        <p:nvPr/>
      </p:nvGrpSpPr>
      <p:grpSpPr>
        <a:xfrm>
          <a:off x="0" y="0"/>
          <a:ext cx="0" cy="0"/>
          <a:chOff x="0" y="0"/>
          <a:chExt cx="0" cy="0"/>
        </a:xfrm>
      </p:grpSpPr>
      <p:sp>
        <p:nvSpPr>
          <p:cNvPr id="14" name="Bildplatzhalter 4">
            <a:extLst>
              <a:ext uri="{FF2B5EF4-FFF2-40B4-BE49-F238E27FC236}">
                <a16:creationId xmlns:a16="http://schemas.microsoft.com/office/drawing/2014/main" id="{60DBF63A-340F-460B-96E6-FC454B3EB6E5}"/>
              </a:ext>
            </a:extLst>
          </p:cNvPr>
          <p:cNvSpPr>
            <a:spLocks noGrp="1"/>
          </p:cNvSpPr>
          <p:nvPr>
            <p:ph type="pic" sz="quarter" idx="17" hasCustomPrompt="1"/>
          </p:nvPr>
        </p:nvSpPr>
        <p:spPr>
          <a:xfrm>
            <a:off x="0" y="0"/>
            <a:ext cx="12192000" cy="6858000"/>
          </a:xfrm>
          <a:pattFill prst="lgCheck">
            <a:fgClr>
              <a:schemeClr val="bg1">
                <a:lumMod val="85000"/>
              </a:schemeClr>
            </a:fgClr>
            <a:bgClr>
              <a:schemeClr val="bg1"/>
            </a:bgClr>
          </a:pattFill>
        </p:spPr>
        <p:txBody>
          <a:bodyPr lIns="9432000" tIns="720000" rIns="360000" anchor="ctr"/>
          <a:lstStyle>
            <a:lvl1pPr algn="l">
              <a:defRPr sz="1200">
                <a:solidFill>
                  <a:schemeClr val="accent1">
                    <a:lumMod val="60000"/>
                    <a:lumOff val="40000"/>
                  </a:schemeClr>
                </a:solidFill>
              </a:defRPr>
            </a:lvl1pPr>
          </a:lstStyle>
          <a:p>
            <a:r>
              <a:rPr lang="de-CH" dirty="0"/>
              <a:t>Hintergrundbild durch «Drag &amp; Drop» in den Bildplatzhalter ziehen.</a:t>
            </a:r>
          </a:p>
        </p:txBody>
      </p:sp>
      <p:sp>
        <p:nvSpPr>
          <p:cNvPr id="8" name="Textplatzhalter 7">
            <a:extLst>
              <a:ext uri="{FF2B5EF4-FFF2-40B4-BE49-F238E27FC236}">
                <a16:creationId xmlns:a16="http://schemas.microsoft.com/office/drawing/2014/main" id="{6A410D26-1556-455F-8E0C-7721F22645DD}"/>
              </a:ext>
            </a:extLst>
          </p:cNvPr>
          <p:cNvSpPr>
            <a:spLocks noGrp="1"/>
          </p:cNvSpPr>
          <p:nvPr>
            <p:ph type="body" sz="quarter" idx="18" hasCustomPrompt="1"/>
          </p:nvPr>
        </p:nvSpPr>
        <p:spPr>
          <a:xfrm>
            <a:off x="-240704" y="0"/>
            <a:ext cx="168696" cy="6858000"/>
          </a:xfrm>
          <a:solidFill>
            <a:srgbClr val="FFFFFF">
              <a:alpha val="69804"/>
            </a:srgbClr>
          </a:solidFill>
        </p:spPr>
        <p:txBody>
          <a:bodyPr vert="vert270" lIns="18000" rIns="18000" anchor="t"/>
          <a:lstStyle>
            <a:lvl1pPr algn="r">
              <a:defRPr sz="820">
                <a:solidFill>
                  <a:schemeClr val="bg2"/>
                </a:solidFill>
              </a:defRPr>
            </a:lvl1pPr>
          </a:lstStyle>
          <a:p>
            <a:pPr lvl="0"/>
            <a:r>
              <a:rPr lang="de-DE" dirty="0"/>
              <a:t>Helle transparente Fläche – kann über das Hintergrundbild gezogen werden.</a:t>
            </a:r>
            <a:endParaRPr lang="de-CH" dirty="0"/>
          </a:p>
        </p:txBody>
      </p:sp>
      <p:sp>
        <p:nvSpPr>
          <p:cNvPr id="3" name="Untertitel 2"/>
          <p:cNvSpPr>
            <a:spLocks noGrp="1"/>
          </p:cNvSpPr>
          <p:nvPr>
            <p:ph type="subTitle" idx="1" hasCustomPrompt="1"/>
          </p:nvPr>
        </p:nvSpPr>
        <p:spPr>
          <a:xfrm>
            <a:off x="839788" y="3757613"/>
            <a:ext cx="8496300" cy="1500187"/>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lvl1pPr>
              <a:defRPr>
                <a:solidFill>
                  <a:schemeClr val="tx1"/>
                </a:solidFill>
              </a:defRPr>
            </a:lvl1pPr>
          </a:lstStyle>
          <a:p>
            <a:fld id="{5FE384C9-A36A-4C51-A757-4015A728520B}"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tx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03DC6B3D-051C-4BB5-9F4B-3A2474AD9302}"/>
              </a:ext>
            </a:extLst>
          </p:cNvPr>
          <p:cNvSpPr>
            <a:spLocks noGrp="1"/>
          </p:cNvSpPr>
          <p:nvPr>
            <p:ph type="body" sz="quarter" idx="13" hasCustomPrompt="1"/>
          </p:nvPr>
        </p:nvSpPr>
        <p:spPr>
          <a:xfrm>
            <a:off x="839788" y="1881188"/>
            <a:ext cx="5256212" cy="252412"/>
          </a:xfrm>
        </p:spPr>
        <p:txBody>
          <a:bodyPr lIns="18000"/>
          <a:lstStyle>
            <a:lvl1pPr>
              <a:defRPr sz="1300" b="1" spc="-20" baseline="0">
                <a:solidFill>
                  <a:srgbClr val="EA161F"/>
                </a:solidFill>
                <a:latin typeface="Arial" panose="020B0604020202020204" pitchFamily="34" charset="0"/>
                <a:cs typeface="Arial" panose="020B0604020202020204" pitchFamily="34" charset="0"/>
              </a:defRPr>
            </a:lvl1pPr>
          </a:lstStyle>
          <a:p>
            <a:pPr lvl="0"/>
            <a:r>
              <a:rPr lang="de-DE" dirty="0"/>
              <a:t>Spitzmarke hinzufügen</a:t>
            </a:r>
            <a:endParaRPr lang="de-CH" dirty="0"/>
          </a:p>
        </p:txBody>
      </p:sp>
      <p:sp>
        <p:nvSpPr>
          <p:cNvPr id="13" name="Textplatzhalter 4">
            <a:extLst>
              <a:ext uri="{FF2B5EF4-FFF2-40B4-BE49-F238E27FC236}">
                <a16:creationId xmlns:a16="http://schemas.microsoft.com/office/drawing/2014/main" id="{85EFC2AA-536C-4AE6-B953-354A6935FCE4}"/>
              </a:ext>
            </a:extLst>
          </p:cNvPr>
          <p:cNvSpPr>
            <a:spLocks noGrp="1"/>
          </p:cNvSpPr>
          <p:nvPr>
            <p:ph type="body" sz="quarter" idx="16" hasCustomPrompt="1"/>
          </p:nvPr>
        </p:nvSpPr>
        <p:spPr>
          <a:xfrm>
            <a:off x="291600" y="180000"/>
            <a:ext cx="1483200" cy="694800"/>
          </a:xfrm>
          <a:blipFill>
            <a:blip r:embed="rId2"/>
            <a:stretch>
              <a:fillRect/>
            </a:stretch>
          </a:blipFill>
        </p:spPr>
        <p:txBody>
          <a:bodyPr/>
          <a:lstStyle>
            <a:lvl1pPr>
              <a:defRPr sz="500" b="0" spc="0" baseline="0">
                <a:solidFill>
                  <a:schemeClr val="tx1"/>
                </a:solidFill>
                <a:latin typeface="Arial" panose="020B0604020202020204" pitchFamily="34" charset="0"/>
                <a:cs typeface="Arial" panose="020B0604020202020204" pitchFamily="34" charset="0"/>
              </a:defRPr>
            </a:lvl1pPr>
          </a:lstStyle>
          <a:p>
            <a:pPr lvl="0"/>
            <a:r>
              <a:rPr lang="de-DE" dirty="0"/>
              <a:t>   </a:t>
            </a:r>
            <a:endParaRPr lang="de-CH" dirty="0"/>
          </a:p>
        </p:txBody>
      </p:sp>
      <p:sp>
        <p:nvSpPr>
          <p:cNvPr id="15" name="Textplatzhalter 4">
            <a:extLst>
              <a:ext uri="{FF2B5EF4-FFF2-40B4-BE49-F238E27FC236}">
                <a16:creationId xmlns:a16="http://schemas.microsoft.com/office/drawing/2014/main" id="{5635797A-88C8-4B59-88E9-2DAF61D2598E}"/>
              </a:ext>
            </a:extLst>
          </p:cNvPr>
          <p:cNvSpPr>
            <a:spLocks noGrp="1"/>
          </p:cNvSpPr>
          <p:nvPr>
            <p:ph type="body" sz="quarter" idx="14" hasCustomPrompt="1"/>
          </p:nvPr>
        </p:nvSpPr>
        <p:spPr>
          <a:xfrm>
            <a:off x="839788" y="6033704"/>
            <a:ext cx="5256212" cy="430643"/>
          </a:xfrm>
        </p:spPr>
        <p:txBody>
          <a:bodyPr anchor="b"/>
          <a:lstStyle>
            <a:lvl1pPr>
              <a:defRPr sz="1300" b="0" spc="0" baseline="0">
                <a:solidFill>
                  <a:schemeClr val="tx1"/>
                </a:solidFill>
                <a:latin typeface="Arial" panose="020B0604020202020204" pitchFamily="34" charset="0"/>
                <a:cs typeface="Arial" panose="020B0604020202020204" pitchFamily="34" charset="0"/>
              </a:defRPr>
            </a:lvl1pPr>
          </a:lstStyle>
          <a:p>
            <a:pPr lvl="0"/>
            <a:r>
              <a:rPr lang="de-DE" dirty="0"/>
              <a:t>Referent/-in</a:t>
            </a:r>
            <a:br>
              <a:rPr lang="de-DE" dirty="0"/>
            </a:br>
            <a:r>
              <a:rPr lang="de-DE" dirty="0"/>
              <a:t>Organisationseinheit</a:t>
            </a:r>
            <a:endParaRPr lang="de-CH" dirty="0"/>
          </a:p>
        </p:txBody>
      </p:sp>
      <p:sp>
        <p:nvSpPr>
          <p:cNvPr id="2" name="Titel 1"/>
          <p:cNvSpPr>
            <a:spLocks noGrp="1"/>
          </p:cNvSpPr>
          <p:nvPr>
            <p:ph type="ctrTitle" hasCustomPrompt="1"/>
          </p:nvPr>
        </p:nvSpPr>
        <p:spPr>
          <a:xfrm>
            <a:off x="839788" y="2132856"/>
            <a:ext cx="8496300" cy="1558082"/>
          </a:xfrm>
        </p:spPr>
        <p:txBody>
          <a:bodyPr anchor="b"/>
          <a:lstStyle>
            <a:lvl1pPr algn="l">
              <a:lnSpc>
                <a:spcPct val="105000"/>
              </a:lnSpc>
              <a:defRPr sz="5100"/>
            </a:lvl1pPr>
          </a:lstStyle>
          <a:p>
            <a:r>
              <a:rPr lang="de-CH" dirty="0"/>
              <a:t>Titel (maximal zwei Zeilen)</a:t>
            </a:r>
          </a:p>
        </p:txBody>
      </p:sp>
    </p:spTree>
    <p:extLst>
      <p:ext uri="{BB962C8B-B14F-4D97-AF65-F5344CB8AC3E}">
        <p14:creationId xmlns:p14="http://schemas.microsoft.com/office/powerpoint/2010/main" val="1009635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mit Bild (dunkel)">
    <p:spTree>
      <p:nvGrpSpPr>
        <p:cNvPr id="1" name=""/>
        <p:cNvGrpSpPr/>
        <p:nvPr/>
      </p:nvGrpSpPr>
      <p:grpSpPr>
        <a:xfrm>
          <a:off x="0" y="0"/>
          <a:ext cx="0" cy="0"/>
          <a:chOff x="0" y="0"/>
          <a:chExt cx="0" cy="0"/>
        </a:xfrm>
      </p:grpSpPr>
      <p:sp>
        <p:nvSpPr>
          <p:cNvPr id="16" name="Bildplatzhalter 4">
            <a:extLst>
              <a:ext uri="{FF2B5EF4-FFF2-40B4-BE49-F238E27FC236}">
                <a16:creationId xmlns:a16="http://schemas.microsoft.com/office/drawing/2014/main" id="{6A2DDBDC-F105-48B2-B9F8-38121A7EA8C9}"/>
              </a:ext>
            </a:extLst>
          </p:cNvPr>
          <p:cNvSpPr>
            <a:spLocks noGrp="1"/>
          </p:cNvSpPr>
          <p:nvPr>
            <p:ph type="pic" sz="quarter" idx="17" hasCustomPrompt="1"/>
          </p:nvPr>
        </p:nvSpPr>
        <p:spPr>
          <a:xfrm>
            <a:off x="0" y="0"/>
            <a:ext cx="12192000" cy="6858000"/>
          </a:xfrm>
          <a:pattFill prst="lgCheck">
            <a:fgClr>
              <a:schemeClr val="bg1">
                <a:lumMod val="85000"/>
              </a:schemeClr>
            </a:fgClr>
            <a:bgClr>
              <a:schemeClr val="bg1"/>
            </a:bgClr>
          </a:pattFill>
        </p:spPr>
        <p:txBody>
          <a:bodyPr lIns="9432000" tIns="720000" rIns="360000" anchor="ctr"/>
          <a:lstStyle>
            <a:lvl1pPr algn="l">
              <a:defRPr sz="1200">
                <a:solidFill>
                  <a:schemeClr val="accent1">
                    <a:lumMod val="60000"/>
                    <a:lumOff val="40000"/>
                  </a:schemeClr>
                </a:solidFill>
              </a:defRPr>
            </a:lvl1pPr>
          </a:lstStyle>
          <a:p>
            <a:r>
              <a:rPr lang="de-CH" dirty="0"/>
              <a:t>Hintergrundbild durch «Drag &amp; Drop» in den Bildplatzhalter ziehen.</a:t>
            </a:r>
          </a:p>
        </p:txBody>
      </p:sp>
      <p:sp>
        <p:nvSpPr>
          <p:cNvPr id="11" name="Textplatzhalter 7">
            <a:extLst>
              <a:ext uri="{FF2B5EF4-FFF2-40B4-BE49-F238E27FC236}">
                <a16:creationId xmlns:a16="http://schemas.microsoft.com/office/drawing/2014/main" id="{97E9A6A2-BECC-4EE3-BDC3-5BB494708F28}"/>
              </a:ext>
            </a:extLst>
          </p:cNvPr>
          <p:cNvSpPr>
            <a:spLocks noGrp="1"/>
          </p:cNvSpPr>
          <p:nvPr>
            <p:ph type="body" sz="quarter" idx="18" hasCustomPrompt="1"/>
          </p:nvPr>
        </p:nvSpPr>
        <p:spPr>
          <a:xfrm>
            <a:off x="-240704" y="0"/>
            <a:ext cx="168696" cy="6858000"/>
          </a:xfrm>
          <a:solidFill>
            <a:schemeClr val="accent1">
              <a:alpha val="69804"/>
            </a:schemeClr>
          </a:solidFill>
        </p:spPr>
        <p:txBody>
          <a:bodyPr vert="vert270" lIns="18000" rIns="18000" anchor="t"/>
          <a:lstStyle>
            <a:lvl1pPr algn="r">
              <a:defRPr sz="820">
                <a:solidFill>
                  <a:schemeClr val="bg2"/>
                </a:solidFill>
              </a:defRPr>
            </a:lvl1pPr>
          </a:lstStyle>
          <a:p>
            <a:pPr lvl="0"/>
            <a:r>
              <a:rPr lang="de-DE" dirty="0"/>
              <a:t>Dunkle transparente Fläche – kann über das Hintergrundbild gezogen werden.</a:t>
            </a:r>
            <a:endParaRPr lang="de-CH" dirty="0"/>
          </a:p>
        </p:txBody>
      </p:sp>
      <p:sp>
        <p:nvSpPr>
          <p:cNvPr id="3" name="Untertitel 2"/>
          <p:cNvSpPr>
            <a:spLocks noGrp="1"/>
          </p:cNvSpPr>
          <p:nvPr>
            <p:ph type="subTitle" idx="1" hasCustomPrompt="1"/>
          </p:nvPr>
        </p:nvSpPr>
        <p:spPr>
          <a:xfrm>
            <a:off x="839788" y="3757613"/>
            <a:ext cx="8496300" cy="1500187"/>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lvl1pPr>
              <a:defRPr>
                <a:solidFill>
                  <a:schemeClr val="bg1"/>
                </a:solidFill>
              </a:defRPr>
            </a:lvl1pPr>
          </a:lstStyle>
          <a:p>
            <a:fld id="{0919DDA5-21C2-4B1D-B299-BF7B0E6DE0FE}"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03DC6B3D-051C-4BB5-9F4B-3A2474AD9302}"/>
              </a:ext>
            </a:extLst>
          </p:cNvPr>
          <p:cNvSpPr>
            <a:spLocks noGrp="1"/>
          </p:cNvSpPr>
          <p:nvPr>
            <p:ph type="body" sz="quarter" idx="13" hasCustomPrompt="1"/>
          </p:nvPr>
        </p:nvSpPr>
        <p:spPr>
          <a:xfrm>
            <a:off x="839788" y="1881188"/>
            <a:ext cx="5256212" cy="252412"/>
          </a:xfrm>
        </p:spPr>
        <p:txBody>
          <a:bodyPr lIns="18000"/>
          <a:lstStyle>
            <a:lvl1pPr>
              <a:defRPr sz="1300" b="1" spc="-20" baseline="0">
                <a:solidFill>
                  <a:schemeClr val="bg1"/>
                </a:solidFill>
                <a:latin typeface="Arial" panose="020B0604020202020204" pitchFamily="34" charset="0"/>
                <a:cs typeface="Arial" panose="020B0604020202020204" pitchFamily="34" charset="0"/>
              </a:defRPr>
            </a:lvl1pPr>
          </a:lstStyle>
          <a:p>
            <a:pPr lvl="0"/>
            <a:r>
              <a:rPr lang="de-DE" dirty="0"/>
              <a:t>Spitzmarke hinzufügen</a:t>
            </a:r>
            <a:endParaRPr lang="de-CH" dirty="0"/>
          </a:p>
        </p:txBody>
      </p:sp>
      <p:sp>
        <p:nvSpPr>
          <p:cNvPr id="13" name="Textplatzhalter 4">
            <a:extLst>
              <a:ext uri="{FF2B5EF4-FFF2-40B4-BE49-F238E27FC236}">
                <a16:creationId xmlns:a16="http://schemas.microsoft.com/office/drawing/2014/main" id="{85EFC2AA-536C-4AE6-B953-354A6935FCE4}"/>
              </a:ext>
            </a:extLst>
          </p:cNvPr>
          <p:cNvSpPr>
            <a:spLocks noGrp="1"/>
          </p:cNvSpPr>
          <p:nvPr>
            <p:ph type="body" sz="quarter" idx="16" hasCustomPrompt="1"/>
          </p:nvPr>
        </p:nvSpPr>
        <p:spPr>
          <a:xfrm>
            <a:off x="291600" y="180000"/>
            <a:ext cx="1483200" cy="694800"/>
          </a:xfrm>
          <a:blipFill>
            <a:blip r:embed="rId2"/>
            <a:stretch>
              <a:fillRect/>
            </a:stretch>
          </a:blipFill>
        </p:spPr>
        <p:txBody>
          <a:bodyPr/>
          <a:lstStyle>
            <a:lvl1pPr>
              <a:defRPr sz="500" b="0" spc="0" baseline="0">
                <a:solidFill>
                  <a:schemeClr val="tx1"/>
                </a:solidFill>
                <a:latin typeface="Arial" panose="020B0604020202020204" pitchFamily="34" charset="0"/>
                <a:cs typeface="Arial" panose="020B0604020202020204" pitchFamily="34" charset="0"/>
              </a:defRPr>
            </a:lvl1pPr>
          </a:lstStyle>
          <a:p>
            <a:pPr lvl="0"/>
            <a:r>
              <a:rPr lang="de-DE" dirty="0"/>
              <a:t>   </a:t>
            </a:r>
            <a:endParaRPr lang="de-CH" dirty="0"/>
          </a:p>
        </p:txBody>
      </p:sp>
      <p:sp>
        <p:nvSpPr>
          <p:cNvPr id="14" name="Textplatzhalter 4">
            <a:extLst>
              <a:ext uri="{FF2B5EF4-FFF2-40B4-BE49-F238E27FC236}">
                <a16:creationId xmlns:a16="http://schemas.microsoft.com/office/drawing/2014/main" id="{98F91D8E-4836-4A00-B7AC-63D16F153E2E}"/>
              </a:ext>
            </a:extLst>
          </p:cNvPr>
          <p:cNvSpPr>
            <a:spLocks noGrp="1"/>
          </p:cNvSpPr>
          <p:nvPr>
            <p:ph type="body" sz="quarter" idx="14" hasCustomPrompt="1"/>
          </p:nvPr>
        </p:nvSpPr>
        <p:spPr>
          <a:xfrm>
            <a:off x="839788" y="6033704"/>
            <a:ext cx="5256212" cy="430643"/>
          </a:xfrm>
        </p:spPr>
        <p:txBody>
          <a:bodyPr anchor="b"/>
          <a:lstStyle>
            <a:lvl1pPr>
              <a:defRPr sz="1300" b="0" spc="0" baseline="0">
                <a:solidFill>
                  <a:schemeClr val="bg1"/>
                </a:solidFill>
                <a:latin typeface="Arial" panose="020B0604020202020204" pitchFamily="34" charset="0"/>
                <a:cs typeface="Arial" panose="020B0604020202020204" pitchFamily="34" charset="0"/>
              </a:defRPr>
            </a:lvl1pPr>
          </a:lstStyle>
          <a:p>
            <a:pPr lvl="0"/>
            <a:r>
              <a:rPr lang="de-DE" dirty="0"/>
              <a:t>Referent/-in</a:t>
            </a:r>
            <a:br>
              <a:rPr lang="de-DE" dirty="0"/>
            </a:br>
            <a:r>
              <a:rPr lang="de-DE" dirty="0"/>
              <a:t>Organisationseinheit</a:t>
            </a:r>
            <a:endParaRPr lang="de-CH" dirty="0"/>
          </a:p>
        </p:txBody>
      </p:sp>
      <p:sp>
        <p:nvSpPr>
          <p:cNvPr id="2" name="Titel 1"/>
          <p:cNvSpPr>
            <a:spLocks noGrp="1"/>
          </p:cNvSpPr>
          <p:nvPr>
            <p:ph type="ctrTitle" hasCustomPrompt="1"/>
          </p:nvPr>
        </p:nvSpPr>
        <p:spPr>
          <a:xfrm>
            <a:off x="839788" y="2132856"/>
            <a:ext cx="8496300" cy="1558082"/>
          </a:xfrm>
        </p:spPr>
        <p:txBody>
          <a:bodyPr anchor="b"/>
          <a:lstStyle>
            <a:lvl1pPr algn="l">
              <a:lnSpc>
                <a:spcPct val="105000"/>
              </a:lnSpc>
              <a:defRPr sz="5100">
                <a:solidFill>
                  <a:schemeClr val="bg1"/>
                </a:solidFill>
              </a:defRPr>
            </a:lvl1pPr>
          </a:lstStyle>
          <a:p>
            <a:r>
              <a:rPr lang="de-CH" dirty="0"/>
              <a:t>Titel (maximal zwei Zeilen)</a:t>
            </a:r>
          </a:p>
        </p:txBody>
      </p:sp>
    </p:spTree>
    <p:extLst>
      <p:ext uri="{BB962C8B-B14F-4D97-AF65-F5344CB8AC3E}">
        <p14:creationId xmlns:p14="http://schemas.microsoft.com/office/powerpoint/2010/main" val="3891886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itel Schwarz">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solidFill>
                  <a:schemeClr val="bg1"/>
                </a:solidFill>
              </a:defRPr>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lvl1pPr>
              <a:defRPr>
                <a:solidFill>
                  <a:schemeClr val="bg1"/>
                </a:solidFill>
              </a:defRPr>
            </a:lvl1pPr>
          </a:lstStyle>
          <a:p>
            <a:fld id="{D57004AA-1953-4520-AF13-C3721611799D}"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pic>
        <p:nvPicPr>
          <p:cNvPr id="8" name="Grafik 7">
            <a:extLst>
              <a:ext uri="{FF2B5EF4-FFF2-40B4-BE49-F238E27FC236}">
                <a16:creationId xmlns:a16="http://schemas.microsoft.com/office/drawing/2014/main" id="{704820DD-3205-4E29-AE71-A382F3B95BB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93151" y="181525"/>
            <a:ext cx="1484308" cy="695266"/>
          </a:xfrm>
          <a:prstGeom prst="rect">
            <a:avLst/>
          </a:prstGeom>
        </p:spPr>
      </p:pic>
    </p:spTree>
    <p:extLst>
      <p:ext uri="{BB962C8B-B14F-4D97-AF65-F5344CB8AC3E}">
        <p14:creationId xmlns:p14="http://schemas.microsoft.com/office/powerpoint/2010/main" val="268624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Kapiteltitel Blaugrau">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solidFill>
                  <a:schemeClr val="bg1"/>
                </a:solidFill>
              </a:defRPr>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chemeClr val="tx2">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a:t>
            </a:r>
            <a:r>
              <a:rPr lang="de-CH" dirty="0"/>
              <a:t> hinzufügen</a:t>
            </a:r>
          </a:p>
        </p:txBody>
      </p:sp>
      <p:sp>
        <p:nvSpPr>
          <p:cNvPr id="7" name="Datumsplatzhalter 6"/>
          <p:cNvSpPr>
            <a:spLocks noGrp="1"/>
          </p:cNvSpPr>
          <p:nvPr>
            <p:ph type="dt" sz="half" idx="10"/>
          </p:nvPr>
        </p:nvSpPr>
        <p:spPr/>
        <p:txBody>
          <a:bodyPr/>
          <a:lstStyle>
            <a:lvl1pPr>
              <a:defRPr>
                <a:solidFill>
                  <a:schemeClr val="bg1"/>
                </a:solidFill>
              </a:defRPr>
            </a:lvl1pPr>
          </a:lstStyle>
          <a:p>
            <a:fld id="{2B1184E5-31D6-4FE5-BFC7-A07FAEBFE075}"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pic>
        <p:nvPicPr>
          <p:cNvPr id="8" name="Grafik 7">
            <a:extLst>
              <a:ext uri="{FF2B5EF4-FFF2-40B4-BE49-F238E27FC236}">
                <a16:creationId xmlns:a16="http://schemas.microsoft.com/office/drawing/2014/main" id="{704820DD-3205-4E29-AE71-A382F3B95BB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93151" y="181525"/>
            <a:ext cx="1484308" cy="695266"/>
          </a:xfrm>
          <a:prstGeom prst="rect">
            <a:avLst/>
          </a:prstGeom>
        </p:spPr>
      </p:pic>
    </p:spTree>
    <p:extLst>
      <p:ext uri="{BB962C8B-B14F-4D97-AF65-F5344CB8AC3E}">
        <p14:creationId xmlns:p14="http://schemas.microsoft.com/office/powerpoint/2010/main" val="233349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Kapiteltitel Rot">
    <p:bg>
      <p:bgPr>
        <a:solidFill>
          <a:srgbClr val="EA161F"/>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solidFill>
                  <a:schemeClr val="bg1"/>
                </a:solidFill>
              </a:defRPr>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rgbClr val="F69CA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a:t>
            </a:r>
            <a:r>
              <a:rPr lang="de-CH" dirty="0"/>
              <a:t> hinzufügen</a:t>
            </a:r>
          </a:p>
        </p:txBody>
      </p:sp>
      <p:sp>
        <p:nvSpPr>
          <p:cNvPr id="7" name="Datumsplatzhalter 6"/>
          <p:cNvSpPr>
            <a:spLocks noGrp="1"/>
          </p:cNvSpPr>
          <p:nvPr>
            <p:ph type="dt" sz="half" idx="10"/>
          </p:nvPr>
        </p:nvSpPr>
        <p:spPr/>
        <p:txBody>
          <a:bodyPr/>
          <a:lstStyle>
            <a:lvl1pPr>
              <a:defRPr>
                <a:solidFill>
                  <a:schemeClr val="bg1"/>
                </a:solidFill>
              </a:defRPr>
            </a:lvl1pPr>
          </a:lstStyle>
          <a:p>
            <a:fld id="{E370FF11-BE2C-4D33-A71B-8DA63E8A163E}"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pic>
        <p:nvPicPr>
          <p:cNvPr id="8" name="Grafik 7">
            <a:extLst>
              <a:ext uri="{FF2B5EF4-FFF2-40B4-BE49-F238E27FC236}">
                <a16:creationId xmlns:a16="http://schemas.microsoft.com/office/drawing/2014/main" id="{704820DD-3205-4E29-AE71-A382F3B95BB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93151" y="181525"/>
            <a:ext cx="1484308" cy="695266"/>
          </a:xfrm>
          <a:prstGeom prst="rect">
            <a:avLst/>
          </a:prstGeom>
        </p:spPr>
      </p:pic>
    </p:spTree>
    <p:extLst>
      <p:ext uri="{BB962C8B-B14F-4D97-AF65-F5344CB8AC3E}">
        <p14:creationId xmlns:p14="http://schemas.microsoft.com/office/powerpoint/2010/main" val="2531695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titel Weiss">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a:t>
            </a:r>
            <a:r>
              <a:rPr lang="de-CH" dirty="0"/>
              <a:t> hinzufügen</a:t>
            </a:r>
          </a:p>
        </p:txBody>
      </p:sp>
      <p:sp>
        <p:nvSpPr>
          <p:cNvPr id="7" name="Datumsplatzhalter 6"/>
          <p:cNvSpPr>
            <a:spLocks noGrp="1"/>
          </p:cNvSpPr>
          <p:nvPr>
            <p:ph type="dt" sz="half" idx="10"/>
          </p:nvPr>
        </p:nvSpPr>
        <p:spPr/>
        <p:txBody>
          <a:bodyPr/>
          <a:lstStyle/>
          <a:p>
            <a:fld id="{8F6544CA-0A33-40A7-B8DB-1E3475BC8352}"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203009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3" name="Inhaltsplatzhalter 2"/>
          <p:cNvSpPr>
            <a:spLocks noGrp="1"/>
          </p:cNvSpPr>
          <p:nvPr>
            <p:ph idx="1" hasCustomPrompt="1"/>
          </p:nvPr>
        </p:nvSpPr>
        <p:spPr/>
        <p:txBody>
          <a:bodyPr/>
          <a:lstStyle/>
          <a:p>
            <a:pPr lvl="0"/>
            <a:r>
              <a:rPr lang="de-DE" dirty="0"/>
              <a:t>Textmasterformat bearbeiten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7" name="Datumsplatzhalter 6"/>
          <p:cNvSpPr>
            <a:spLocks noGrp="1"/>
          </p:cNvSpPr>
          <p:nvPr>
            <p:ph type="dt" sz="half" idx="10"/>
          </p:nvPr>
        </p:nvSpPr>
        <p:spPr/>
        <p:txBody>
          <a:bodyPr/>
          <a:lstStyle/>
          <a:p>
            <a:fld id="{74B8EF3F-82B3-4CB2-B551-A5FCEA334651}" type="datetime4">
              <a:rPr lang="de-CH" smtClean="0"/>
              <a:t>18. Oktober 2026</a:t>
            </a:fld>
            <a:endParaRPr lang="de-CH" dirty="0"/>
          </a:p>
        </p:txBody>
      </p:sp>
      <p:sp>
        <p:nvSpPr>
          <p:cNvPr id="8" name="Fußzeilenplatzhalter 7"/>
          <p:cNvSpPr>
            <a:spLocks noGrp="1"/>
          </p:cNvSpPr>
          <p:nvPr>
            <p:ph type="ftr" sz="quarter" idx="11"/>
          </p:nvPr>
        </p:nvSpPr>
        <p:spPr/>
        <p:txBody>
          <a:bodyPr/>
          <a:lstStyle/>
          <a:p>
            <a:r>
              <a:rPr lang="de-CH"/>
              <a:t>Klassifizierung: intern / vertraulich / geheim</a:t>
            </a:r>
            <a:endParaRPr lang="de-CH" dirty="0"/>
          </a:p>
        </p:txBody>
      </p:sp>
      <p:sp>
        <p:nvSpPr>
          <p:cNvPr id="9" name="Foliennummernplatzhalter 8"/>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479570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ter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1071564"/>
            <a:ext cx="10983913" cy="541354"/>
          </a:xfrm>
        </p:spPr>
        <p:txBody>
          <a:bodyPr/>
          <a:lstStyle/>
          <a:p>
            <a:r>
              <a:rPr lang="fr-FR"/>
              <a:t>Modifiez le style du titre</a:t>
            </a:r>
            <a:endParaRPr lang="de-CH" dirty="0"/>
          </a:p>
        </p:txBody>
      </p:sp>
      <p:sp>
        <p:nvSpPr>
          <p:cNvPr id="3" name="Inhaltsplatzhalter 2"/>
          <p:cNvSpPr>
            <a:spLocks noGrp="1"/>
          </p:cNvSpPr>
          <p:nvPr>
            <p:ph idx="1" hasCustomPrompt="1"/>
          </p:nvPr>
        </p:nvSpPr>
        <p:spPr>
          <a:xfrm>
            <a:off x="838200" y="2420888"/>
            <a:ext cx="10983913" cy="4104456"/>
          </a:xfrm>
        </p:spPr>
        <p:txBody>
          <a:bodyPr/>
          <a:lstStyle/>
          <a:p>
            <a:pPr lvl="0"/>
            <a:r>
              <a:rPr lang="de-DE" dirty="0"/>
              <a:t>Textmasterformat bearbeiten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7" name="Datumsplatzhalter 6"/>
          <p:cNvSpPr>
            <a:spLocks noGrp="1"/>
          </p:cNvSpPr>
          <p:nvPr>
            <p:ph type="dt" sz="half" idx="10"/>
          </p:nvPr>
        </p:nvSpPr>
        <p:spPr/>
        <p:txBody>
          <a:bodyPr/>
          <a:lstStyle/>
          <a:p>
            <a:fld id="{1DFB08CE-F601-4561-962B-752A580B012A}" type="datetime4">
              <a:rPr lang="de-CH" smtClean="0"/>
              <a:t>18. Oktober 2026</a:t>
            </a:fld>
            <a:endParaRPr lang="de-CH" dirty="0"/>
          </a:p>
        </p:txBody>
      </p:sp>
      <p:sp>
        <p:nvSpPr>
          <p:cNvPr id="8" name="Fußzeilenplatzhalter 7"/>
          <p:cNvSpPr>
            <a:spLocks noGrp="1"/>
          </p:cNvSpPr>
          <p:nvPr>
            <p:ph type="ftr" sz="quarter" idx="11"/>
          </p:nvPr>
        </p:nvSpPr>
        <p:spPr/>
        <p:txBody>
          <a:bodyPr/>
          <a:lstStyle/>
          <a:p>
            <a:r>
              <a:rPr lang="de-CH"/>
              <a:t>Klassifizierung: intern / vertraulich / geheim</a:t>
            </a:r>
            <a:endParaRPr lang="de-CH" dirty="0"/>
          </a:p>
        </p:txBody>
      </p:sp>
      <p:sp>
        <p:nvSpPr>
          <p:cNvPr id="9" name="Foliennummernplatzhalter 8"/>
          <p:cNvSpPr>
            <a:spLocks noGrp="1"/>
          </p:cNvSpPr>
          <p:nvPr>
            <p:ph type="sldNum" sz="quarter" idx="12"/>
          </p:nvPr>
        </p:nvSpPr>
        <p:spPr/>
        <p:txBody>
          <a:body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1FE9C7B8-7467-451B-8352-4E9C0C569F88}"/>
              </a:ext>
            </a:extLst>
          </p:cNvPr>
          <p:cNvSpPr>
            <a:spLocks noGrp="1"/>
          </p:cNvSpPr>
          <p:nvPr>
            <p:ph type="body" sz="quarter" idx="13" hasCustomPrompt="1"/>
          </p:nvPr>
        </p:nvSpPr>
        <p:spPr>
          <a:xfrm>
            <a:off x="838200" y="1630018"/>
            <a:ext cx="10983913" cy="556592"/>
          </a:xfrm>
        </p:spPr>
        <p:txBody>
          <a:bodyPr/>
          <a:lstStyle>
            <a:lvl1pPr>
              <a:defRPr sz="3400">
                <a:solidFill>
                  <a:srgbClr val="999999"/>
                </a:solidFill>
              </a:defRPr>
            </a:lvl1pPr>
          </a:lstStyle>
          <a:p>
            <a:pPr lvl="0"/>
            <a:r>
              <a:rPr lang="de-DE" dirty="0"/>
              <a:t>Untertitel hinzufügen</a:t>
            </a:r>
          </a:p>
        </p:txBody>
      </p:sp>
    </p:spTree>
    <p:extLst>
      <p:ext uri="{BB962C8B-B14F-4D97-AF65-F5344CB8AC3E}">
        <p14:creationId xmlns:p14="http://schemas.microsoft.com/office/powerpoint/2010/main" val="1874466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3" name="Inhaltsplatzhalter 2"/>
          <p:cNvSpPr>
            <a:spLocks noGrp="1"/>
          </p:cNvSpPr>
          <p:nvPr>
            <p:ph sz="half" idx="1" hasCustomPrompt="1"/>
          </p:nvPr>
        </p:nvSpPr>
        <p:spPr>
          <a:xfrm>
            <a:off x="838200" y="1852612"/>
            <a:ext cx="5329808" cy="4672800"/>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Inhaltsplatzhalter 3"/>
          <p:cNvSpPr>
            <a:spLocks noGrp="1"/>
          </p:cNvSpPr>
          <p:nvPr>
            <p:ph sz="half" idx="2" hasCustomPrompt="1"/>
          </p:nvPr>
        </p:nvSpPr>
        <p:spPr>
          <a:xfrm>
            <a:off x="6493098" y="1852612"/>
            <a:ext cx="5329015" cy="4672799"/>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Datumsplatzhalter 7"/>
          <p:cNvSpPr>
            <a:spLocks noGrp="1"/>
          </p:cNvSpPr>
          <p:nvPr>
            <p:ph type="dt" sz="half" idx="10"/>
          </p:nvPr>
        </p:nvSpPr>
        <p:spPr/>
        <p:txBody>
          <a:bodyPr/>
          <a:lstStyle/>
          <a:p>
            <a:fld id="{8DD1B167-7135-43F3-AEAE-A730821D191A}"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3318625855"/>
      </p:ext>
    </p:extLst>
  </p:cSld>
  <p:clrMapOvr>
    <a:masterClrMapping/>
  </p:clrMapOvr>
  <p:extLst>
    <p:ext uri="{DCECCB84-F9BA-43D5-87BE-67443E8EF086}">
      <p15:sldGuideLst xmlns:p15="http://schemas.microsoft.com/office/powerpoint/2012/main">
        <p15:guide id="1" pos="39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Inhalt und Bild recht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8" name="Datumsplatzhalter 7"/>
          <p:cNvSpPr>
            <a:spLocks noGrp="1"/>
          </p:cNvSpPr>
          <p:nvPr>
            <p:ph type="dt" sz="half" idx="10"/>
          </p:nvPr>
        </p:nvSpPr>
        <p:spPr/>
        <p:txBody>
          <a:bodyPr/>
          <a:lstStyle/>
          <a:p>
            <a:fld id="{A4596CBD-DD5D-4F61-A35A-2BDD2301218D}"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
        <p:nvSpPr>
          <p:cNvPr id="12" name="Bildplatzhalter 4">
            <a:extLst>
              <a:ext uri="{FF2B5EF4-FFF2-40B4-BE49-F238E27FC236}">
                <a16:creationId xmlns:a16="http://schemas.microsoft.com/office/drawing/2014/main" id="{BDCA4218-6304-434F-B7B6-74DF28EC09A3}"/>
              </a:ext>
            </a:extLst>
          </p:cNvPr>
          <p:cNvSpPr>
            <a:spLocks noGrp="1"/>
          </p:cNvSpPr>
          <p:nvPr>
            <p:ph type="pic" sz="quarter" idx="13"/>
          </p:nvPr>
        </p:nvSpPr>
        <p:spPr>
          <a:xfrm>
            <a:off x="6492304" y="1916832"/>
            <a:ext cx="5329808" cy="4507035"/>
          </a:xfrm>
          <a:pattFill prst="lgCheck">
            <a:fgClr>
              <a:schemeClr val="bg1">
                <a:lumMod val="85000"/>
              </a:schemeClr>
            </a:fgClr>
            <a:bgClr>
              <a:schemeClr val="bg1"/>
            </a:bgClr>
          </a:pattFill>
        </p:spPr>
        <p:txBody>
          <a:bodyPr tIns="720000" anchor="ctr"/>
          <a:lstStyle>
            <a:lvl1pPr algn="ctr">
              <a:defRPr sz="1200"/>
            </a:lvl1pPr>
          </a:lstStyle>
          <a:p>
            <a:r>
              <a:rPr lang="fr-FR"/>
              <a:t>Cliquez sur l'icône pour ajouter une image</a:t>
            </a:r>
            <a:endParaRPr lang="de-CH"/>
          </a:p>
        </p:txBody>
      </p:sp>
      <p:sp>
        <p:nvSpPr>
          <p:cNvPr id="11" name="Inhaltsplatzhalter 2">
            <a:extLst>
              <a:ext uri="{FF2B5EF4-FFF2-40B4-BE49-F238E27FC236}">
                <a16:creationId xmlns:a16="http://schemas.microsoft.com/office/drawing/2014/main" id="{FC1C5F14-3075-4FD1-945B-02DE33860C0E}"/>
              </a:ext>
            </a:extLst>
          </p:cNvPr>
          <p:cNvSpPr>
            <a:spLocks noGrp="1"/>
          </p:cNvSpPr>
          <p:nvPr>
            <p:ph sz="half" idx="1" hasCustomPrompt="1"/>
          </p:nvPr>
        </p:nvSpPr>
        <p:spPr>
          <a:xfrm>
            <a:off x="838200" y="1852612"/>
            <a:ext cx="5329808" cy="4672800"/>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143935081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Inhalt und Bild link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8" name="Datumsplatzhalter 7"/>
          <p:cNvSpPr>
            <a:spLocks noGrp="1"/>
          </p:cNvSpPr>
          <p:nvPr>
            <p:ph type="dt" sz="half" idx="10"/>
          </p:nvPr>
        </p:nvSpPr>
        <p:spPr/>
        <p:txBody>
          <a:bodyPr/>
          <a:lstStyle/>
          <a:p>
            <a:fld id="{1DF9B2EE-0AB2-4AEE-914F-EB9E33FEECB6}"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
        <p:nvSpPr>
          <p:cNvPr id="14" name="Bildplatzhalter 4">
            <a:extLst>
              <a:ext uri="{FF2B5EF4-FFF2-40B4-BE49-F238E27FC236}">
                <a16:creationId xmlns:a16="http://schemas.microsoft.com/office/drawing/2014/main" id="{B7494CC6-D926-49A7-9F3F-4C583660BC8C}"/>
              </a:ext>
            </a:extLst>
          </p:cNvPr>
          <p:cNvSpPr>
            <a:spLocks noGrp="1"/>
          </p:cNvSpPr>
          <p:nvPr>
            <p:ph type="pic" sz="quarter" idx="15"/>
          </p:nvPr>
        </p:nvSpPr>
        <p:spPr>
          <a:xfrm>
            <a:off x="839788" y="1916831"/>
            <a:ext cx="5329808" cy="4507035"/>
          </a:xfrm>
          <a:pattFill prst="lgCheck">
            <a:fgClr>
              <a:schemeClr val="bg1">
                <a:lumMod val="85000"/>
              </a:schemeClr>
            </a:fgClr>
            <a:bgClr>
              <a:schemeClr val="bg1"/>
            </a:bgClr>
          </a:pattFill>
        </p:spPr>
        <p:txBody>
          <a:bodyPr tIns="720000" anchor="ctr"/>
          <a:lstStyle>
            <a:lvl1pPr algn="ctr">
              <a:defRPr sz="1200"/>
            </a:lvl1pPr>
          </a:lstStyle>
          <a:p>
            <a:r>
              <a:rPr lang="fr-FR"/>
              <a:t>Cliquez sur l'icône pour ajouter une image</a:t>
            </a:r>
            <a:endParaRPr lang="de-CH"/>
          </a:p>
        </p:txBody>
      </p:sp>
      <p:sp>
        <p:nvSpPr>
          <p:cNvPr id="11" name="Inhaltsplatzhalter 3">
            <a:extLst>
              <a:ext uri="{FF2B5EF4-FFF2-40B4-BE49-F238E27FC236}">
                <a16:creationId xmlns:a16="http://schemas.microsoft.com/office/drawing/2014/main" id="{FFF4BFA1-D66B-4323-A031-D7779026D276}"/>
              </a:ext>
            </a:extLst>
          </p:cNvPr>
          <p:cNvSpPr>
            <a:spLocks noGrp="1"/>
          </p:cNvSpPr>
          <p:nvPr>
            <p:ph sz="half" idx="2" hasCustomPrompt="1"/>
          </p:nvPr>
        </p:nvSpPr>
        <p:spPr>
          <a:xfrm>
            <a:off x="6493098" y="1852612"/>
            <a:ext cx="5329015" cy="4672799"/>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00203923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7" name="Datumsplatzhalter 6"/>
          <p:cNvSpPr>
            <a:spLocks noGrp="1"/>
          </p:cNvSpPr>
          <p:nvPr>
            <p:ph type="dt" sz="half" idx="10"/>
          </p:nvPr>
        </p:nvSpPr>
        <p:spPr/>
        <p:txBody>
          <a:bodyPr/>
          <a:lstStyle/>
          <a:p>
            <a:fld id="{EAA4AD0E-3E40-4A4C-8A31-E1A9AB0C5623}" type="datetime4">
              <a:rPr lang="de-CH" smtClean="0"/>
              <a:t>18. Oktober 2026</a:t>
            </a:fld>
            <a:endParaRPr lang="de-CH" dirty="0"/>
          </a:p>
        </p:txBody>
      </p:sp>
      <p:sp>
        <p:nvSpPr>
          <p:cNvPr id="8" name="Fußzeilenplatzhalter 7"/>
          <p:cNvSpPr>
            <a:spLocks noGrp="1"/>
          </p:cNvSpPr>
          <p:nvPr>
            <p:ph type="ftr" sz="quarter" idx="11"/>
          </p:nvPr>
        </p:nvSpPr>
        <p:spPr/>
        <p:txBody>
          <a:bodyPr/>
          <a:lstStyle/>
          <a:p>
            <a:r>
              <a:rPr lang="de-CH"/>
              <a:t>Klassifizierung: intern / vertraulich / geheim</a:t>
            </a:r>
            <a:endParaRPr lang="de-CH" dirty="0"/>
          </a:p>
        </p:txBody>
      </p:sp>
      <p:sp>
        <p:nvSpPr>
          <p:cNvPr id="9" name="Foliennummernplatzhalter 8"/>
          <p:cNvSpPr>
            <a:spLocks noGrp="1"/>
          </p:cNvSpPr>
          <p:nvPr>
            <p:ph type="sldNum" sz="quarter" idx="12"/>
          </p:nvPr>
        </p:nvSpPr>
        <p:spPr/>
        <p:txBody>
          <a:bodyPr/>
          <a:lstStyle/>
          <a:p>
            <a:fld id="{442AD375-037F-43D0-B059-5172DA06796A}" type="slidenum">
              <a:rPr lang="de-CH" smtClean="0"/>
              <a:pPr/>
              <a:t>‹N°›</a:t>
            </a:fld>
            <a:endParaRPr lang="de-CH" dirty="0"/>
          </a:p>
        </p:txBody>
      </p:sp>
      <p:sp>
        <p:nvSpPr>
          <p:cNvPr id="10" name="Bildplatzhalter 4">
            <a:extLst>
              <a:ext uri="{FF2B5EF4-FFF2-40B4-BE49-F238E27FC236}">
                <a16:creationId xmlns:a16="http://schemas.microsoft.com/office/drawing/2014/main" id="{A79F27DF-F3EE-4D6E-866F-A71D2FB41AF5}"/>
              </a:ext>
            </a:extLst>
          </p:cNvPr>
          <p:cNvSpPr>
            <a:spLocks noGrp="1"/>
          </p:cNvSpPr>
          <p:nvPr>
            <p:ph type="pic" sz="quarter" idx="15"/>
          </p:nvPr>
        </p:nvSpPr>
        <p:spPr>
          <a:xfrm>
            <a:off x="839787" y="1916831"/>
            <a:ext cx="10982325" cy="4507035"/>
          </a:xfrm>
          <a:pattFill prst="lgCheck">
            <a:fgClr>
              <a:schemeClr val="bg1">
                <a:lumMod val="85000"/>
              </a:schemeClr>
            </a:fgClr>
            <a:bgClr>
              <a:schemeClr val="bg1"/>
            </a:bgClr>
          </a:pattFill>
        </p:spPr>
        <p:txBody>
          <a:bodyPr tIns="720000" anchor="ctr"/>
          <a:lstStyle>
            <a:lvl1pPr algn="ctr">
              <a:defRPr sz="1200"/>
            </a:lvl1pPr>
          </a:lstStyle>
          <a:p>
            <a:r>
              <a:rPr lang="fr-FR"/>
              <a:t>Cliquez sur l'icône pour ajouter une image</a:t>
            </a:r>
            <a:endParaRPr lang="de-CH"/>
          </a:p>
        </p:txBody>
      </p:sp>
    </p:spTree>
    <p:extLst>
      <p:ext uri="{BB962C8B-B14F-4D97-AF65-F5344CB8AC3E}">
        <p14:creationId xmlns:p14="http://schemas.microsoft.com/office/powerpoint/2010/main" val="245175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6" name="Datumsplatzhalter 5"/>
          <p:cNvSpPr>
            <a:spLocks noGrp="1"/>
          </p:cNvSpPr>
          <p:nvPr>
            <p:ph type="dt" sz="half" idx="10"/>
          </p:nvPr>
        </p:nvSpPr>
        <p:spPr/>
        <p:txBody>
          <a:bodyPr/>
          <a:lstStyle/>
          <a:p>
            <a:fld id="{3084B0DB-8B37-4DE6-B20E-758F84ADAD1D}" type="datetime4">
              <a:rPr lang="de-CH" smtClean="0"/>
              <a:t>18. Oktober 2026</a:t>
            </a:fld>
            <a:endParaRPr lang="de-CH" dirty="0"/>
          </a:p>
        </p:txBody>
      </p:sp>
      <p:sp>
        <p:nvSpPr>
          <p:cNvPr id="7" name="Fußzeilenplatzhalter 6"/>
          <p:cNvSpPr>
            <a:spLocks noGrp="1"/>
          </p:cNvSpPr>
          <p:nvPr>
            <p:ph type="ftr" sz="quarter" idx="11"/>
          </p:nvPr>
        </p:nvSpPr>
        <p:spPr/>
        <p:txBody>
          <a:bodyPr/>
          <a:lstStyle/>
          <a:p>
            <a:r>
              <a:rPr lang="de-CH"/>
              <a:t>Klassifizierung: intern / vertraulich / geheim</a:t>
            </a:r>
            <a:endParaRPr lang="de-CH" dirty="0"/>
          </a:p>
        </p:txBody>
      </p:sp>
      <p:sp>
        <p:nvSpPr>
          <p:cNvPr id="8" name="Foliennummernplatzhalter 7"/>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3837984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fld id="{6A74091E-89C7-4DA0-88E9-E17602D8A5F2}" type="datetime4">
              <a:rPr lang="de-CH" smtClean="0"/>
              <a:t>18. Oktober 2026</a:t>
            </a:fld>
            <a:endParaRPr lang="de-CH" dirty="0"/>
          </a:p>
        </p:txBody>
      </p:sp>
      <p:sp>
        <p:nvSpPr>
          <p:cNvPr id="6" name="Fußzeilenplatzhalter 5"/>
          <p:cNvSpPr>
            <a:spLocks noGrp="1"/>
          </p:cNvSpPr>
          <p:nvPr>
            <p:ph type="ftr" sz="quarter" idx="11"/>
          </p:nvPr>
        </p:nvSpPr>
        <p:spPr/>
        <p:txBody>
          <a:bodyPr/>
          <a:lstStyle/>
          <a:p>
            <a:r>
              <a:rPr lang="de-CH"/>
              <a:t>Klassifizierung: intern / vertraulich / geheim</a:t>
            </a:r>
            <a:endParaRPr lang="de-CH" dirty="0"/>
          </a:p>
        </p:txBody>
      </p:sp>
      <p:sp>
        <p:nvSpPr>
          <p:cNvPr id="7" name="Foliennummernplatzhalter 6"/>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1071564"/>
            <a:ext cx="10983913" cy="619126"/>
          </a:xfrm>
          <a:prstGeom prst="rect">
            <a:avLst/>
          </a:prstGeom>
        </p:spPr>
        <p:txBody>
          <a:bodyPr vert="horz" lIns="0" tIns="0" rIns="0" bIns="0" rtlCol="0" anchor="t">
            <a:noAutofit/>
          </a:bodyPr>
          <a:lstStyle/>
          <a:p>
            <a:endParaRPr lang="de-CH" dirty="0"/>
          </a:p>
        </p:txBody>
      </p:sp>
      <p:sp>
        <p:nvSpPr>
          <p:cNvPr id="3" name="Textplatzhalter 2"/>
          <p:cNvSpPr>
            <a:spLocks noGrp="1"/>
          </p:cNvSpPr>
          <p:nvPr>
            <p:ph type="body" idx="1"/>
          </p:nvPr>
        </p:nvSpPr>
        <p:spPr>
          <a:xfrm>
            <a:off x="838200" y="1852613"/>
            <a:ext cx="10983913" cy="4672731"/>
          </a:xfrm>
          <a:prstGeom prst="rect">
            <a:avLst/>
          </a:prstGeom>
        </p:spPr>
        <p:txBody>
          <a:bodyPr vert="horz" lIns="0" tIns="0" rIns="0" bIns="0" rtlCol="0">
            <a:noAutofit/>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Datumsplatzhalter 3"/>
          <p:cNvSpPr>
            <a:spLocks noGrp="1"/>
          </p:cNvSpPr>
          <p:nvPr>
            <p:ph type="dt" sz="half" idx="2"/>
          </p:nvPr>
        </p:nvSpPr>
        <p:spPr>
          <a:xfrm>
            <a:off x="9336360" y="434133"/>
            <a:ext cx="2088232" cy="108000"/>
          </a:xfrm>
          <a:prstGeom prst="rect">
            <a:avLst/>
          </a:prstGeom>
        </p:spPr>
        <p:txBody>
          <a:bodyPr vert="horz" lIns="0" tIns="0" rIns="0" bIns="0" rtlCol="0" anchor="t" anchorCtr="0"/>
          <a:lstStyle>
            <a:lvl1pPr algn="l">
              <a:defRPr sz="820" baseline="0">
                <a:solidFill>
                  <a:schemeClr val="tx1"/>
                </a:solidFill>
              </a:defRPr>
            </a:lvl1pPr>
          </a:lstStyle>
          <a:p>
            <a:fld id="{25BFEB73-7DB0-4E1C-AD41-222EA41EE038}" type="datetime4">
              <a:rPr lang="de-CH" smtClean="0"/>
              <a:t>18. Oktober 2026</a:t>
            </a:fld>
            <a:endParaRPr lang="de-CH" dirty="0"/>
          </a:p>
        </p:txBody>
      </p:sp>
      <p:sp>
        <p:nvSpPr>
          <p:cNvPr id="5" name="Fußzeilenplatzhalter 4"/>
          <p:cNvSpPr>
            <a:spLocks noGrp="1"/>
          </p:cNvSpPr>
          <p:nvPr>
            <p:ph type="ftr" sz="quarter" idx="3"/>
          </p:nvPr>
        </p:nvSpPr>
        <p:spPr>
          <a:xfrm>
            <a:off x="9075025" y="297072"/>
            <a:ext cx="2743200" cy="167640"/>
          </a:xfrm>
          <a:prstGeom prst="rect">
            <a:avLst/>
          </a:prstGeom>
        </p:spPr>
        <p:txBody>
          <a:bodyPr vert="horz" lIns="0" tIns="0" rIns="0" bIns="0" rtlCol="0" anchor="t" anchorCtr="0"/>
          <a:lstStyle>
            <a:lvl1pPr algn="r">
              <a:defRPr sz="1100" baseline="0">
                <a:solidFill>
                  <a:schemeClr val="tx1"/>
                </a:solidFill>
              </a:defRPr>
            </a:lvl1pPr>
          </a:lstStyle>
          <a:p>
            <a:r>
              <a:rPr lang="de-CH"/>
              <a:t>Klassifizierung: intern / vertraulich / geheim</a:t>
            </a:r>
            <a:endParaRPr lang="de-CH" dirty="0"/>
          </a:p>
        </p:txBody>
      </p:sp>
      <p:sp>
        <p:nvSpPr>
          <p:cNvPr id="6" name="Foliennummernplatzhalter 5"/>
          <p:cNvSpPr>
            <a:spLocks noGrp="1"/>
          </p:cNvSpPr>
          <p:nvPr>
            <p:ph type="sldNum" sz="quarter" idx="4"/>
          </p:nvPr>
        </p:nvSpPr>
        <p:spPr>
          <a:xfrm>
            <a:off x="11496600" y="6452928"/>
            <a:ext cx="321625" cy="108000"/>
          </a:xfrm>
          <a:prstGeom prst="rect">
            <a:avLst/>
          </a:prstGeom>
        </p:spPr>
        <p:txBody>
          <a:bodyPr vert="horz" lIns="0" tIns="0" rIns="0" bIns="0" rtlCol="0" anchor="t" anchorCtr="0"/>
          <a:lstStyle>
            <a:lvl1pPr algn="r">
              <a:defRPr sz="820" baseline="0">
                <a:solidFill>
                  <a:schemeClr val="tx1"/>
                </a:solidFill>
              </a:defRPr>
            </a:lvl1pPr>
          </a:lstStyle>
          <a:p>
            <a:fld id="{442AD375-037F-43D0-B059-5172DA06796A}" type="slidenum">
              <a:rPr lang="de-CH" smtClean="0"/>
              <a:pPr/>
              <a:t>‹N°›</a:t>
            </a:fld>
            <a:endParaRPr lang="de-CH" dirty="0"/>
          </a:p>
        </p:txBody>
      </p:sp>
      <p:pic>
        <p:nvPicPr>
          <p:cNvPr id="13" name="Grafik 12">
            <a:extLst>
              <a:ext uri="{FF2B5EF4-FFF2-40B4-BE49-F238E27FC236}">
                <a16:creationId xmlns:a16="http://schemas.microsoft.com/office/drawing/2014/main" id="{BFEC6ACA-7650-4DEA-B34E-89DC63F8CE64}"/>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293151" y="181525"/>
            <a:ext cx="1484308" cy="695266"/>
          </a:xfrm>
          <a:prstGeom prst="rect">
            <a:avLst/>
          </a:prstGeom>
        </p:spPr>
      </p:pic>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58" r:id="rId3"/>
    <p:sldLayoutId id="2147483669" r:id="rId4"/>
    <p:sldLayoutId id="2147483671" r:id="rId5"/>
    <p:sldLayoutId id="2147483672" r:id="rId6"/>
    <p:sldLayoutId id="2147483668" r:id="rId7"/>
    <p:sldLayoutId id="2147483659" r:id="rId8"/>
    <p:sldLayoutId id="2147483673" r:id="rId9"/>
    <p:sldLayoutId id="2147483661" r:id="rId10"/>
    <p:sldLayoutId id="2147483674" r:id="rId11"/>
    <p:sldLayoutId id="2147483675" r:id="rId12"/>
    <p:sldLayoutId id="2147483665" r:id="rId13"/>
    <p:sldLayoutId id="2147483663" r:id="rId14"/>
    <p:sldLayoutId id="2147483664" r:id="rId15"/>
  </p:sldLayoutIdLst>
  <p:hf hdr="0" dt="0"/>
  <p:txStyles>
    <p:titleStyle>
      <a:lvl1pPr algn="l" defTabSz="447675" rtl="0" eaLnBrk="1" latinLnBrk="0" hangingPunct="1">
        <a:lnSpc>
          <a:spcPct val="100000"/>
        </a:lnSpc>
        <a:spcBef>
          <a:spcPct val="0"/>
        </a:spcBef>
        <a:buNone/>
        <a:defRPr sz="3400" kern="1200">
          <a:solidFill>
            <a:schemeClr val="tx1"/>
          </a:solidFill>
          <a:latin typeface="+mj-lt"/>
          <a:ea typeface="+mj-ea"/>
          <a:cs typeface="+mj-cs"/>
        </a:defRPr>
      </a:lvl1pPr>
    </p:titleStyle>
    <p:bodyStyle>
      <a:lvl1pPr marL="0" indent="0" algn="l" defTabSz="449263"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357188" indent="-357188"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2pPr>
      <a:lvl3pPr marL="715963" indent="-358775"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3pPr>
      <a:lvl4pPr marL="1079500" indent="-363538"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4pPr>
      <a:lvl5pPr marL="1436688" indent="-357188"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3840" userDrawn="1">
          <p15:clr>
            <a:srgbClr val="F26B43"/>
          </p15:clr>
        </p15:guide>
        <p15:guide id="3" pos="5881" userDrawn="1">
          <p15:clr>
            <a:srgbClr val="F26B43"/>
          </p15:clr>
        </p15:guide>
        <p15:guide id="4" pos="7447" userDrawn="1">
          <p15:clr>
            <a:srgbClr val="F26B43"/>
          </p15:clr>
        </p15:guide>
        <p15:guide id="5" orient="horz" pos="675" userDrawn="1">
          <p15:clr>
            <a:srgbClr val="F26B43"/>
          </p15:clr>
        </p15:guide>
        <p15:guide id="6" orient="horz" pos="11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5.xml"/><Relationship Id="rId91"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notesSlide" Target="../notesSlides/notesSlide8.xml"/><Relationship Id="rId90" Type="http://schemas.openxmlformats.org/officeDocument/2006/relationships/image" Target="../media/apertus_logo.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6.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9788" y="2286000"/>
            <a:ext cx="8229600" cy="1828800"/>
          </a:xfrm>
        </p:spPr>
        <p:txBody>
          <a:bodyPr/>
          <a:lstStyle/>
          <a:p>
            <a:r>
              <a:rPr sz="14000" b="1"/>
              <a:t>1191,</a:t>
            </a:r>
          </a:p>
        </p:txBody>
      </p:sp>
      <p:sp>
        <p:nvSpPr>
          <p:cNvPr id="3" name="Subtitle 2"/>
          <p:cNvSpPr>
            <a:spLocks noGrp="1"/>
          </p:cNvSpPr>
          <p:nvPr>
            <p:ph type="subTitle" idx="1"/>
          </p:nvPr>
        </p:nvSpPr>
        <p:spPr>
          <a:xfrm>
            <a:off x="839788" y="4160520"/>
            <a:ext cx="9601200" cy="1828800"/>
          </a:xfrm>
        </p:spPr>
        <p:txBody>
          <a:bodyPr/>
          <a:lstStyle/>
          <a:p>
            <a:r>
              <a:rPr sz="2800"/>
              <a:t>Duke Berchtold V promised to name his new city after the first animal he caught on the hunt.</a:t>
            </a:r>
          </a:p>
          <a:p>
            <a:r>
              <a:rPr sz="2800" b="1">
                <a:solidFill>
                  <a:srgbClr val="EA161F"/>
                </a:solidFill>
              </a:rPr>
              <a:t>Which animal was it?</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a:t>
            </a:fld>
            <a:endParaRPr lang="de-CH" dirty="0"/>
          </a:p>
        </p:txBody>
      </p:sp>
      <p:sp>
        <p:nvSpPr>
          <p:cNvPr id="903" name="TextBox 902"/>
          <p:cNvSpPr txBox="1"/>
          <p:nvPr/>
        </p:nvSpPr>
        <p:spPr>
          <a:xfrm>
            <a:off x="841248" y="1188720"/>
            <a:ext cx="5486400" cy="548640"/>
          </a:xfrm>
          <a:prstGeom prst="rect">
            <a:avLst/>
          </a:prstGeom>
          <a:noFill/>
        </p:spPr>
        <p:txBody>
          <a:bodyPr wrap="square" lIns="0" rIns="0" tIns="0" bIns="0" anchor="t">
            <a:spAutoFit/>
          </a:bodyPr>
          <a:lstStyle/>
          <a:p>
            <a:pPr algn="l">
              <a:spcAft>
                <a:spcPts val="0"/>
              </a:spcAft>
            </a:pPr>
            <a:r>
              <a:rPr sz="2800" b="1" i="0">
                <a:solidFill>
                  <a:srgbClr val="EA161F"/>
                </a:solidFill>
              </a:rPr>
              <a:t>Fun Fact</a:t>
            </a:r>
          </a:p>
        </p:txBody>
      </p:sp>
      <p:sp>
        <p:nvSpPr>
          <p:cNvPr id="904" name="TextBox 903"/>
          <p:cNvSpPr txBox="1"/>
          <p:nvPr/>
        </p:nvSpPr>
        <p:spPr>
          <a:xfrm>
            <a:off x="841248" y="1783080"/>
            <a:ext cx="8229600" cy="640080"/>
          </a:xfrm>
          <a:prstGeom prst="rect">
            <a:avLst/>
          </a:prstGeom>
          <a:noFill/>
        </p:spPr>
        <p:txBody>
          <a:bodyPr wrap="square" lIns="0" rIns="0" tIns="0" bIns="0" anchor="t">
            <a:spAutoFit/>
          </a:bodyPr>
          <a:lstStyle/>
          <a:p>
            <a:pPr algn="l">
              <a:spcAft>
                <a:spcPts val="0"/>
              </a:spcAft>
            </a:pPr>
            <a:r>
              <a:rPr sz="4000" b="0" i="0">
                <a:solidFill>
                  <a:srgbClr val="000000"/>
                </a:solidFill>
              </a:rPr>
              <a:t>In the year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9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2</a:t>
            </a:fld>
            <a:endParaRPr lang="de-CH" dirty="0"/>
          </a:p>
        </p:txBody>
      </p:sp>
      <p:sp>
        <p:nvSpPr>
          <p:cNvPr id="903" name="TextBox 902"/>
          <p:cNvSpPr txBox="1"/>
          <p:nvPr/>
        </p:nvSpPr>
        <p:spPr>
          <a:xfrm>
            <a:off x="841248" y="2148840"/>
            <a:ext cx="6583680" cy="1188720"/>
          </a:xfrm>
          <a:prstGeom prst="rect">
            <a:avLst/>
          </a:prstGeom>
          <a:noFill/>
        </p:spPr>
        <p:txBody>
          <a:bodyPr wrap="square" lIns="0" rIns="0" tIns="0" bIns="0" anchor="t">
            <a:spAutoFit/>
          </a:bodyPr>
          <a:lstStyle/>
          <a:p>
            <a:pPr algn="l">
              <a:spcAft>
                <a:spcPts val="0"/>
              </a:spcAft>
            </a:pPr>
            <a:r>
              <a:rPr sz="6600" b="0" i="0">
                <a:solidFill>
                  <a:srgbClr val="000000"/>
                </a:solidFill>
              </a:rPr>
              <a:t>It was a bear.</a:t>
            </a:r>
          </a:p>
        </p:txBody>
      </p:sp>
      <p:sp>
        <p:nvSpPr>
          <p:cNvPr id="904" name="TextBox 903"/>
          <p:cNvSpPr txBox="1"/>
          <p:nvPr/>
        </p:nvSpPr>
        <p:spPr>
          <a:xfrm>
            <a:off x="841248" y="3429000"/>
            <a:ext cx="6583680" cy="731520"/>
          </a:xfrm>
          <a:prstGeom prst="rect">
            <a:avLst/>
          </a:prstGeom>
          <a:noFill/>
        </p:spPr>
        <p:txBody>
          <a:bodyPr wrap="square" lIns="0" rIns="0" tIns="0" bIns="0" anchor="t">
            <a:spAutoFit/>
          </a:bodyPr>
          <a:lstStyle/>
          <a:p>
            <a:pPr algn="l">
              <a:spcAft>
                <a:spcPts val="0"/>
              </a:spcAft>
            </a:pPr>
            <a:r>
              <a:rPr sz="3000" b="0" i="0">
                <a:solidFill>
                  <a:srgbClr val="63737B"/>
                </a:solidFill>
              </a:rPr>
              <a:t>Bär  →  Bern</a:t>
            </a:r>
          </a:p>
        </p:txBody>
      </p:sp>
      <p:sp>
        <p:nvSpPr>
          <p:cNvPr id="905" name="TextBox 904"/>
          <p:cNvSpPr txBox="1"/>
          <p:nvPr/>
        </p:nvSpPr>
        <p:spPr>
          <a:xfrm>
            <a:off x="841248" y="4343400"/>
            <a:ext cx="6583680" cy="731520"/>
          </a:xfrm>
          <a:prstGeom prst="rect">
            <a:avLst/>
          </a:prstGeom>
          <a:noFill/>
        </p:spPr>
        <p:txBody>
          <a:bodyPr wrap="square" lIns="0" rIns="0" tIns="0" bIns="0" anchor="t">
            <a:spAutoFit/>
          </a:bodyPr>
          <a:lstStyle/>
          <a:p>
            <a:pPr algn="l">
              <a:spcAft>
                <a:spcPts val="0"/>
              </a:spcAft>
            </a:pPr>
            <a:r>
              <a:rPr sz="3200" b="1" i="0">
                <a:solidFill>
                  <a:srgbClr val="EA161F"/>
                </a:solidFill>
              </a:rPr>
              <a:t>Our Bärner Mutz</a:t>
            </a:r>
          </a:p>
        </p:txBody>
      </p:sp>
      <p:pic>
        <p:nvPicPr>
          <p:cNvPr id="906" name="Mutz (rise)" descr="rise-last.png"/>
          <p:cNvPicPr>
            <a:picLocks noChangeAspect="1"/>
          </p:cNvPicPr>
          <p:nvPr/>
        </p:nvPicPr>
        <p:blipFill>
          <a:blip r:embed="rId2"/>
          <a:stretch>
            <a:fillRect/>
          </a:stretch>
        </p:blipFill>
        <p:spPr>
          <a:xfrm>
            <a:off x="7269480" y="1143000"/>
            <a:ext cx="4480560" cy="44805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700"/>
                                  </p:stCondLst>
                                  <p:childTnLst>
                                    <p:set>
                                      <p:cBhvr>
                                        <p:cTn id="6" dur="1" fill="hold">
                                          <p:stCondLst>
                                            <p:cond delay="0"/>
                                          </p:stCondLst>
                                        </p:cTn>
                                        <p:tgtEl>
                                          <p:spTgt spid="904"/>
                                        </p:tgtEl>
                                        <p:attrNameLst>
                                          <p:attrName>style.visibility</p:attrName>
                                        </p:attrNameLst>
                                      </p:cBhvr>
                                      <p:to>
                                        <p:strVal val="visible"/>
                                      </p:to>
                                    </p:set>
                                    <p:animEffect transition="in" filter="fade">
                                      <p:cBhvr>
                                        <p:cTn id="7" dur="500"/>
                                        <p:tgtEl>
                                          <p:spTgt spid="904"/>
                                        </p:tgtEl>
                                      </p:cBhvr>
                                    </p:animEffect>
                                  </p:childTnLst>
                                </p:cTn>
                              </p:par>
                              <p:par>
                                <p:cTn id="8" presetID="10" presetClass="entr" presetSubtype="0" fill="hold" grpId="0" nodeType="withEffect">
                                  <p:stCondLst>
                                    <p:cond delay="2600"/>
                                  </p:stCondLst>
                                  <p:childTnLst>
                                    <p:set>
                                      <p:cBhvr>
                                        <p:cTn id="9" dur="1" fill="hold">
                                          <p:stCondLst>
                                            <p:cond delay="0"/>
                                          </p:stCondLst>
                                        </p:cTn>
                                        <p:tgtEl>
                                          <p:spTgt spid="905"/>
                                        </p:tgtEl>
                                        <p:attrNameLst>
                                          <p:attrName>style.visibility</p:attrName>
                                        </p:attrNameLst>
                                      </p:cBhvr>
                                      <p:to>
                                        <p:strVal val="visible"/>
                                      </p:to>
                                    </p:set>
                                    <p:animEffect transition="in" filter="fade">
                                      <p:cBhvr>
                                        <p:cTn id="10" dur="500"/>
                                        <p:tgtEl>
                                          <p:spTgt spid="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 grpId="0" animBg="1"/>
      <p:bldP spid="90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3" name="TextBox 902"/>
          <p:cNvSpPr txBox="1"/>
          <p:nvPr/>
        </p:nvSpPr>
        <p:spPr>
          <a:xfrm>
            <a:off x="841248" y="1600200"/>
            <a:ext cx="5212080" cy="1097280"/>
          </a:xfrm>
          <a:prstGeom prst="rect">
            <a:avLst/>
          </a:prstGeom>
          <a:noFill/>
        </p:spPr>
        <p:txBody>
          <a:bodyPr wrap="square" lIns="0" rIns="0" tIns="0" bIns="0" anchor="t">
            <a:spAutoFit/>
          </a:bodyPr>
          <a:lstStyle/>
          <a:p>
            <a:pPr algn="l">
              <a:spcAft>
                <a:spcPts val="0"/>
              </a:spcAft>
            </a:pPr>
            <a:r>
              <a:rPr sz="3200" b="0" i="0">
                <a:solidFill>
                  <a:srgbClr val="000000"/>
                </a:solidFill>
              </a:rPr>
              <a:t>Our Mutz has stopped hunting for prey.</a:t>
            </a:r>
          </a:p>
        </p:txBody>
      </p:sp>
      <p:sp>
        <p:nvSpPr>
          <p:cNvPr id="904" name="TextBox 903"/>
          <p:cNvSpPr txBox="1"/>
          <p:nvPr/>
        </p:nvSpPr>
        <p:spPr>
          <a:xfrm>
            <a:off x="841248" y="2926080"/>
            <a:ext cx="5212080" cy="640080"/>
          </a:xfrm>
          <a:prstGeom prst="rect">
            <a:avLst/>
          </a:prstGeom>
          <a:noFill/>
        </p:spPr>
        <p:txBody>
          <a:bodyPr wrap="square" lIns="0" rIns="0" tIns="0" bIns="0" anchor="t">
            <a:spAutoFit/>
          </a:bodyPr>
          <a:lstStyle/>
          <a:p>
            <a:pPr algn="l">
              <a:spcAft>
                <a:spcPts val="0"/>
              </a:spcAft>
            </a:pPr>
            <a:r>
              <a:rPr sz="3200" b="0" i="0">
                <a:solidFill>
                  <a:srgbClr val="000000"/>
                </a:solidFill>
              </a:rPr>
              <a:t>Now he looks for honey:</a:t>
            </a:r>
          </a:p>
        </p:txBody>
      </p:sp>
      <p:sp>
        <p:nvSpPr>
          <p:cNvPr id="905" name="TextBox 904"/>
          <p:cNvSpPr txBox="1"/>
          <p:nvPr/>
        </p:nvSpPr>
        <p:spPr>
          <a:xfrm>
            <a:off x="841248" y="3566160"/>
            <a:ext cx="5212080" cy="1371600"/>
          </a:xfrm>
          <a:prstGeom prst="rect">
            <a:avLst/>
          </a:prstGeom>
          <a:noFill/>
        </p:spPr>
        <p:txBody>
          <a:bodyPr wrap="square" lIns="0" rIns="0" tIns="0" bIns="0" anchor="t">
            <a:spAutoFit/>
          </a:bodyPr>
          <a:lstStyle/>
          <a:p>
            <a:pPr algn="l">
              <a:spcAft>
                <a:spcPts val="0"/>
              </a:spcAft>
            </a:pPr>
            <a:r>
              <a:rPr sz="3200" b="1" i="0">
                <a:solidFill>
                  <a:srgbClr val="EA161F"/>
                </a:solidFill>
              </a:rPr>
              <a:t>the right research partner for every company.</a:t>
            </a:r>
          </a:p>
        </p:txBody>
      </p:sp>
      <p:pic>
        <p:nvPicPr>
          <p:cNvPr id="907" name="Mutz (splash)" descr="splash-last.png"/>
          <p:cNvPicPr>
            <a:picLocks noChangeAspect="1"/>
          </p:cNvPicPr>
          <p:nvPr/>
        </p:nvPicPr>
        <p:blipFill>
          <a:blip r:embed="rId2"/>
          <a:stretch>
            <a:fillRect/>
          </a:stretch>
        </p:blipFill>
        <p:spPr>
          <a:xfrm>
            <a:off x="6126480" y="868680"/>
            <a:ext cx="5852160" cy="5852160"/>
          </a:xfrm>
          <a:prstGeom prst="rect">
            <a:avLst/>
          </a:prstGeom>
        </p:spPr>
      </p:pic>
      <p:sp>
        <p:nvSpPr>
          <p:cNvPr id="908" name="Challenge owner label"/>
          <p:cNvSpPr txBox="1"/>
          <p:nvPr/>
        </p:nvSpPr>
        <p:spPr>
          <a:xfrm>
            <a:off x="7318988" y="5930302"/>
            <a:ext cx="1371600" cy="152400"/>
          </a:xfrm>
          <a:prstGeom prst="rect">
            <a:avLst/>
          </a:prstGeom>
          <a:noFill/>
        </p:spPr>
        <p:txBody>
          <a:bodyPr wrap="square" lIns="0" rIns="0" tIns="0" bIns="0" anchor="t">
            <a:spAutoFit/>
          </a:bodyPr>
          <a:lstStyle/>
          <a:p>
            <a:pPr algn="r">
              <a:spcAft>
                <a:spcPts val="0"/>
              </a:spcAft>
            </a:pPr>
            <a:r>
              <a:rPr lang="en-GB" sz="1000" b="0" i="0">
                <a:solidFill>
                  <a:srgbClr val="63737B"/>
                </a:solidFill>
              </a:rPr>
              <a:t>Challenge owner</a:t>
            </a:r>
          </a:p>
        </p:txBody>
      </p:sp>
      <p:pic>
        <p:nvPicPr>
          <p:cNvPr id="909" name="Bern Economic Development Agency logo" descr="Bern Economic Development Agency"/>
          <p:cNvPicPr>
            <a:picLocks noChangeAspect="1"/>
          </p:cNvPicPr>
          <p:nvPr/>
        </p:nvPicPr>
        <p:blipFill>
          <a:blip r:embed="rId91"/>
          <a:stretch>
            <a:fillRect/>
          </a:stretch>
        </p:blipFill>
        <p:spPr>
          <a:xfrm>
            <a:off x="8800316" y="5577840"/>
            <a:ext cx="1566717" cy="502920"/>
          </a:xfrm>
          <a:prstGeom prst="rect">
            <a:avLst/>
          </a:prstGeom>
        </p:spPr>
      </p:pic>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3</a:t>
            </a:fld>
            <a:endParaRPr lang="de-CH"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600"/>
                                  </p:stCondLst>
                                  <p:childTnLst>
                                    <p:set>
                                      <p:cBhvr>
                                        <p:cTn id="6" dur="1" fill="hold">
                                          <p:stCondLst>
                                            <p:cond delay="0"/>
                                          </p:stCondLst>
                                        </p:cTn>
                                        <p:tgtEl>
                                          <p:spTgt spid="904"/>
                                        </p:tgtEl>
                                        <p:attrNameLst>
                                          <p:attrName>style.visibility</p:attrName>
                                        </p:attrNameLst>
                                      </p:cBhvr>
                                      <p:to>
                                        <p:strVal val="visible"/>
                                      </p:to>
                                    </p:set>
                                    <p:animEffect transition="in" filter="fade">
                                      <p:cBhvr>
                                        <p:cTn id="7" dur="500"/>
                                        <p:tgtEl>
                                          <p:spTgt spid="904"/>
                                        </p:tgtEl>
                                      </p:cBhvr>
                                    </p:animEffect>
                                  </p:childTnLst>
                                </p:cTn>
                              </p:par>
                              <p:par>
                                <p:cTn id="8" presetID="10" presetClass="entr" presetSubtype="0" fill="hold" grpId="0" nodeType="withEffect">
                                  <p:stCondLst>
                                    <p:cond delay="4600"/>
                                  </p:stCondLst>
                                  <p:childTnLst>
                                    <p:set>
                                      <p:cBhvr>
                                        <p:cTn id="9" dur="1" fill="hold">
                                          <p:stCondLst>
                                            <p:cond delay="0"/>
                                          </p:stCondLst>
                                        </p:cTn>
                                        <p:tgtEl>
                                          <p:spTgt spid="905"/>
                                        </p:tgtEl>
                                        <p:attrNameLst>
                                          <p:attrName>style.visibility</p:attrName>
                                        </p:attrNameLst>
                                      </p:cBhvr>
                                      <p:to>
                                        <p:strVal val="visible"/>
                                      </p:to>
                                    </p:set>
                                    <p:animEffect transition="in" filter="fade">
                                      <p:cBhvr>
                                        <p:cTn id="10" dur="500"/>
                                        <p:tgtEl>
                                          <p:spTgt spid="905"/>
                                        </p:tgtEl>
                                      </p:cBhvr>
                                    </p:animEffect>
                                  </p:childTnLst>
                                </p:cTn>
                              </p:par>
                              <p:par>
                                <p:cTn id="11" presetID="10" presetClass="entr" presetSubtype="0" fill="hold" grpId="0" nodeType="withEffect">
                                  <p:stCondLst>
                                    <p:cond delay="5600"/>
                                  </p:stCondLst>
                                  <p:childTnLst>
                                    <p:set>
                                      <p:cBhvr>
                                        <p:cTn id="12" dur="1" fill="hold">
                                          <p:stCondLst>
                                            <p:cond delay="0"/>
                                          </p:stCondLst>
                                        </p:cTn>
                                        <p:tgtEl>
                                          <p:spTgt spid="906"/>
                                        </p:tgtEl>
                                        <p:attrNameLst>
                                          <p:attrName>style.visibility</p:attrName>
                                        </p:attrNameLst>
                                      </p:cBhvr>
                                      <p:to>
                                        <p:strVal val="visible"/>
                                      </p:to>
                                    </p:set>
                                    <p:animEffect transition="in" filter="fade">
                                      <p:cBhvr>
                                        <p:cTn id="13" dur="500"/>
                                        <p:tgtEl>
                                          <p:spTgt spid="906"/>
                                        </p:tgtEl>
                                      </p:cBhvr>
                                    </p:animEffect>
                                  </p:childTnLst>
                                </p:cTn>
                              </p:par>
                              <p:par>
                                <p:cTn id="14" presetID="10" presetClass="entr" presetSubtype="0" fill="hold" grpId="0" nodeType="withEffect">
                                  <p:stCondLst>
                                    <p:cond delay="5600"/>
                                  </p:stCondLst>
                                  <p:childTnLst>
                                    <p:set>
                                      <p:cBhvr>
                                        <p:cTn id="15" dur="1" fill="hold">
                                          <p:stCondLst>
                                            <p:cond delay="0"/>
                                          </p:stCondLst>
                                        </p:cTn>
                                        <p:tgtEl>
                                          <p:spTgt spid="908"/>
                                        </p:tgtEl>
                                        <p:attrNameLst>
                                          <p:attrName>style.visibility</p:attrName>
                                        </p:attrNameLst>
                                      </p:cBhvr>
                                      <p:to>
                                        <p:strVal val="visible"/>
                                      </p:to>
                                    </p:set>
                                    <p:animEffect transition="in" filter="fade">
                                      <p:cBhvr>
                                        <p:cTn id="16" dur="500"/>
                                        <p:tgtEl>
                                          <p:spTgt spid="908"/>
                                        </p:tgtEl>
                                      </p:cBhvr>
                                    </p:animEffect>
                                  </p:childTnLst>
                                </p:cTn>
                              </p:par>
                              <p:par>
                                <p:cTn id="17" presetID="10" presetClass="entr" presetSubtype="0" fill="hold" grpId="0" nodeType="withEffect">
                                  <p:stCondLst>
                                    <p:cond delay="5600"/>
                                  </p:stCondLst>
                                  <p:childTnLst>
                                    <p:set>
                                      <p:cBhvr>
                                        <p:cTn id="18" dur="1" fill="hold">
                                          <p:stCondLst>
                                            <p:cond delay="0"/>
                                          </p:stCondLst>
                                        </p:cTn>
                                        <p:tgtEl>
                                          <p:spTgt spid="909"/>
                                        </p:tgtEl>
                                        <p:attrNameLst>
                                          <p:attrName>style.visibility</p:attrName>
                                        </p:attrNameLst>
                                      </p:cBhvr>
                                      <p:to>
                                        <p:strVal val="visible"/>
                                      </p:to>
                                    </p:set>
                                    <p:animEffect transition="in" filter="fade">
                                      <p:cBhvr>
                                        <p:cTn id="19" dur="500"/>
                                        <p:tgtEl>
                                          <p:spTgt spid="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 grpId="0" animBg="1"/>
      <p:bldP spid="905" grpId="0" animBg="1"/>
      <p:bldP spid="906" grpId="0" animBg="1"/>
      <p:bldP spid="90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4</a:t>
            </a:fld>
            <a:endParaRPr lang="de-CH" dirty="0"/>
          </a:p>
        </p:txBody>
      </p:sp>
      <p:sp>
        <p:nvSpPr>
          <p:cNvPr id="903" name="TextBox 902"/>
          <p:cNvSpPr txBox="1"/>
          <p:nvPr/>
        </p:nvSpPr>
        <p:spPr>
          <a:xfrm>
            <a:off x="841248" y="1234440"/>
            <a:ext cx="6035040" cy="2011680"/>
          </a:xfrm>
          <a:prstGeom prst="rect">
            <a:avLst/>
          </a:prstGeom>
          <a:noFill/>
        </p:spPr>
        <p:txBody>
          <a:bodyPr wrap="square" lIns="0" rIns="0" tIns="0" bIns="0" anchor="t">
            <a:spAutoFit/>
          </a:bodyPr>
          <a:lstStyle/>
          <a:p>
            <a:pPr algn="l">
              <a:spcAft>
                <a:spcPts val="0"/>
              </a:spcAft>
            </a:pPr>
            <a:r>
              <a:rPr sz="15000" b="1" i="0">
                <a:solidFill>
                  <a:srgbClr val="EA161F"/>
                </a:solidFill>
              </a:rPr>
              <a:t>300</a:t>
            </a:r>
          </a:p>
        </p:txBody>
      </p:sp>
      <p:sp>
        <p:nvSpPr>
          <p:cNvPr id="904" name="TextBox 903"/>
          <p:cNvSpPr txBox="1"/>
          <p:nvPr/>
        </p:nvSpPr>
        <p:spPr>
          <a:xfrm>
            <a:off x="841248" y="3246120"/>
            <a:ext cx="6035040" cy="548640"/>
          </a:xfrm>
          <a:prstGeom prst="rect">
            <a:avLst/>
          </a:prstGeom>
          <a:noFill/>
        </p:spPr>
        <p:txBody>
          <a:bodyPr wrap="square" lIns="0" rIns="0" tIns="0" bIns="0" anchor="t">
            <a:spAutoFit/>
          </a:bodyPr>
          <a:lstStyle/>
          <a:p>
            <a:pPr algn="l">
              <a:spcAft>
                <a:spcPts val="0"/>
              </a:spcAft>
            </a:pPr>
            <a:r>
              <a:rPr sz="2800" b="0" i="0">
                <a:solidFill>
                  <a:srgbClr val="000000"/>
                </a:solidFill>
              </a:rPr>
              <a:t>confidential company leads a year</a:t>
            </a:r>
          </a:p>
        </p:txBody>
      </p:sp>
      <p:sp>
        <p:nvSpPr>
          <p:cNvPr id="905" name="TextBox 904"/>
          <p:cNvSpPr txBox="1"/>
          <p:nvPr/>
        </p:nvSpPr>
        <p:spPr>
          <a:xfrm>
            <a:off x="841248" y="4114800"/>
            <a:ext cx="5852160" cy="1371600"/>
          </a:xfrm>
          <a:prstGeom prst="rect">
            <a:avLst/>
          </a:prstGeom>
          <a:noFill/>
        </p:spPr>
        <p:txBody>
          <a:bodyPr wrap="square" lIns="0" rIns="0" tIns="0" bIns="0" anchor="t">
            <a:spAutoFit/>
          </a:bodyPr>
          <a:lstStyle/>
          <a:p>
            <a:pPr algn="l">
              <a:spcAft>
                <a:spcPts val="0"/>
              </a:spcAft>
            </a:pPr>
            <a:r>
              <a:rPr sz="2200" b="0" i="0">
                <a:solidFill>
                  <a:srgbClr val="63737B"/>
                </a:solidFill>
              </a:rPr>
              <a:t>Each one needs the right partner, hidden somewhere in hundreds of research pages, in three languages.</a:t>
            </a:r>
          </a:p>
        </p:txBody>
      </p:sp>
      <p:pic>
        <p:nvPicPr>
          <p:cNvPr id="906" name="Hive of research pages" descr="hive.png"/>
          <p:cNvPicPr>
            <a:picLocks noChangeAspect="1"/>
          </p:cNvPicPr>
          <p:nvPr/>
        </p:nvPicPr>
        <p:blipFill>
          <a:blip r:embed="rId2"/>
          <a:stretch>
            <a:fillRect/>
          </a:stretch>
        </p:blipFill>
        <p:spPr>
          <a:xfrm>
            <a:off x="6903720" y="960120"/>
            <a:ext cx="4937760" cy="49377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300"/>
                                  </p:stCondLst>
                                  <p:childTnLst>
                                    <p:set>
                                      <p:cBhvr>
                                        <p:cTn id="6" dur="1" fill="hold">
                                          <p:stCondLst>
                                            <p:cond delay="0"/>
                                          </p:stCondLst>
                                        </p:cTn>
                                        <p:tgtEl>
                                          <p:spTgt spid="905"/>
                                        </p:tgtEl>
                                        <p:attrNameLst>
                                          <p:attrName>style.visibility</p:attrName>
                                        </p:attrNameLst>
                                      </p:cBhvr>
                                      <p:to>
                                        <p:strVal val="visible"/>
                                      </p:to>
                                    </p:set>
                                    <p:animEffect transition="in" filter="fade">
                                      <p:cBhvr>
                                        <p:cTn id="7" dur="500"/>
                                        <p:tgtEl>
                                          <p:spTgt spid="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9788" y="2132855"/>
            <a:ext cx="6766560" cy="735293"/>
          </a:xfrm>
        </p:spPr>
        <p:txBody>
          <a:bodyPr/>
          <a:lstStyle/>
          <a:p>
            <a:r>
              <a:t>Live demo</a:t>
            </a:r>
          </a:p>
        </p:txBody>
      </p:sp>
      <p:sp>
        <p:nvSpPr>
          <p:cNvPr id="3" name="Subtitle 2"/>
          <p:cNvSpPr>
            <a:spLocks noGrp="1"/>
          </p:cNvSpPr>
          <p:nvPr>
            <p:ph type="subTitle" idx="1"/>
          </p:nvPr>
        </p:nvSpPr>
        <p:spPr>
          <a:xfrm>
            <a:off x="839788" y="2924945"/>
            <a:ext cx="6766560" cy="1670986"/>
          </a:xfrm>
        </p:spPr>
        <p:txBody>
          <a:bodyPr/>
          <a:lstStyle/>
          <a:p>
            <a:r>
              <a:rPr sz="2600"/>
              <a:t>Watch Mutz find the honey.</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5</a:t>
            </a:fld>
            <a:endParaRPr lang="de-CH" dirty="0"/>
          </a:p>
        </p:txBody>
      </p:sp>
      <p:pic>
        <p:nvPicPr>
          <p:cNvPr id="903" name="Mutz (sniff)" descr="sniff-last.png"/>
          <p:cNvPicPr>
            <a:picLocks noChangeAspect="1"/>
          </p:cNvPicPr>
          <p:nvPr/>
        </p:nvPicPr>
        <p:blipFill>
          <a:blip r:embed="rId2"/>
          <a:stretch>
            <a:fillRect/>
          </a:stretch>
        </p:blipFill>
        <p:spPr>
          <a:xfrm>
            <a:off x="7680960" y="1417320"/>
            <a:ext cx="3977639" cy="3977639"/>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Honest and trustworthy by design</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6</a:t>
            </a:fld>
            <a:endParaRPr lang="de-CH" dirty="0"/>
          </a:p>
        </p:txBody>
      </p:sp>
      <p:pic>
        <p:nvPicPr>
          <p:cNvPr id="903" name="Mutz (pots)" descr="pots-last.png"/>
          <p:cNvPicPr>
            <a:picLocks noChangeAspect="1"/>
          </p:cNvPicPr>
          <p:nvPr/>
        </p:nvPicPr>
        <p:blipFill>
          <a:blip r:embed="rId2"/>
          <a:stretch>
            <a:fillRect/>
          </a:stretch>
        </p:blipFill>
        <p:spPr>
          <a:xfrm>
            <a:off x="841248" y="2377440"/>
            <a:ext cx="10972800" cy="2011680"/>
          </a:xfrm>
          <a:prstGeom prst="rect">
            <a:avLst/>
          </a:prstGeom>
        </p:spPr>
      </p:pic>
      <p:sp>
        <p:nvSpPr>
          <p:cNvPr id="904" name="TextBox 903"/>
          <p:cNvSpPr txBox="1"/>
          <p:nvPr/>
        </p:nvSpPr>
        <p:spPr>
          <a:xfrm>
            <a:off x="841248" y="4572001"/>
            <a:ext cx="3383280" cy="548640"/>
          </a:xfrm>
          <a:prstGeom prst="rect">
            <a:avLst/>
          </a:prstGeom>
          <a:noFill/>
        </p:spPr>
        <p:txBody>
          <a:bodyPr wrap="square" lIns="0" rIns="0" tIns="0" bIns="0" anchor="t">
            <a:spAutoFit/>
          </a:bodyPr>
          <a:lstStyle/>
          <a:p>
            <a:pPr algn="l">
              <a:spcAft>
                <a:spcPts val="0"/>
              </a:spcAft>
            </a:pPr>
            <a:r>
              <a:rPr sz="2400" b="1" i="0">
                <a:solidFill>
                  <a:srgbClr val="000000"/>
                </a:solidFill>
              </a:rPr>
              <a:t>Strong</a:t>
            </a:r>
          </a:p>
        </p:txBody>
      </p:sp>
      <p:sp>
        <p:nvSpPr>
          <p:cNvPr id="905" name="TextBox 904"/>
          <p:cNvSpPr txBox="1"/>
          <p:nvPr/>
        </p:nvSpPr>
        <p:spPr>
          <a:xfrm>
            <a:off x="4544568" y="4572001"/>
            <a:ext cx="3383280" cy="548640"/>
          </a:xfrm>
          <a:prstGeom prst="rect">
            <a:avLst/>
          </a:prstGeom>
          <a:noFill/>
        </p:spPr>
        <p:txBody>
          <a:bodyPr wrap="square" lIns="0" rIns="0" tIns="0" bIns="0" anchor="t">
            <a:spAutoFit/>
          </a:bodyPr>
          <a:lstStyle/>
          <a:p>
            <a:pPr algn="l">
              <a:spcAft>
                <a:spcPts val="0"/>
              </a:spcAft>
            </a:pPr>
            <a:r>
              <a:rPr sz="2400" b="1" i="0">
                <a:solidFill>
                  <a:srgbClr val="000000"/>
                </a:solidFill>
              </a:rPr>
              <a:t>Thin</a:t>
            </a:r>
          </a:p>
        </p:txBody>
      </p:sp>
      <p:sp>
        <p:nvSpPr>
          <p:cNvPr id="906" name="TextBox 905"/>
          <p:cNvSpPr txBox="1"/>
          <p:nvPr/>
        </p:nvSpPr>
        <p:spPr>
          <a:xfrm>
            <a:off x="8247888" y="4572001"/>
            <a:ext cx="3383280" cy="548640"/>
          </a:xfrm>
          <a:prstGeom prst="rect">
            <a:avLst/>
          </a:prstGeom>
          <a:noFill/>
        </p:spPr>
        <p:txBody>
          <a:bodyPr wrap="square" lIns="0" rIns="0" tIns="0" bIns="0" anchor="t">
            <a:spAutoFit/>
          </a:bodyPr>
          <a:lstStyle/>
          <a:p>
            <a:pPr algn="l">
              <a:spcAft>
                <a:spcPts val="0"/>
              </a:spcAft>
            </a:pPr>
            <a:r>
              <a:rPr sz="2400" b="1" i="0">
                <a:solidFill>
                  <a:srgbClr val="EA161F"/>
                </a:solidFill>
              </a:rPr>
              <a:t>Kei Honig</a:t>
            </a:r>
          </a:p>
        </p:txBody>
      </p:sp>
      <p:sp>
        <p:nvSpPr>
          <p:cNvPr id="907" name="TextBox 906"/>
          <p:cNvSpPr txBox="1"/>
          <p:nvPr/>
        </p:nvSpPr>
        <p:spPr>
          <a:xfrm>
            <a:off x="841248" y="5623561"/>
            <a:ext cx="10972800" cy="640080"/>
          </a:xfrm>
          <a:prstGeom prst="rect">
            <a:avLst/>
          </a:prstGeom>
          <a:noFill/>
        </p:spPr>
        <p:txBody>
          <a:bodyPr wrap="square" lIns="0" rIns="0" tIns="0" bIns="0" anchor="t">
            <a:spAutoFit/>
          </a:bodyPr>
          <a:lstStyle/>
          <a:p>
            <a:pPr algn="l">
              <a:spcAft>
                <a:spcPts val="0"/>
              </a:spcAft>
            </a:pPr>
            <a:r>
              <a:rPr sz="2600" b="0" i="0">
                <a:solidFill>
                  <a:srgbClr val="000000"/>
                </a:solidFill>
              </a:rPr>
              <a:t>Bern only pitches where it is really strong.</a:t>
            </a:r>
          </a:p>
        </p:txBody>
      </p:sp>
      <p:sp>
        <p:nvSpPr>
          <p:cNvPr id="908" name="With Apertus text"/>
          <p:cNvSpPr txBox="1"/>
          <p:nvPr/>
        </p:nvSpPr>
        <p:spPr>
          <a:xfrm>
            <a:off x="838200" y="1783080"/>
            <a:ext cx="731520" cy="429768"/>
          </a:xfrm>
          <a:prstGeom prst="rect">
            <a:avLst/>
          </a:prstGeom>
          <a:noFill/>
        </p:spPr>
        <p:txBody>
          <a:bodyPr wrap="none" lIns="0" rIns="0" tIns="0" bIns="0" anchor="t"/>
          <a:lstStyle/>
          <a:p>
            <a:pPr algn="l">
              <a:spcAft>
                <a:spcPts val="0"/>
              </a:spcAft>
            </a:pPr>
            <a:r>
              <a:rPr lang="en-GB" sz="2800" b="0" i="0">
                <a:solidFill>
                  <a:srgbClr val="000000"/>
                </a:solidFill>
              </a:rPr>
              <a:t>with</a:t>
            </a:r>
          </a:p>
        </p:txBody>
      </p:sp>
      <p:pic>
        <p:nvPicPr>
          <p:cNvPr id="909" name="Apertus logo" descr="Apertus"/>
          <p:cNvPicPr>
            <a:picLocks noChangeAspect="1"/>
          </p:cNvPicPr>
          <p:nvPr/>
        </p:nvPicPr>
        <p:blipFill>
          <a:blip r:embed="rId90"/>
          <a:stretch>
            <a:fillRect/>
          </a:stretch>
        </p:blipFill>
        <p:spPr>
          <a:xfrm>
            <a:off x="1578864" y="1850280"/>
            <a:ext cx="2591837" cy="254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904"/>
                                        </p:tgtEl>
                                        <p:attrNameLst>
                                          <p:attrName>style.visibility</p:attrName>
                                        </p:attrNameLst>
                                      </p:cBhvr>
                                      <p:to>
                                        <p:strVal val="visible"/>
                                      </p:to>
                                    </p:set>
                                    <p:animEffect transition="in" filter="fade">
                                      <p:cBhvr>
                                        <p:cTn id="7" dur="500"/>
                                        <p:tgtEl>
                                          <p:spTgt spid="904"/>
                                        </p:tgtEl>
                                      </p:cBhvr>
                                    </p:animEffect>
                                  </p:childTnLst>
                                </p:cTn>
                              </p:par>
                              <p:par>
                                <p:cTn id="8" presetID="10" presetClass="entr" presetSubtype="0" fill="hold" grpId="0" nodeType="withEffect">
                                  <p:stCondLst>
                                    <p:cond delay="3000"/>
                                  </p:stCondLst>
                                  <p:childTnLst>
                                    <p:set>
                                      <p:cBhvr>
                                        <p:cTn id="9" dur="1" fill="hold">
                                          <p:stCondLst>
                                            <p:cond delay="0"/>
                                          </p:stCondLst>
                                        </p:cTn>
                                        <p:tgtEl>
                                          <p:spTgt spid="905"/>
                                        </p:tgtEl>
                                        <p:attrNameLst>
                                          <p:attrName>style.visibility</p:attrName>
                                        </p:attrNameLst>
                                      </p:cBhvr>
                                      <p:to>
                                        <p:strVal val="visible"/>
                                      </p:to>
                                    </p:set>
                                    <p:animEffect transition="in" filter="fade">
                                      <p:cBhvr>
                                        <p:cTn id="10" dur="500"/>
                                        <p:tgtEl>
                                          <p:spTgt spid="905"/>
                                        </p:tgtEl>
                                      </p:cBhvr>
                                    </p:animEffect>
                                  </p:childTnLst>
                                </p:cTn>
                              </p:par>
                              <p:par>
                                <p:cTn id="11" presetID="10" presetClass="entr" presetSubtype="0" fill="hold" grpId="0" nodeType="withEffect">
                                  <p:stCondLst>
                                    <p:cond delay="4500"/>
                                  </p:stCondLst>
                                  <p:childTnLst>
                                    <p:set>
                                      <p:cBhvr>
                                        <p:cTn id="12" dur="1" fill="hold">
                                          <p:stCondLst>
                                            <p:cond delay="0"/>
                                          </p:stCondLst>
                                        </p:cTn>
                                        <p:tgtEl>
                                          <p:spTgt spid="906"/>
                                        </p:tgtEl>
                                        <p:attrNameLst>
                                          <p:attrName>style.visibility</p:attrName>
                                        </p:attrNameLst>
                                      </p:cBhvr>
                                      <p:to>
                                        <p:strVal val="visible"/>
                                      </p:to>
                                    </p:set>
                                    <p:animEffect transition="in" filter="fade">
                                      <p:cBhvr>
                                        <p:cTn id="13" dur="500"/>
                                        <p:tgtEl>
                                          <p:spTgt spid="906"/>
                                        </p:tgtEl>
                                      </p:cBhvr>
                                    </p:animEffect>
                                  </p:childTnLst>
                                </p:cTn>
                              </p:par>
                              <p:par>
                                <p:cTn id="14" presetID="10" presetClass="entr" presetSubtype="0" fill="hold" grpId="0" nodeType="withEffect">
                                  <p:stCondLst>
                                    <p:cond delay="5400"/>
                                  </p:stCondLst>
                                  <p:childTnLst>
                                    <p:set>
                                      <p:cBhvr>
                                        <p:cTn id="15" dur="1" fill="hold">
                                          <p:stCondLst>
                                            <p:cond delay="0"/>
                                          </p:stCondLst>
                                        </p:cTn>
                                        <p:tgtEl>
                                          <p:spTgt spid="907"/>
                                        </p:tgtEl>
                                        <p:attrNameLst>
                                          <p:attrName>style.visibility</p:attrName>
                                        </p:attrNameLst>
                                      </p:cBhvr>
                                      <p:to>
                                        <p:strVal val="visible"/>
                                      </p:to>
                                    </p:set>
                                    <p:animEffect transition="in" filter="fade">
                                      <p:cBhvr>
                                        <p:cTn id="16" dur="500"/>
                                        <p:tgtEl>
                                          <p:spTgt spid="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 grpId="0" animBg="1"/>
      <p:bldP spid="905" grpId="0" animBg="1"/>
      <p:bldP spid="906" grpId="0" animBg="1"/>
      <p:bldP spid="90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Bern's research never sits idle</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7</a:t>
            </a:fld>
            <a:endParaRPr lang="de-CH" dirty="0"/>
          </a:p>
        </p:txBody>
      </p:sp>
      <p:pic>
        <p:nvPicPr>
          <p:cNvPr id="903" name="Mutz (alert)" descr="alert-last.png"/>
          <p:cNvPicPr>
            <a:picLocks noChangeAspect="1"/>
          </p:cNvPicPr>
          <p:nvPr/>
        </p:nvPicPr>
        <p:blipFill>
          <a:blip r:embed="rId2"/>
          <a:stretch>
            <a:fillRect/>
          </a:stretch>
        </p:blipFill>
        <p:spPr>
          <a:xfrm>
            <a:off x="841248" y="1828800"/>
            <a:ext cx="5669280" cy="3685032"/>
          </a:xfrm>
          <a:prstGeom prst="rect">
            <a:avLst/>
          </a:prstGeom>
        </p:spPr>
      </p:pic>
      <p:sp>
        <p:nvSpPr>
          <p:cNvPr id="904" name="TextBox 903"/>
          <p:cNvSpPr txBox="1"/>
          <p:nvPr/>
        </p:nvSpPr>
        <p:spPr>
          <a:xfrm>
            <a:off x="6949440" y="2103120"/>
            <a:ext cx="4846320" cy="548640"/>
          </a:xfrm>
          <a:prstGeom prst="rect">
            <a:avLst/>
          </a:prstGeom>
          <a:noFill/>
        </p:spPr>
        <p:txBody>
          <a:bodyPr wrap="square" lIns="0" rIns="0" tIns="0" bIns="0" anchor="t">
            <a:spAutoFit/>
          </a:bodyPr>
          <a:lstStyle/>
          <a:p>
            <a:pPr algn="l">
              <a:spcAft>
                <a:spcPts val="0"/>
              </a:spcAft>
            </a:pPr>
            <a:r>
              <a:rPr sz="2400" b="1" i="0">
                <a:solidFill>
                  <a:srgbClr val="000000"/>
                </a:solidFill>
              </a:rPr>
              <a:t>Re-check, then alerts</a:t>
            </a:r>
          </a:p>
        </p:txBody>
      </p:sp>
      <p:sp>
        <p:nvSpPr>
          <p:cNvPr id="905" name="TextBox 904"/>
          <p:cNvSpPr txBox="1"/>
          <p:nvPr/>
        </p:nvSpPr>
        <p:spPr>
          <a:xfrm>
            <a:off x="6949440" y="2651760"/>
            <a:ext cx="4846320" cy="914400"/>
          </a:xfrm>
          <a:prstGeom prst="rect">
            <a:avLst/>
          </a:prstGeom>
          <a:noFill/>
        </p:spPr>
        <p:txBody>
          <a:bodyPr wrap="square" lIns="0" rIns="0" tIns="0" bIns="0" anchor="t">
            <a:spAutoFit/>
          </a:bodyPr>
          <a:lstStyle/>
          <a:p>
            <a:pPr algn="l">
              <a:spcAft>
                <a:spcPts val="0"/>
              </a:spcAft>
            </a:pPr>
            <a:r>
              <a:rPr sz="2000" b="0" i="0">
                <a:solidFill>
                  <a:srgbClr val="63737B"/>
                </a:solidFill>
              </a:rPr>
              <a:t>New company info re-checks what changed. Next: alerts when new research appears.</a:t>
            </a:r>
          </a:p>
        </p:txBody>
      </p:sp>
      <p:sp>
        <p:nvSpPr>
          <p:cNvPr id="906" name="TextBox 905"/>
          <p:cNvSpPr txBox="1"/>
          <p:nvPr/>
        </p:nvSpPr>
        <p:spPr>
          <a:xfrm>
            <a:off x="6949440" y="3794760"/>
            <a:ext cx="4846320" cy="548640"/>
          </a:xfrm>
          <a:prstGeom prst="rect">
            <a:avLst/>
          </a:prstGeom>
          <a:noFill/>
        </p:spPr>
        <p:txBody>
          <a:bodyPr wrap="square" lIns="0" rIns="0" tIns="0" bIns="0" anchor="t">
            <a:spAutoFit/>
          </a:bodyPr>
          <a:lstStyle/>
          <a:p>
            <a:pPr algn="l">
              <a:spcAft>
                <a:spcPts val="0"/>
              </a:spcAft>
            </a:pPr>
            <a:r>
              <a:rPr sz="2400" b="1" i="0">
                <a:solidFill>
                  <a:srgbClr val="000000"/>
                </a:solidFill>
              </a:rPr>
              <a:t>Word cloud and gap report</a:t>
            </a:r>
          </a:p>
        </p:txBody>
      </p:sp>
      <p:sp>
        <p:nvSpPr>
          <p:cNvPr id="907" name="TextBox 906"/>
          <p:cNvSpPr txBox="1"/>
          <p:nvPr/>
        </p:nvSpPr>
        <p:spPr>
          <a:xfrm>
            <a:off x="6949440" y="4343400"/>
            <a:ext cx="4846320" cy="914400"/>
          </a:xfrm>
          <a:prstGeom prst="rect">
            <a:avLst/>
          </a:prstGeom>
          <a:noFill/>
        </p:spPr>
        <p:txBody>
          <a:bodyPr wrap="square" lIns="0" rIns="0" tIns="0" bIns="0" anchor="t">
            <a:spAutoFit/>
          </a:bodyPr>
          <a:lstStyle/>
          <a:p>
            <a:pPr algn="l">
              <a:spcAft>
                <a:spcPts val="0"/>
              </a:spcAft>
            </a:pPr>
            <a:r>
              <a:rPr sz="2000" b="0" i="0">
                <a:solidFill>
                  <a:srgbClr val="63737B"/>
                </a:solidFill>
              </a:rPr>
              <a:t>What Bern is strong in, and what leads ask for that Bern lacks.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900"/>
                                  </p:stCondLst>
                                  <p:childTnLst>
                                    <p:set>
                                      <p:cBhvr>
                                        <p:cTn id="6" dur="1" fill="hold">
                                          <p:stCondLst>
                                            <p:cond delay="0"/>
                                          </p:stCondLst>
                                        </p:cTn>
                                        <p:tgtEl>
                                          <p:spTgt spid="904"/>
                                        </p:tgtEl>
                                        <p:attrNameLst>
                                          <p:attrName>style.visibility</p:attrName>
                                        </p:attrNameLst>
                                      </p:cBhvr>
                                      <p:to>
                                        <p:strVal val="visible"/>
                                      </p:to>
                                    </p:set>
                                    <p:animEffect transition="in" filter="fade">
                                      <p:cBhvr>
                                        <p:cTn id="7" dur="500"/>
                                        <p:tgtEl>
                                          <p:spTgt spid="904"/>
                                        </p:tgtEl>
                                      </p:cBhvr>
                                    </p:animEffect>
                                  </p:childTnLst>
                                </p:cTn>
                              </p:par>
                              <p:par>
                                <p:cTn id="8" presetID="10" presetClass="entr" presetSubtype="0" fill="hold" grpId="0" nodeType="withEffect">
                                  <p:stCondLst>
                                    <p:cond delay="1900"/>
                                  </p:stCondLst>
                                  <p:childTnLst>
                                    <p:set>
                                      <p:cBhvr>
                                        <p:cTn id="9" dur="1" fill="hold">
                                          <p:stCondLst>
                                            <p:cond delay="0"/>
                                          </p:stCondLst>
                                        </p:cTn>
                                        <p:tgtEl>
                                          <p:spTgt spid="905"/>
                                        </p:tgtEl>
                                        <p:attrNameLst>
                                          <p:attrName>style.visibility</p:attrName>
                                        </p:attrNameLst>
                                      </p:cBhvr>
                                      <p:to>
                                        <p:strVal val="visible"/>
                                      </p:to>
                                    </p:set>
                                    <p:animEffect transition="in" filter="fade">
                                      <p:cBhvr>
                                        <p:cTn id="10" dur="500"/>
                                        <p:tgtEl>
                                          <p:spTgt spid="905"/>
                                        </p:tgtEl>
                                      </p:cBhvr>
                                    </p:animEffect>
                                  </p:childTnLst>
                                </p:cTn>
                              </p:par>
                              <p:par>
                                <p:cTn id="11" presetID="10" presetClass="entr" presetSubtype="0" fill="hold" grpId="0" nodeType="withEffect">
                                  <p:stCondLst>
                                    <p:cond delay="3200"/>
                                  </p:stCondLst>
                                  <p:childTnLst>
                                    <p:set>
                                      <p:cBhvr>
                                        <p:cTn id="12" dur="1" fill="hold">
                                          <p:stCondLst>
                                            <p:cond delay="0"/>
                                          </p:stCondLst>
                                        </p:cTn>
                                        <p:tgtEl>
                                          <p:spTgt spid="906"/>
                                        </p:tgtEl>
                                        <p:attrNameLst>
                                          <p:attrName>style.visibility</p:attrName>
                                        </p:attrNameLst>
                                      </p:cBhvr>
                                      <p:to>
                                        <p:strVal val="visible"/>
                                      </p:to>
                                    </p:set>
                                    <p:animEffect transition="in" filter="fade">
                                      <p:cBhvr>
                                        <p:cTn id="13" dur="500"/>
                                        <p:tgtEl>
                                          <p:spTgt spid="906"/>
                                        </p:tgtEl>
                                      </p:cBhvr>
                                    </p:animEffect>
                                  </p:childTnLst>
                                </p:cTn>
                              </p:par>
                              <p:par>
                                <p:cTn id="14" presetID="10" presetClass="entr" presetSubtype="0" fill="hold" grpId="0" nodeType="withEffect">
                                  <p:stCondLst>
                                    <p:cond delay="3200"/>
                                  </p:stCondLst>
                                  <p:childTnLst>
                                    <p:set>
                                      <p:cBhvr>
                                        <p:cTn id="15" dur="1" fill="hold">
                                          <p:stCondLst>
                                            <p:cond delay="0"/>
                                          </p:stCondLst>
                                        </p:cTn>
                                        <p:tgtEl>
                                          <p:spTgt spid="907"/>
                                        </p:tgtEl>
                                        <p:attrNameLst>
                                          <p:attrName>style.visibility</p:attrName>
                                        </p:attrNameLst>
                                      </p:cBhvr>
                                      <p:to>
                                        <p:strVal val="visible"/>
                                      </p:to>
                                    </p:set>
                                    <p:animEffect transition="in" filter="fade">
                                      <p:cBhvr>
                                        <p:cTn id="16" dur="500"/>
                                        <p:tgtEl>
                                          <p:spTgt spid="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 grpId="0" animBg="1"/>
      <p:bldP spid="905" grpId="0" animBg="1"/>
      <p:bldP spid="906" grpId="0" animBg="1"/>
      <p:bldP spid="907"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8</a:t>
            </a:fld>
            <a:endParaRPr lang="de-CH" dirty="0"/>
          </a:p>
        </p:txBody>
      </p:sp>
      <p:sp>
        <p:nvSpPr>
          <p:cNvPr id="903" name="TextBox 902"/>
          <p:cNvSpPr txBox="1"/>
          <p:nvPr/>
        </p:nvSpPr>
        <p:spPr>
          <a:xfrm>
            <a:off x="841248" y="2011680"/>
            <a:ext cx="3474720" cy="1371600"/>
          </a:xfrm>
          <a:prstGeom prst="rect">
            <a:avLst/>
          </a:prstGeom>
          <a:noFill/>
        </p:spPr>
        <p:txBody>
          <a:bodyPr wrap="square" lIns="0" rIns="0" tIns="0" bIns="0" anchor="t">
            <a:spAutoFit/>
          </a:bodyPr>
          <a:lstStyle/>
          <a:p>
            <a:pPr algn="l">
              <a:spcAft>
                <a:spcPts val="0"/>
              </a:spcAft>
            </a:pPr>
            <a:r>
              <a:rPr sz="7200" b="1" i="0">
                <a:solidFill>
                  <a:srgbClr val="000000"/>
                </a:solidFill>
              </a:rPr>
              <a:t>91%</a:t>
            </a:r>
          </a:p>
        </p:txBody>
      </p:sp>
      <p:sp>
        <p:nvSpPr>
          <p:cNvPr id="904" name="TextBox 903"/>
          <p:cNvSpPr txBox="1"/>
          <p:nvPr/>
        </p:nvSpPr>
        <p:spPr>
          <a:xfrm>
            <a:off x="841248" y="3429000"/>
            <a:ext cx="3291840" cy="914400"/>
          </a:xfrm>
          <a:prstGeom prst="rect">
            <a:avLst/>
          </a:prstGeom>
          <a:noFill/>
        </p:spPr>
        <p:txBody>
          <a:bodyPr wrap="square" lIns="0" rIns="0" tIns="0" bIns="0" anchor="t">
            <a:spAutoFit/>
          </a:bodyPr>
          <a:lstStyle/>
          <a:p>
            <a:pPr algn="l">
              <a:spcAft>
                <a:spcPts val="0"/>
              </a:spcAft>
            </a:pPr>
            <a:r>
              <a:rPr sz="2000" b="0" i="0">
                <a:solidFill>
                  <a:srgbClr val="000000"/>
                </a:solidFill>
              </a:rPr>
              <a:t>right expert in the top 10</a:t>
            </a:r>
          </a:p>
        </p:txBody>
      </p:sp>
      <p:sp>
        <p:nvSpPr>
          <p:cNvPr id="905" name="TextBox 904"/>
          <p:cNvSpPr txBox="1"/>
          <p:nvPr/>
        </p:nvSpPr>
        <p:spPr>
          <a:xfrm>
            <a:off x="4544568" y="2011680"/>
            <a:ext cx="3474720" cy="1371600"/>
          </a:xfrm>
          <a:prstGeom prst="rect">
            <a:avLst/>
          </a:prstGeom>
          <a:noFill/>
        </p:spPr>
        <p:txBody>
          <a:bodyPr wrap="square" lIns="0" rIns="0" tIns="0" bIns="0" anchor="t">
            <a:spAutoFit/>
          </a:bodyPr>
          <a:lstStyle/>
          <a:p>
            <a:pPr algn="l">
              <a:spcAft>
                <a:spcPts val="0"/>
              </a:spcAft>
            </a:pPr>
            <a:r>
              <a:rPr sz="7200" b="1" i="0">
                <a:solidFill>
                  <a:srgbClr val="000000"/>
                </a:solidFill>
              </a:rPr>
              <a:t>10/11</a:t>
            </a:r>
          </a:p>
        </p:txBody>
      </p:sp>
      <p:sp>
        <p:nvSpPr>
          <p:cNvPr id="906" name="TextBox 905"/>
          <p:cNvSpPr txBox="1"/>
          <p:nvPr/>
        </p:nvSpPr>
        <p:spPr>
          <a:xfrm>
            <a:off x="4544568" y="3429000"/>
            <a:ext cx="3291840" cy="914400"/>
          </a:xfrm>
          <a:prstGeom prst="rect">
            <a:avLst/>
          </a:prstGeom>
          <a:noFill/>
        </p:spPr>
        <p:txBody>
          <a:bodyPr wrap="square" lIns="0" rIns="0" tIns="0" bIns="0" anchor="t">
            <a:spAutoFit/>
          </a:bodyPr>
          <a:lstStyle/>
          <a:p>
            <a:pPr algn="l">
              <a:spcAft>
                <a:spcPts val="0"/>
              </a:spcAft>
            </a:pPr>
            <a:r>
              <a:rPr sz="2000" b="0" i="0">
                <a:solidFill>
                  <a:srgbClr val="000000"/>
                </a:solidFill>
              </a:rPr>
              <a:t>plain-language questions</a:t>
            </a:r>
          </a:p>
        </p:txBody>
      </p:sp>
      <p:sp>
        <p:nvSpPr>
          <p:cNvPr id="907" name="TextBox 906"/>
          <p:cNvSpPr txBox="1"/>
          <p:nvPr/>
        </p:nvSpPr>
        <p:spPr>
          <a:xfrm>
            <a:off x="8247888" y="2011680"/>
            <a:ext cx="3474720" cy="1371600"/>
          </a:xfrm>
          <a:prstGeom prst="rect">
            <a:avLst/>
          </a:prstGeom>
          <a:noFill/>
        </p:spPr>
        <p:txBody>
          <a:bodyPr wrap="square" lIns="0" rIns="0" tIns="0" bIns="0" anchor="t">
            <a:spAutoFit/>
          </a:bodyPr>
          <a:lstStyle/>
          <a:p>
            <a:pPr algn="l">
              <a:spcAft>
                <a:spcPts val="0"/>
              </a:spcAft>
            </a:pPr>
            <a:r>
              <a:rPr sz="7200" b="1" i="0">
                <a:solidFill>
                  <a:srgbClr val="EA161F"/>
                </a:solidFill>
              </a:rPr>
              <a:t>0</a:t>
            </a:r>
          </a:p>
        </p:txBody>
      </p:sp>
      <p:sp>
        <p:nvSpPr>
          <p:cNvPr id="908" name="TextBox 907"/>
          <p:cNvSpPr txBox="1"/>
          <p:nvPr/>
        </p:nvSpPr>
        <p:spPr>
          <a:xfrm>
            <a:off x="8247888" y="3429000"/>
            <a:ext cx="3291840" cy="914400"/>
          </a:xfrm>
          <a:prstGeom prst="rect">
            <a:avLst/>
          </a:prstGeom>
          <a:noFill/>
        </p:spPr>
        <p:txBody>
          <a:bodyPr wrap="square" lIns="0" rIns="0" tIns="0" bIns="0" anchor="t">
            <a:spAutoFit/>
          </a:bodyPr>
          <a:lstStyle/>
          <a:p>
            <a:pPr algn="l">
              <a:spcAft>
                <a:spcPts val="0"/>
              </a:spcAft>
            </a:pPr>
            <a:r>
              <a:rPr sz="2000" b="0" i="0">
                <a:solidFill>
                  <a:srgbClr val="000000"/>
                </a:solidFill>
              </a:rPr>
              <a:t>facts without a source</a:t>
            </a:r>
          </a:p>
        </p:txBody>
      </p:sp>
      <p:sp>
        <p:nvSpPr>
          <p:cNvPr id="909" name="TextBox 908"/>
          <p:cNvSpPr txBox="1"/>
          <p:nvPr/>
        </p:nvSpPr>
        <p:spPr>
          <a:xfrm>
            <a:off x="841248" y="4937760"/>
            <a:ext cx="10972800" cy="548640"/>
          </a:xfrm>
          <a:prstGeom prst="rect">
            <a:avLst/>
          </a:prstGeom>
          <a:noFill/>
        </p:spPr>
        <p:txBody>
          <a:bodyPr wrap="square" lIns="0" rIns="0" tIns="0" bIns="0" anchor="t">
            <a:spAutoFit/>
          </a:bodyPr>
          <a:lstStyle/>
          <a:p>
            <a:pPr algn="l">
              <a:spcAft>
                <a:spcPts val="0"/>
              </a:spcAft>
            </a:pPr>
            <a:r>
              <a:rPr sz="2000" b="0" i="0">
                <a:solidFill>
                  <a:srgbClr val="63737B"/>
                </a:solidFill>
              </a:rPr>
              <a:t>On 23 held-out questions we never tuned on. 0 of 19,631 facts lack a source.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903"/>
                                        </p:tgtEl>
                                        <p:attrNameLst>
                                          <p:attrName>style.visibility</p:attrName>
                                        </p:attrNameLst>
                                      </p:cBhvr>
                                      <p:to>
                                        <p:strVal val="visible"/>
                                      </p:to>
                                    </p:set>
                                    <p:animEffect transition="in" filter="fade">
                                      <p:cBhvr>
                                        <p:cTn id="7" dur="500"/>
                                        <p:tgtEl>
                                          <p:spTgt spid="903"/>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904"/>
                                        </p:tgtEl>
                                        <p:attrNameLst>
                                          <p:attrName>style.visibility</p:attrName>
                                        </p:attrNameLst>
                                      </p:cBhvr>
                                      <p:to>
                                        <p:strVal val="visible"/>
                                      </p:to>
                                    </p:set>
                                    <p:animEffect transition="in" filter="fade">
                                      <p:cBhvr>
                                        <p:cTn id="10" dur="500"/>
                                        <p:tgtEl>
                                          <p:spTgt spid="904"/>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905"/>
                                        </p:tgtEl>
                                        <p:attrNameLst>
                                          <p:attrName>style.visibility</p:attrName>
                                        </p:attrNameLst>
                                      </p:cBhvr>
                                      <p:to>
                                        <p:strVal val="visible"/>
                                      </p:to>
                                    </p:set>
                                    <p:animEffect transition="in" filter="fade">
                                      <p:cBhvr>
                                        <p:cTn id="13" dur="500"/>
                                        <p:tgtEl>
                                          <p:spTgt spid="905"/>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906"/>
                                        </p:tgtEl>
                                        <p:attrNameLst>
                                          <p:attrName>style.visibility</p:attrName>
                                        </p:attrNameLst>
                                      </p:cBhvr>
                                      <p:to>
                                        <p:strVal val="visible"/>
                                      </p:to>
                                    </p:set>
                                    <p:animEffect transition="in" filter="fade">
                                      <p:cBhvr>
                                        <p:cTn id="16" dur="500"/>
                                        <p:tgtEl>
                                          <p:spTgt spid="906"/>
                                        </p:tgtEl>
                                      </p:cBhvr>
                                    </p:animEffect>
                                  </p:childTnLst>
                                </p:cTn>
                              </p:par>
                              <p:par>
                                <p:cTn id="17" presetID="10" presetClass="entr" presetSubtype="0" fill="hold" grpId="0" nodeType="withEffect">
                                  <p:stCondLst>
                                    <p:cond delay="1700"/>
                                  </p:stCondLst>
                                  <p:childTnLst>
                                    <p:set>
                                      <p:cBhvr>
                                        <p:cTn id="18" dur="1" fill="hold">
                                          <p:stCondLst>
                                            <p:cond delay="0"/>
                                          </p:stCondLst>
                                        </p:cTn>
                                        <p:tgtEl>
                                          <p:spTgt spid="907"/>
                                        </p:tgtEl>
                                        <p:attrNameLst>
                                          <p:attrName>style.visibility</p:attrName>
                                        </p:attrNameLst>
                                      </p:cBhvr>
                                      <p:to>
                                        <p:strVal val="visible"/>
                                      </p:to>
                                    </p:set>
                                    <p:animEffect transition="in" filter="fade">
                                      <p:cBhvr>
                                        <p:cTn id="19" dur="500"/>
                                        <p:tgtEl>
                                          <p:spTgt spid="907"/>
                                        </p:tgtEl>
                                      </p:cBhvr>
                                    </p:animEffect>
                                  </p:childTnLst>
                                </p:cTn>
                              </p:par>
                              <p:par>
                                <p:cTn id="20" presetID="10" presetClass="entr" presetSubtype="0" fill="hold" grpId="0" nodeType="withEffect">
                                  <p:stCondLst>
                                    <p:cond delay="1700"/>
                                  </p:stCondLst>
                                  <p:childTnLst>
                                    <p:set>
                                      <p:cBhvr>
                                        <p:cTn id="21" dur="1" fill="hold">
                                          <p:stCondLst>
                                            <p:cond delay="0"/>
                                          </p:stCondLst>
                                        </p:cTn>
                                        <p:tgtEl>
                                          <p:spTgt spid="908"/>
                                        </p:tgtEl>
                                        <p:attrNameLst>
                                          <p:attrName>style.visibility</p:attrName>
                                        </p:attrNameLst>
                                      </p:cBhvr>
                                      <p:to>
                                        <p:strVal val="visible"/>
                                      </p:to>
                                    </p:set>
                                    <p:animEffect transition="in" filter="fade">
                                      <p:cBhvr>
                                        <p:cTn id="22" dur="500"/>
                                        <p:tgtEl>
                                          <p:spTgt spid="908"/>
                                        </p:tgtEl>
                                      </p:cBhvr>
                                    </p:animEffect>
                                  </p:childTnLst>
                                </p:cTn>
                              </p:par>
                              <p:par>
                                <p:cTn id="23" presetID="10" presetClass="entr" presetSubtype="0" fill="hold" grpId="0" nodeType="withEffect">
                                  <p:stCondLst>
                                    <p:cond delay="2600"/>
                                  </p:stCondLst>
                                  <p:childTnLst>
                                    <p:set>
                                      <p:cBhvr>
                                        <p:cTn id="24" dur="1" fill="hold">
                                          <p:stCondLst>
                                            <p:cond delay="0"/>
                                          </p:stCondLst>
                                        </p:cTn>
                                        <p:tgtEl>
                                          <p:spTgt spid="909"/>
                                        </p:tgtEl>
                                        <p:attrNameLst>
                                          <p:attrName>style.visibility</p:attrName>
                                        </p:attrNameLst>
                                      </p:cBhvr>
                                      <p:to>
                                        <p:strVal val="visible"/>
                                      </p:to>
                                    </p:set>
                                    <p:animEffect transition="in" filter="fade">
                                      <p:cBhvr>
                                        <p:cTn id="25" dur="500"/>
                                        <p:tgtEl>
                                          <p:spTgt spid="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 grpId="0" animBg="1"/>
      <p:bldP spid="904" grpId="0" animBg="1"/>
      <p:bldP spid="905" grpId="0" animBg="1"/>
      <p:bldP spid="906" grpId="0" animBg="1"/>
      <p:bldP spid="907" grpId="0" animBg="1"/>
      <p:bldP spid="908" grpId="0" animBg="1"/>
      <p:bldP spid="90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9788" y="2132855"/>
            <a:ext cx="6949440" cy="735293"/>
          </a:xfrm>
        </p:spPr>
        <p:txBody>
          <a:bodyPr/>
          <a:lstStyle/>
          <a:p>
            <a:r>
              <a:t>Bern is full of honey.</a:t>
            </a:r>
          </a:p>
        </p:txBody>
      </p:sp>
      <p:sp>
        <p:nvSpPr>
          <p:cNvPr id="3" name="Subtitle 2"/>
          <p:cNvSpPr>
            <a:spLocks noGrp="1"/>
          </p:cNvSpPr>
          <p:nvPr>
            <p:ph type="subTitle" idx="1"/>
          </p:nvPr>
        </p:nvSpPr>
        <p:spPr>
          <a:xfrm>
            <a:off x="839788" y="2924945"/>
            <a:ext cx="7132320" cy="1670986"/>
          </a:xfrm>
        </p:spPr>
        <p:txBody>
          <a:bodyPr/>
          <a:lstStyle/>
          <a:p>
            <a:r>
              <a:rPr sz="3200">
                <a:solidFill>
                  <a:srgbClr val="EA161F"/>
                </a:solidFill>
              </a:rPr>
              <a:t>Mutz finds it for every company.</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pic>
        <p:nvPicPr>
          <p:cNvPr id="903" name="Mutz lockup" descr="splash-last.png"/>
          <p:cNvPicPr>
            <a:picLocks noChangeAspect="1"/>
          </p:cNvPicPr>
          <p:nvPr/>
        </p:nvPicPr>
        <p:blipFill>
          <a:blip r:embed="rId2"/>
          <a:stretch>
            <a:fillRect/>
          </a:stretch>
        </p:blipFill>
        <p:spPr>
          <a:xfrm>
            <a:off x="7269480" y="960120"/>
            <a:ext cx="4480560" cy="4480560"/>
          </a:xfrm>
          <a:prstGeom prst="rect">
            <a:avLst/>
          </a:prstGeom>
        </p:spPr>
      </p:pic>
      <p:sp>
        <p:nvSpPr>
          <p:cNvPr id="905" name="Challenge owner label"/>
          <p:cNvSpPr txBox="1"/>
          <p:nvPr/>
        </p:nvSpPr>
        <p:spPr>
          <a:xfrm>
            <a:off x="7776188" y="5930302"/>
            <a:ext cx="1371600" cy="152400"/>
          </a:xfrm>
          <a:prstGeom prst="rect">
            <a:avLst/>
          </a:prstGeom>
          <a:noFill/>
        </p:spPr>
        <p:txBody>
          <a:bodyPr wrap="square" lIns="0" rIns="0" tIns="0" bIns="0" anchor="t">
            <a:spAutoFit/>
          </a:bodyPr>
          <a:lstStyle/>
          <a:p>
            <a:pPr algn="r">
              <a:spcAft>
                <a:spcPts val="0"/>
              </a:spcAft>
            </a:pPr>
            <a:r>
              <a:rPr lang="en-GB" sz="1000" b="0" i="0">
                <a:solidFill>
                  <a:srgbClr val="63737B"/>
                </a:solidFill>
              </a:rPr>
              <a:t>Challenge owner</a:t>
            </a:r>
          </a:p>
        </p:txBody>
      </p:sp>
      <p:pic>
        <p:nvPicPr>
          <p:cNvPr id="906" name="Bern Economic Development Agency logo" descr="Bern Economic Development Agency"/>
          <p:cNvPicPr>
            <a:picLocks noChangeAspect="1"/>
          </p:cNvPicPr>
          <p:nvPr/>
        </p:nvPicPr>
        <p:blipFill>
          <a:blip r:embed="rId3"/>
          <a:stretch>
            <a:fillRect/>
          </a:stretch>
        </p:blipFill>
        <p:spPr>
          <a:xfrm>
            <a:off x="9257516" y="5577840"/>
            <a:ext cx="1566717" cy="502920"/>
          </a:xfrm>
          <a:prstGeom prst="rect">
            <a:avLst/>
          </a:prstGeom>
        </p:spPr>
      </p:pic>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9</a:t>
            </a:fld>
            <a:endParaRPr lang="de-CH"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Try Mutz yourself</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16</a:t>
            </a:fld>
            <a:endParaRPr lang="de-CH" dirty="0"/>
          </a:p>
        </p:txBody>
      </p:sp>
      <p:cxnSp>
        <p:nvCxnSpPr>
          <p:cNvPr id="906" name="Connector 905"/>
          <p:cNvCxnSpPr/>
          <p:nvPr/>
        </p:nvCxnSpPr>
        <p:spPr>
          <a:xfrm>
            <a:off x="672084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7" name="Scan header"/>
          <p:cNvSpPr txBox="1"/>
          <p:nvPr/>
        </p:nvSpPr>
        <p:spPr>
          <a:xfrm>
            <a:off x="841248" y="1874519"/>
            <a:ext cx="5486400" cy="365760"/>
          </a:xfrm>
          <a:prstGeom prst="rect">
            <a:avLst/>
          </a:prstGeom>
          <a:noFill/>
        </p:spPr>
        <p:txBody>
          <a:bodyPr wrap="square" lIns="0" rIns="0" tIns="0" bIns="0">
            <a:spAutoFit/>
          </a:bodyPr>
          <a:lstStyle/>
          <a:p>
            <a:pPr>
              <a:spcAft>
                <a:spcPts val="600"/>
              </a:spcAft>
            </a:pPr>
            <a:r>
              <a:rPr sz="1600" b="1">
                <a:solidFill>
                  <a:srgbClr val="000000"/>
                </a:solidFill>
              </a:rPr>
              <a:t>Scan to open the live demo</a:t>
            </a:r>
          </a:p>
        </p:txBody>
      </p:sp>
      <p:pic>
        <p:nvPicPr>
          <p:cNvPr id="908" name="QR live demo" descr="qr-live-demo.png"/>
          <p:cNvPicPr>
            <a:picLocks noChangeAspect="1"/>
          </p:cNvPicPr>
          <p:nvPr/>
        </p:nvPicPr>
        <p:blipFill>
          <a:blip r:embed="rId2"/>
          <a:stretch>
            <a:fillRect/>
          </a:stretch>
        </p:blipFill>
        <p:spPr>
          <a:xfrm>
            <a:off x="731520" y="2286000"/>
            <a:ext cx="2743200" cy="2743200"/>
          </a:xfrm>
          <a:prstGeom prst="rect">
            <a:avLst/>
          </a:prstGeom>
        </p:spPr>
      </p:pic>
      <p:sp>
        <p:nvSpPr>
          <p:cNvPr id="909" name="Login"/>
          <p:cNvSpPr txBox="1"/>
          <p:nvPr/>
        </p:nvSpPr>
        <p:spPr>
          <a:xfrm>
            <a:off x="3611880" y="2514600"/>
            <a:ext cx="2743200" cy="2194560"/>
          </a:xfrm>
          <a:prstGeom prst="rect">
            <a:avLst/>
          </a:prstGeom>
          <a:noFill/>
        </p:spPr>
        <p:txBody>
          <a:bodyPr wrap="square" lIns="0" rIns="0" tIns="0" bIns="0">
            <a:spAutoFit/>
          </a:bodyPr>
          <a:lstStyle/>
          <a:p>
            <a:pPr>
              <a:spcAft>
                <a:spcPts val="400"/>
              </a:spcAft>
            </a:pPr>
            <a:r>
              <a:rPr sz="1400" b="0">
                <a:solidFill>
                  <a:srgbClr val="6E7A80"/>
                </a:solidFill>
              </a:rPr>
              <a:t>Login</a:t>
            </a:r>
          </a:p>
          <a:p>
            <a:pPr>
              <a:spcAft>
                <a:spcPts val="400"/>
              </a:spcAft>
            </a:pPr>
            <a:r>
              <a:rPr sz="2800" b="1">
                <a:solidFill>
                  <a:srgbClr val="EA161F"/>
                </a:solidFill>
              </a:rPr>
              <a:t>mutz</a:t>
            </a:r>
          </a:p>
          <a:p>
            <a:pPr>
              <a:spcAft>
                <a:spcPts val="400"/>
              </a:spcAft>
            </a:pPr>
            <a:r>
              <a:rPr sz="1400" b="0">
                <a:solidFill>
                  <a:srgbClr val="6E7A80"/>
                </a:solidFill>
              </a:rPr>
              <a:t>Password</a:t>
            </a:r>
          </a:p>
          <a:p>
            <a:pPr>
              <a:spcAft>
                <a:spcPts val="400"/>
              </a:spcAft>
            </a:pPr>
            <a:r>
              <a:rPr sz="2200" b="1">
                <a:solidFill>
                  <a:srgbClr val="EA161F"/>
                </a:solidFill>
              </a:rPr>
              <a:t>bearlikeshoney</a:t>
            </a:r>
          </a:p>
        </p:txBody>
      </p:sp>
      <p:sp>
        <p:nvSpPr>
          <p:cNvPr id="910" name="Demo URL"/>
          <p:cNvSpPr txBox="1"/>
          <p:nvPr/>
        </p:nvSpPr>
        <p:spPr>
          <a:xfrm>
            <a:off x="841248" y="5120640"/>
            <a:ext cx="5486400" cy="365760"/>
          </a:xfrm>
          <a:prstGeom prst="rect">
            <a:avLst/>
          </a:prstGeom>
          <a:noFill/>
        </p:spPr>
        <p:txBody>
          <a:bodyPr wrap="square" lIns="0" rIns="0" tIns="0" bIns="0">
            <a:spAutoFit/>
          </a:bodyPr>
          <a:lstStyle/>
          <a:p>
            <a:pPr>
              <a:spcAft>
                <a:spcPts val="600"/>
              </a:spcAft>
            </a:pPr>
            <a:r>
              <a:rPr sz="1200" b="0">
                <a:solidFill>
                  <a:srgbClr val="6E7A80"/>
                </a:solidFill>
              </a:rPr>
              <a:t>mutz-117983845448.europe-west6.run.app</a:t>
            </a:r>
          </a:p>
        </p:txBody>
      </p:sp>
      <p:sp>
        <p:nvSpPr>
          <p:cNvPr id="911" name="Run header"/>
          <p:cNvSpPr txBox="1"/>
          <p:nvPr/>
        </p:nvSpPr>
        <p:spPr>
          <a:xfrm>
            <a:off x="7086600" y="1874519"/>
            <a:ext cx="4754880" cy="365760"/>
          </a:xfrm>
          <a:prstGeom prst="rect">
            <a:avLst/>
          </a:prstGeom>
          <a:noFill/>
        </p:spPr>
        <p:txBody>
          <a:bodyPr wrap="square" lIns="0" rIns="0" tIns="0" bIns="0">
            <a:spAutoFit/>
          </a:bodyPr>
          <a:lstStyle/>
          <a:p>
            <a:pPr>
              <a:spcAft>
                <a:spcPts val="600"/>
              </a:spcAft>
            </a:pPr>
            <a:r>
              <a:rPr sz="1600" b="1">
                <a:solidFill>
                  <a:srgbClr val="000000"/>
                </a:solidFill>
              </a:rPr>
              <a:t>Or run it on your own machine</a:t>
            </a:r>
          </a:p>
        </p:txBody>
      </p:sp>
      <p:sp>
        <p:nvSpPr>
          <p:cNvPr id="912" name="Command box"/>
          <p:cNvSpPr/>
          <p:nvPr/>
        </p:nvSpPr>
        <p:spPr>
          <a:xfrm>
            <a:off x="7086600" y="2331720"/>
            <a:ext cx="4754880"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Command"/>
          <p:cNvSpPr txBox="1"/>
          <p:nvPr/>
        </p:nvSpPr>
        <p:spPr>
          <a:xfrm>
            <a:off x="7315200" y="2560320"/>
            <a:ext cx="4389120" cy="1188720"/>
          </a:xfrm>
          <a:prstGeom prst="rect">
            <a:avLst/>
          </a:prstGeom>
          <a:noFill/>
        </p:spPr>
        <p:txBody>
          <a:bodyPr wrap="square" lIns="0" rIns="0" tIns="0" bIns="0">
            <a:spAutoFit/>
          </a:bodyPr>
          <a:lstStyle/>
          <a:p>
            <a:pPr>
              <a:spcAft>
                <a:spcPts val="800"/>
              </a:spcAft>
            </a:pPr>
            <a:r>
              <a:rPr sz="1500" b="0">
                <a:solidFill>
                  <a:srgbClr val="FFFFFF"/>
                </a:solidFill>
                <a:latin typeface="Courier New"/>
              </a:rPr>
              <a:t>docker run -p 8000:8000 \</a:t>
            </a:r>
          </a:p>
          <a:p>
            <a:pPr>
              <a:spcAft>
                <a:spcPts val="800"/>
              </a:spcAft>
            </a:pPr>
            <a:r>
              <a:rPr sz="1500" b="0">
                <a:solidFill>
                  <a:srgbClr val="FFFFFF"/>
                </a:solidFill>
                <a:latin typeface="Courier New"/>
              </a:rPr>
              <a:t>  -e KEERA_API_KEY=&lt;your key&gt; \</a:t>
            </a:r>
          </a:p>
          <a:p>
            <a:pPr>
              <a:spcAft>
                <a:spcPts val="800"/>
              </a:spcAft>
            </a:pPr>
            <a:r>
              <a:rPr sz="1500" b="0">
                <a:solidFill>
                  <a:srgbClr val="FFFFFF"/>
                </a:solidFill>
                <a:latin typeface="Courier New"/>
              </a:rPr>
              <a:t>  ghcr.io/besaif/mutz</a:t>
            </a:r>
          </a:p>
        </p:txBody>
      </p:sp>
      <p:sp>
        <p:nvSpPr>
          <p:cNvPr id="914" name="Run details"/>
          <p:cNvSpPr txBox="1"/>
          <p:nvPr/>
        </p:nvSpPr>
        <p:spPr>
          <a:xfrm>
            <a:off x="7086600" y="4023360"/>
            <a:ext cx="4754880" cy="1463040"/>
          </a:xfrm>
          <a:prstGeom prst="rect">
            <a:avLst/>
          </a:prstGeom>
          <a:noFill/>
        </p:spPr>
        <p:txBody>
          <a:bodyPr wrap="square" lIns="0" rIns="0" tIns="0" bIns="0">
            <a:spAutoFit/>
          </a:bodyPr>
          <a:lstStyle/>
          <a:p>
            <a:pPr>
              <a:spcAft>
                <a:spcPts val="1000"/>
              </a:spcAft>
            </a:pPr>
            <a:r>
              <a:rPr sz="1500" b="0">
                <a:solidFill>
                  <a:srgbClr val="000000"/>
                </a:solidFill>
              </a:rPr>
              <a:t>Then open </a:t>
            </a:r>
            <a:r>
              <a:rPr sz="1500" b="1">
                <a:solidFill>
                  <a:srgbClr val="000000"/>
                </a:solidFill>
              </a:rPr>
              <a:t>localhost:8000</a:t>
            </a:r>
          </a:p>
          <a:p>
            <a:pPr>
              <a:spcAft>
                <a:spcPts val="1000"/>
              </a:spcAft>
            </a:pPr>
            <a:r>
              <a:rPr sz="1500" b="0">
                <a:solidFill>
                  <a:srgbClr val="000000"/>
                </a:solidFill>
              </a:rPr>
              <a:t>Data and search models included</a:t>
            </a:r>
          </a:p>
          <a:p>
            <a:pPr>
              <a:spcAft>
                <a:spcPts val="1000"/>
              </a:spcAft>
            </a:pPr>
            <a:r>
              <a:rPr sz="1500" b="0">
                <a:solidFill>
                  <a:srgbClr val="000000"/>
                </a:solidFill>
              </a:rPr>
              <a:t>Code: </a:t>
            </a:r>
            <a:r>
              <a:rPr sz="1500" b="1">
                <a:solidFill>
                  <a:srgbClr val="000000"/>
                </a:solidFill>
              </a:rPr>
              <a:t>github.com/beSaif/mutz</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Backup for questions</a:t>
            </a:r>
          </a:p>
        </p:txBody>
      </p:sp>
      <p:sp>
        <p:nvSpPr>
          <p:cNvPr id="3" name="Subtitle 2"/>
          <p:cNvSpPr>
            <a:spLocks noGrp="1"/>
          </p:cNvSpPr>
          <p:nvPr>
            <p:ph type="subTitle" idx="1"/>
          </p:nvPr>
        </p:nvSpPr>
        <p:spPr/>
        <p:txBody>
          <a:bodyPr/>
          <a:lstStyle/>
          <a:p>
            <a:r>
              <a:rPr sz="2000"/>
              <a:t>Demo fallback · Proof · Sovereignty · Scale · Strategy · Architecture</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10</a:t>
            </a:fld>
            <a:endParaRPr lang="de-CH" dirty="0"/>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one-pager to pitch, with proof at every step</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11</a:t>
            </a:fld>
            <a:endParaRPr lang="de-CH" dirty="0"/>
          </a:p>
        </p:txBody>
      </p:sp>
      <p:sp>
        <p:nvSpPr>
          <p:cNvPr id="903" name="TextBox 902"/>
          <p:cNvSpPr txBox="1"/>
          <p:nvPr/>
        </p:nvSpPr>
        <p:spPr>
          <a:xfrm>
            <a:off x="841248" y="1828800"/>
            <a:ext cx="3520440" cy="411480"/>
          </a:xfrm>
          <a:prstGeom prst="rect">
            <a:avLst/>
          </a:prstGeom>
          <a:noFill/>
        </p:spPr>
        <p:txBody>
          <a:bodyPr wrap="square" lIns="0" rIns="0" tIns="0" bIns="0" anchor="t">
            <a:spAutoFit/>
          </a:bodyPr>
          <a:lstStyle/>
          <a:p>
            <a:pPr algn="l">
              <a:spcAft>
                <a:spcPts val="600"/>
              </a:spcAft>
            </a:pPr>
            <a:r>
              <a:rPr sz="2000" b="1" i="0">
                <a:solidFill>
                  <a:srgbClr val="EA161F"/>
                </a:solidFill>
              </a:rPr>
              <a:t>1  </a:t>
            </a:r>
            <a:r>
              <a:rPr sz="2000" b="1" i="0">
                <a:solidFill>
                  <a:srgbClr val="000000"/>
                </a:solidFill>
              </a:rPr>
              <a:t>Brief</a:t>
            </a:r>
          </a:p>
        </p:txBody>
      </p:sp>
      <p:sp>
        <p:nvSpPr>
          <p:cNvPr id="904" name="TextBox 903"/>
          <p:cNvSpPr txBox="1"/>
          <p:nvPr/>
        </p:nvSpPr>
        <p:spPr>
          <a:xfrm>
            <a:off x="4572000" y="1828800"/>
            <a:ext cx="3520440" cy="411480"/>
          </a:xfrm>
          <a:prstGeom prst="rect">
            <a:avLst/>
          </a:prstGeom>
          <a:noFill/>
        </p:spPr>
        <p:txBody>
          <a:bodyPr wrap="square" lIns="0" rIns="0" tIns="0" bIns="0" anchor="t">
            <a:spAutoFit/>
          </a:bodyPr>
          <a:lstStyle/>
          <a:p>
            <a:pPr algn="l">
              <a:spcAft>
                <a:spcPts val="600"/>
              </a:spcAft>
            </a:pPr>
            <a:r>
              <a:rPr sz="2000" b="1" i="0">
                <a:solidFill>
                  <a:srgbClr val="EA161F"/>
                </a:solidFill>
              </a:rPr>
              <a:t>2  </a:t>
            </a:r>
            <a:r>
              <a:rPr sz="2000" b="1" i="0">
                <a:solidFill>
                  <a:srgbClr val="000000"/>
                </a:solidFill>
              </a:rPr>
              <a:t>Matches</a:t>
            </a:r>
          </a:p>
        </p:txBody>
      </p:sp>
      <p:cxnSp>
        <p:nvCxnSpPr>
          <p:cNvPr id="905" name="Connector 904"/>
          <p:cNvCxnSpPr/>
          <p:nvPr/>
        </p:nvCxnSpPr>
        <p:spPr>
          <a:xfrm>
            <a:off x="4416552" y="1828800"/>
            <a:ext cx="0" cy="402336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8302752" y="1828800"/>
            <a:ext cx="3520440" cy="411480"/>
          </a:xfrm>
          <a:prstGeom prst="rect">
            <a:avLst/>
          </a:prstGeom>
          <a:noFill/>
        </p:spPr>
        <p:txBody>
          <a:bodyPr wrap="square" lIns="0" rIns="0" tIns="0" bIns="0" anchor="t">
            <a:spAutoFit/>
          </a:bodyPr>
          <a:lstStyle/>
          <a:p>
            <a:pPr algn="l">
              <a:spcAft>
                <a:spcPts val="600"/>
              </a:spcAft>
            </a:pPr>
            <a:r>
              <a:rPr sz="2000" b="1" i="0">
                <a:solidFill>
                  <a:srgbClr val="EA161F"/>
                </a:solidFill>
              </a:rPr>
              <a:t>3  </a:t>
            </a:r>
            <a:r>
              <a:rPr sz="2000" b="1" i="0">
                <a:solidFill>
                  <a:srgbClr val="000000"/>
                </a:solidFill>
              </a:rPr>
              <a:t>Pitch</a:t>
            </a:r>
          </a:p>
        </p:txBody>
      </p:sp>
      <p:cxnSp>
        <p:nvCxnSpPr>
          <p:cNvPr id="907" name="Connector 906"/>
          <p:cNvCxnSpPr/>
          <p:nvPr/>
        </p:nvCxnSpPr>
        <p:spPr>
          <a:xfrm>
            <a:off x="8147304" y="1828800"/>
            <a:ext cx="0" cy="402336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8" name="TextBox 907"/>
          <p:cNvSpPr txBox="1"/>
          <p:nvPr/>
        </p:nvSpPr>
        <p:spPr>
          <a:xfrm>
            <a:off x="841248" y="2377440"/>
            <a:ext cx="3383280" cy="365760"/>
          </a:xfrm>
          <a:prstGeom prst="rect">
            <a:avLst/>
          </a:prstGeom>
          <a:noFill/>
        </p:spPr>
        <p:txBody>
          <a:bodyPr wrap="square" lIns="0" rIns="0" tIns="0" bIns="0" anchor="t">
            <a:spAutoFit/>
          </a:bodyPr>
          <a:lstStyle/>
          <a:p>
            <a:pPr algn="l">
              <a:spcAft>
                <a:spcPts val="600"/>
              </a:spcAft>
            </a:pPr>
            <a:r>
              <a:rPr sz="1400" b="0" i="0">
                <a:solidFill>
                  <a:srgbClr val="63737B"/>
                </a:solidFill>
              </a:rPr>
              <a:t>Apertus extracts the needs</a:t>
            </a:r>
          </a:p>
        </p:txBody>
      </p:sp>
      <p:sp>
        <p:nvSpPr>
          <p:cNvPr id="909" name="Rectangle 908"/>
          <p:cNvSpPr/>
          <p:nvPr/>
        </p:nvSpPr>
        <p:spPr>
          <a:xfrm>
            <a:off x="841248" y="2834640"/>
            <a:ext cx="3383280" cy="603504"/>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0" name="TextBox 909"/>
          <p:cNvSpPr txBox="1"/>
          <p:nvPr/>
        </p:nvSpPr>
        <p:spPr>
          <a:xfrm>
            <a:off x="978408" y="2834640"/>
            <a:ext cx="3154680" cy="603504"/>
          </a:xfrm>
          <a:prstGeom prst="rect">
            <a:avLst/>
          </a:prstGeom>
          <a:noFill/>
        </p:spPr>
        <p:txBody>
          <a:bodyPr wrap="square" lIns="0" rIns="0" tIns="0" bIns="0" anchor="ctr">
            <a:spAutoFit/>
          </a:bodyPr>
          <a:lstStyle/>
          <a:p>
            <a:pPr algn="l">
              <a:spcAft>
                <a:spcPts val="600"/>
              </a:spcAft>
            </a:pPr>
            <a:r>
              <a:rPr sz="1400" b="0" i="0">
                <a:solidFill>
                  <a:srgbClr val="000000"/>
                </a:solidFill>
              </a:rPr>
              <a:t>Clinical study partner: metabolism in women</a:t>
            </a:r>
          </a:p>
        </p:txBody>
      </p:sp>
      <p:sp>
        <p:nvSpPr>
          <p:cNvPr id="911" name="Rectangle 910"/>
          <p:cNvSpPr/>
          <p:nvPr/>
        </p:nvSpPr>
        <p:spPr>
          <a:xfrm>
            <a:off x="841248" y="3547872"/>
            <a:ext cx="3383280" cy="603504"/>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2" name="TextBox 911"/>
          <p:cNvSpPr txBox="1"/>
          <p:nvPr/>
        </p:nvSpPr>
        <p:spPr>
          <a:xfrm>
            <a:off x="978408" y="3547872"/>
            <a:ext cx="3154680" cy="603504"/>
          </a:xfrm>
          <a:prstGeom prst="rect">
            <a:avLst/>
          </a:prstGeom>
          <a:noFill/>
        </p:spPr>
        <p:txBody>
          <a:bodyPr wrap="square" lIns="0" rIns="0" tIns="0" bIns="0" anchor="ctr">
            <a:spAutoFit/>
          </a:bodyPr>
          <a:lstStyle/>
          <a:p>
            <a:pPr algn="l">
              <a:spcAft>
                <a:spcPts val="600"/>
              </a:spcAft>
            </a:pPr>
            <a:r>
              <a:rPr sz="1400" b="0" i="0">
                <a:solidFill>
                  <a:srgbClr val="000000"/>
                </a:solidFill>
              </a:rPr>
              <a:t>R&amp;D partner: wearable biosensing</a:t>
            </a:r>
          </a:p>
        </p:txBody>
      </p:sp>
      <p:sp>
        <p:nvSpPr>
          <p:cNvPr id="913" name="Rectangle 912"/>
          <p:cNvSpPr/>
          <p:nvPr/>
        </p:nvSpPr>
        <p:spPr>
          <a:xfrm>
            <a:off x="841248" y="4261104"/>
            <a:ext cx="3383280" cy="603504"/>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4" name="TextBox 913"/>
          <p:cNvSpPr txBox="1"/>
          <p:nvPr/>
        </p:nvSpPr>
        <p:spPr>
          <a:xfrm>
            <a:off x="978408" y="4261104"/>
            <a:ext cx="3154680" cy="603504"/>
          </a:xfrm>
          <a:prstGeom prst="rect">
            <a:avLst/>
          </a:prstGeom>
          <a:noFill/>
        </p:spPr>
        <p:txBody>
          <a:bodyPr wrap="square" lIns="0" rIns="0" tIns="0" bIns="0" anchor="ctr">
            <a:spAutoFit/>
          </a:bodyPr>
          <a:lstStyle/>
          <a:p>
            <a:pPr algn="l">
              <a:spcAft>
                <a:spcPts val="600"/>
              </a:spcAft>
            </a:pPr>
            <a:r>
              <a:rPr sz="1400" b="0" i="0">
                <a:solidFill>
                  <a:srgbClr val="000000"/>
                </a:solidFill>
              </a:rPr>
              <a:t>Infrastructure: clinical trial support</a:t>
            </a:r>
          </a:p>
        </p:txBody>
      </p:sp>
      <p:sp>
        <p:nvSpPr>
          <p:cNvPr id="915" name="TextBox 914"/>
          <p:cNvSpPr txBox="1"/>
          <p:nvPr/>
        </p:nvSpPr>
        <p:spPr>
          <a:xfrm>
            <a:off x="841248" y="5029200"/>
            <a:ext cx="3383280" cy="731520"/>
          </a:xfrm>
          <a:prstGeom prst="rect">
            <a:avLst/>
          </a:prstGeom>
          <a:noFill/>
        </p:spPr>
        <p:txBody>
          <a:bodyPr wrap="square" lIns="0" rIns="0" tIns="0" bIns="0" anchor="t">
            <a:spAutoFit/>
          </a:bodyPr>
          <a:lstStyle/>
          <a:p>
            <a:pPr algn="l">
              <a:spcAft>
                <a:spcPts val="600"/>
              </a:spcAft>
            </a:pPr>
            <a:r>
              <a:rPr sz="1200" b="0" i="0">
                <a:solidFill>
                  <a:srgbClr val="63737B"/>
                </a:solidFill>
              </a:rPr>
              <a:t>Officer can edit or delete each need before searching</a:t>
            </a:r>
          </a:p>
        </p:txBody>
      </p:sp>
      <p:sp>
        <p:nvSpPr>
          <p:cNvPr id="916" name="TextBox 915"/>
          <p:cNvSpPr txBox="1"/>
          <p:nvPr/>
        </p:nvSpPr>
        <p:spPr>
          <a:xfrm>
            <a:off x="4572000" y="2377440"/>
            <a:ext cx="3429000" cy="914400"/>
          </a:xfrm>
          <a:prstGeom prst="rect">
            <a:avLst/>
          </a:prstGeom>
          <a:noFill/>
        </p:spPr>
        <p:txBody>
          <a:bodyPr wrap="square" lIns="0" rIns="0" tIns="0" bIns="0" anchor="t">
            <a:spAutoFit/>
          </a:bodyPr>
          <a:lstStyle/>
          <a:p>
            <a:pPr algn="l">
              <a:spcAft>
                <a:spcPts val="200"/>
              </a:spcAft>
            </a:pPr>
            <a:r>
              <a:rPr sz="1500" b="1" i="0">
                <a:solidFill>
                  <a:srgbClr val="000000"/>
                </a:solidFill>
              </a:rPr>
              <a:t>Diabetes Center Berne · TIMES study</a:t>
            </a:r>
          </a:p>
          <a:p>
            <a:pPr algn="l">
              <a:spcAft>
                <a:spcPts val="200"/>
              </a:spcAft>
            </a:pPr>
            <a:r>
              <a:rPr sz="1300" b="0" i="0">
                <a:solidFill>
                  <a:srgbClr val="63737B"/>
                </a:solidFill>
              </a:rPr>
              <a:t>Type 1 diabetes across the menstrual cycle</a:t>
            </a:r>
          </a:p>
        </p:txBody>
      </p:sp>
      <p:sp>
        <p:nvSpPr>
          <p:cNvPr id="917" name="Rectangle 916"/>
          <p:cNvSpPr/>
          <p:nvPr/>
        </p:nvSpPr>
        <p:spPr>
          <a:xfrm>
            <a:off x="4572000" y="3246120"/>
            <a:ext cx="160020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[1] dcberne.com</a:t>
            </a:r>
          </a:p>
        </p:txBody>
      </p:sp>
      <p:sp>
        <p:nvSpPr>
          <p:cNvPr id="918" name="Rectangle 917"/>
          <p:cNvSpPr/>
          <p:nvPr/>
        </p:nvSpPr>
        <p:spPr>
          <a:xfrm>
            <a:off x="6263640" y="3246120"/>
            <a:ext cx="77724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FFFFFF"/>
                </a:solidFill>
              </a:rPr>
              <a:t>Accept</a:t>
            </a:r>
          </a:p>
        </p:txBody>
      </p:sp>
      <p:sp>
        <p:nvSpPr>
          <p:cNvPr id="919" name="Rectangle 918"/>
          <p:cNvSpPr/>
          <p:nvPr/>
        </p:nvSpPr>
        <p:spPr>
          <a:xfrm>
            <a:off x="7132320" y="3246120"/>
            <a:ext cx="77724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Reject</a:t>
            </a:r>
          </a:p>
        </p:txBody>
      </p:sp>
      <p:sp>
        <p:nvSpPr>
          <p:cNvPr id="920" name="TextBox 919"/>
          <p:cNvSpPr txBox="1"/>
          <p:nvPr/>
        </p:nvSpPr>
        <p:spPr>
          <a:xfrm>
            <a:off x="4572000" y="3749039"/>
            <a:ext cx="3429000" cy="914400"/>
          </a:xfrm>
          <a:prstGeom prst="rect">
            <a:avLst/>
          </a:prstGeom>
          <a:noFill/>
        </p:spPr>
        <p:txBody>
          <a:bodyPr wrap="square" lIns="0" rIns="0" tIns="0" bIns="0" anchor="t">
            <a:spAutoFit/>
          </a:bodyPr>
          <a:lstStyle/>
          <a:p>
            <a:pPr algn="l">
              <a:spcAft>
                <a:spcPts val="200"/>
              </a:spcAft>
            </a:pPr>
            <a:r>
              <a:rPr sz="1500" b="1" i="0">
                <a:solidFill>
                  <a:srgbClr val="000000"/>
                </a:solidFill>
              </a:rPr>
              <a:t>Prof. Dr. Lilian Witthauer</a:t>
            </a:r>
          </a:p>
          <a:p>
            <a:pPr algn="l">
              <a:spcAft>
                <a:spcPts val="200"/>
              </a:spcAft>
            </a:pPr>
            <a:r>
              <a:rPr sz="1300" b="0" i="0">
                <a:solidFill>
                  <a:srgbClr val="63737B"/>
                </a:solidFill>
              </a:rPr>
              <a:t>Diabetes, Machine Learning &amp; Sensor Technology</a:t>
            </a:r>
          </a:p>
        </p:txBody>
      </p:sp>
      <p:sp>
        <p:nvSpPr>
          <p:cNvPr id="921" name="Rectangle 920"/>
          <p:cNvSpPr/>
          <p:nvPr/>
        </p:nvSpPr>
        <p:spPr>
          <a:xfrm>
            <a:off x="4572000" y="4617720"/>
            <a:ext cx="160020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[2] artorg.unibe.ch</a:t>
            </a:r>
          </a:p>
        </p:txBody>
      </p:sp>
      <p:sp>
        <p:nvSpPr>
          <p:cNvPr id="922" name="Rectangle 921"/>
          <p:cNvSpPr/>
          <p:nvPr/>
        </p:nvSpPr>
        <p:spPr>
          <a:xfrm>
            <a:off x="6263640" y="4617720"/>
            <a:ext cx="77724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FFFFFF"/>
                </a:solidFill>
              </a:rPr>
              <a:t>Accept</a:t>
            </a:r>
          </a:p>
        </p:txBody>
      </p:sp>
      <p:sp>
        <p:nvSpPr>
          <p:cNvPr id="923" name="Rectangle 922"/>
          <p:cNvSpPr/>
          <p:nvPr/>
        </p:nvSpPr>
        <p:spPr>
          <a:xfrm>
            <a:off x="7132320" y="4617720"/>
            <a:ext cx="77724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Reject</a:t>
            </a:r>
          </a:p>
        </p:txBody>
      </p:sp>
      <p:pic>
        <p:nvPicPr>
          <p:cNvPr id="924" name="Picture 923" descr="pot-full.png"/>
          <p:cNvPicPr>
            <a:picLocks noChangeAspect="1"/>
          </p:cNvPicPr>
          <p:nvPr/>
        </p:nvPicPr>
        <p:blipFill>
          <a:blip r:embed="rId2"/>
          <a:stretch>
            <a:fillRect/>
          </a:stretch>
        </p:blipFill>
        <p:spPr>
          <a:xfrm>
            <a:off x="4572000" y="5166360"/>
            <a:ext cx="553065" cy="685800"/>
          </a:xfrm>
          <a:prstGeom prst="rect">
            <a:avLst/>
          </a:prstGeom>
        </p:spPr>
      </p:pic>
      <p:sp>
        <p:nvSpPr>
          <p:cNvPr id="925" name="TextBox 924"/>
          <p:cNvSpPr txBox="1"/>
          <p:nvPr/>
        </p:nvSpPr>
        <p:spPr>
          <a:xfrm>
            <a:off x="5166360" y="5212080"/>
            <a:ext cx="2834640" cy="685800"/>
          </a:xfrm>
          <a:prstGeom prst="rect">
            <a:avLst/>
          </a:prstGeom>
          <a:noFill/>
        </p:spPr>
        <p:txBody>
          <a:bodyPr wrap="square" lIns="0" rIns="0" tIns="0" bIns="0" anchor="ctr">
            <a:spAutoFit/>
          </a:bodyPr>
          <a:lstStyle/>
          <a:p>
            <a:pPr algn="l">
              <a:spcAft>
                <a:spcPts val="600"/>
              </a:spcAft>
            </a:pPr>
            <a:r>
              <a:rPr sz="1200" b="0" i="0">
                <a:solidFill>
                  <a:srgbClr val="63737B"/>
                </a:solidFill>
              </a:rPr>
              <a:t>Coverage: strong, several independent pages</a:t>
            </a:r>
          </a:p>
        </p:txBody>
      </p:sp>
      <p:sp>
        <p:nvSpPr>
          <p:cNvPr id="926" name="A4 teaser preview"/>
          <p:cNvSpPr/>
          <p:nvPr/>
        </p:nvSpPr>
        <p:spPr>
          <a:xfrm>
            <a:off x="8302752" y="2377440"/>
            <a:ext cx="2148840" cy="301752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7" name="Connector 926"/>
          <p:cNvCxnSpPr/>
          <p:nvPr/>
        </p:nvCxnSpPr>
        <p:spPr>
          <a:xfrm>
            <a:off x="9377172" y="2514600"/>
            <a:ext cx="0" cy="2743200"/>
          </a:xfrm>
          <a:prstGeom prst="line">
            <a:avLst/>
          </a:prstGeom>
          <a:ln w="9525">
            <a:solidFill>
              <a:srgbClr val="EA161F"/>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a:off x="8458200" y="27432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9509760" y="27432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8458200" y="32004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9509760" y="32004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8458200" y="36576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3" name="Connector 932"/>
          <p:cNvCxnSpPr/>
          <p:nvPr/>
        </p:nvCxnSpPr>
        <p:spPr>
          <a:xfrm>
            <a:off x="9509760" y="36576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4" name="Connector 933"/>
          <p:cNvCxnSpPr/>
          <p:nvPr/>
        </p:nvCxnSpPr>
        <p:spPr>
          <a:xfrm>
            <a:off x="8458200" y="41148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a:off x="9509760" y="41148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6" name="Connector 935"/>
          <p:cNvCxnSpPr/>
          <p:nvPr/>
        </p:nvCxnSpPr>
        <p:spPr>
          <a:xfrm>
            <a:off x="8458200" y="45720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7" name="Connector 936"/>
          <p:cNvCxnSpPr/>
          <p:nvPr/>
        </p:nvCxnSpPr>
        <p:spPr>
          <a:xfrm>
            <a:off x="9509760" y="45720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sp>
        <p:nvSpPr>
          <p:cNvPr id="938" name="TextBox 937"/>
          <p:cNvSpPr txBox="1"/>
          <p:nvPr/>
        </p:nvSpPr>
        <p:spPr>
          <a:xfrm>
            <a:off x="10607040" y="2377440"/>
            <a:ext cx="1234440" cy="2103120"/>
          </a:xfrm>
          <a:prstGeom prst="rect">
            <a:avLst/>
          </a:prstGeom>
          <a:noFill/>
        </p:spPr>
        <p:txBody>
          <a:bodyPr wrap="square" lIns="0" rIns="0" tIns="0" bIns="0" anchor="t">
            <a:spAutoFit/>
          </a:bodyPr>
          <a:lstStyle/>
          <a:p>
            <a:pPr algn="l">
              <a:spcAft>
                <a:spcPts val="600"/>
              </a:spcAft>
            </a:pPr>
            <a:r>
              <a:rPr sz="1200" b="0" i="0">
                <a:solidFill>
                  <a:srgbClr val="63737B"/>
                </a:solidFill>
              </a:rPr>
              <a:t>CEO teaser, every claim numbered and linked</a:t>
            </a:r>
          </a:p>
        </p:txBody>
      </p:sp>
      <p:sp>
        <p:nvSpPr>
          <p:cNvPr id="939" name="Rectangle 938"/>
          <p:cNvSpPr/>
          <p:nvPr/>
        </p:nvSpPr>
        <p:spPr>
          <a:xfrm>
            <a:off x="8302752" y="5532120"/>
            <a:ext cx="128016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a:solidFill>
                  <a:srgbClr val="FFFFFF"/>
                </a:solidFill>
              </a:rPr>
              <a:t>Export PDF</a:t>
            </a:r>
          </a:p>
        </p:txBody>
      </p:sp>
      <p:sp>
        <p:nvSpPr>
          <p:cNvPr id="940" name="TextBox 939"/>
          <p:cNvSpPr txBox="1"/>
          <p:nvPr/>
        </p:nvSpPr>
        <p:spPr>
          <a:xfrm>
            <a:off x="841248" y="5989320"/>
            <a:ext cx="10972800" cy="365760"/>
          </a:xfrm>
          <a:prstGeom prst="rect">
            <a:avLst/>
          </a:prstGeom>
          <a:noFill/>
        </p:spPr>
        <p:txBody>
          <a:bodyPr wrap="square" lIns="0" rIns="0" tIns="0" bIns="0" anchor="t">
            <a:spAutoFit/>
          </a:bodyPr>
          <a:lstStyle/>
          <a:p>
            <a:pPr algn="l">
              <a:spcAft>
                <a:spcPts val="600"/>
              </a:spcAft>
            </a:pPr>
            <a:r>
              <a:rPr sz="1400" b="1" i="0">
                <a:solidFill>
                  <a:srgbClr val="000000"/>
                </a:solidFill>
              </a:rPr>
              <a:t>Click any reason → </a:t>
            </a:r>
            <a:r>
              <a:rPr sz="1400" b="0" i="0">
                <a:solidFill>
                  <a:srgbClr val="000000"/>
                </a:solidFill>
              </a:rPr>
              <a:t>the source page opens at the exact sentence, highlighted</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measured it on questions we never tuned on</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12</a:t>
            </a:fld>
            <a:endParaRPr lang="de-CH" dirty="0"/>
          </a:p>
        </p:txBody>
      </p:sp>
      <p:sp>
        <p:nvSpPr>
          <p:cNvPr id="903" name="TextBox 902"/>
          <p:cNvSpPr txBox="1"/>
          <p:nvPr/>
        </p:nvSpPr>
        <p:spPr>
          <a:xfrm>
            <a:off x="841248" y="1874519"/>
            <a:ext cx="2560320" cy="1005840"/>
          </a:xfrm>
          <a:prstGeom prst="rect">
            <a:avLst/>
          </a:prstGeom>
          <a:noFill/>
        </p:spPr>
        <p:txBody>
          <a:bodyPr wrap="square" lIns="0" rIns="0" tIns="0" bIns="0" anchor="t">
            <a:spAutoFit/>
          </a:bodyPr>
          <a:lstStyle/>
          <a:p>
            <a:pPr algn="l">
              <a:spcAft>
                <a:spcPts val="600"/>
              </a:spcAft>
            </a:pPr>
            <a:r>
              <a:rPr sz="4400" b="1" i="0">
                <a:solidFill>
                  <a:srgbClr val="000000"/>
                </a:solidFill>
              </a:rPr>
              <a:t>91%</a:t>
            </a:r>
          </a:p>
        </p:txBody>
      </p:sp>
      <p:sp>
        <p:nvSpPr>
          <p:cNvPr id="904" name="TextBox 903"/>
          <p:cNvSpPr txBox="1"/>
          <p:nvPr/>
        </p:nvSpPr>
        <p:spPr>
          <a:xfrm>
            <a:off x="841248"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of held-out questions (21 of 23) have the right expert in the top 10</a:t>
            </a:r>
          </a:p>
        </p:txBody>
      </p:sp>
      <p:cxnSp>
        <p:nvCxnSpPr>
          <p:cNvPr id="905" name="Connector 904"/>
          <p:cNvCxnSpPr/>
          <p:nvPr/>
        </p:nvCxnSpPr>
        <p:spPr>
          <a:xfrm>
            <a:off x="3447287" y="1920240"/>
            <a:ext cx="0" cy="23774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3630168" y="1874519"/>
            <a:ext cx="2560320" cy="1005840"/>
          </a:xfrm>
          <a:prstGeom prst="rect">
            <a:avLst/>
          </a:prstGeom>
          <a:noFill/>
        </p:spPr>
        <p:txBody>
          <a:bodyPr wrap="square" lIns="0" rIns="0" tIns="0" bIns="0" anchor="t">
            <a:spAutoFit/>
          </a:bodyPr>
          <a:lstStyle/>
          <a:p>
            <a:pPr algn="l">
              <a:spcAft>
                <a:spcPts val="600"/>
              </a:spcAft>
            </a:pPr>
            <a:r>
              <a:rPr sz="4400" b="1" i="0">
                <a:solidFill>
                  <a:srgbClr val="000000"/>
                </a:solidFill>
              </a:rPr>
              <a:t>10/11</a:t>
            </a:r>
          </a:p>
        </p:txBody>
      </p:sp>
      <p:sp>
        <p:nvSpPr>
          <p:cNvPr id="907" name="TextBox 906"/>
          <p:cNvSpPr txBox="1"/>
          <p:nvPr/>
        </p:nvSpPr>
        <p:spPr>
          <a:xfrm>
            <a:off x="3630168"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plain-language questions find the right expert, no jargon needed</a:t>
            </a:r>
          </a:p>
        </p:txBody>
      </p:sp>
      <p:cxnSp>
        <p:nvCxnSpPr>
          <p:cNvPr id="908" name="Connector 907"/>
          <p:cNvCxnSpPr/>
          <p:nvPr/>
        </p:nvCxnSpPr>
        <p:spPr>
          <a:xfrm>
            <a:off x="6236207" y="1920240"/>
            <a:ext cx="0" cy="23774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9" name="TextBox 908"/>
          <p:cNvSpPr txBox="1"/>
          <p:nvPr/>
        </p:nvSpPr>
        <p:spPr>
          <a:xfrm>
            <a:off x="6419088" y="1874519"/>
            <a:ext cx="2560320" cy="1005840"/>
          </a:xfrm>
          <a:prstGeom prst="rect">
            <a:avLst/>
          </a:prstGeom>
          <a:noFill/>
        </p:spPr>
        <p:txBody>
          <a:bodyPr wrap="square" lIns="0" rIns="0" tIns="0" bIns="0" anchor="t">
            <a:spAutoFit/>
          </a:bodyPr>
          <a:lstStyle/>
          <a:p>
            <a:pPr algn="l">
              <a:spcAft>
                <a:spcPts val="600"/>
              </a:spcAft>
            </a:pPr>
            <a:r>
              <a:rPr sz="4400" b="1" i="0">
                <a:solidFill>
                  <a:srgbClr val="EA161F"/>
                </a:solidFill>
              </a:rPr>
              <a:t>0</a:t>
            </a:r>
          </a:p>
        </p:txBody>
      </p:sp>
      <p:sp>
        <p:nvSpPr>
          <p:cNvPr id="910" name="TextBox 909"/>
          <p:cNvSpPr txBox="1"/>
          <p:nvPr/>
        </p:nvSpPr>
        <p:spPr>
          <a:xfrm>
            <a:off x="6419088"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of 19,631 facts without a link to their source page</a:t>
            </a:r>
          </a:p>
        </p:txBody>
      </p:sp>
      <p:cxnSp>
        <p:nvCxnSpPr>
          <p:cNvPr id="911" name="Connector 910"/>
          <p:cNvCxnSpPr/>
          <p:nvPr/>
        </p:nvCxnSpPr>
        <p:spPr>
          <a:xfrm>
            <a:off x="9025128" y="1920240"/>
            <a:ext cx="0" cy="23774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9208007" y="1874519"/>
            <a:ext cx="2560320" cy="1005840"/>
          </a:xfrm>
          <a:prstGeom prst="rect">
            <a:avLst/>
          </a:prstGeom>
          <a:noFill/>
        </p:spPr>
        <p:txBody>
          <a:bodyPr wrap="square" lIns="0" rIns="0" tIns="0" bIns="0" anchor="t">
            <a:spAutoFit/>
          </a:bodyPr>
          <a:lstStyle/>
          <a:p>
            <a:pPr algn="l">
              <a:spcAft>
                <a:spcPts val="600"/>
              </a:spcAft>
            </a:pPr>
            <a:r>
              <a:rPr sz="4400" b="1" i="0">
                <a:solidFill>
                  <a:srgbClr val="000000"/>
                </a:solidFill>
              </a:rPr>
              <a:t>0%</a:t>
            </a:r>
          </a:p>
        </p:txBody>
      </p:sp>
      <p:sp>
        <p:nvSpPr>
          <p:cNvPr id="913" name="TextBox 912"/>
          <p:cNvSpPr txBox="1"/>
          <p:nvPr/>
        </p:nvSpPr>
        <p:spPr>
          <a:xfrm>
            <a:off x="9208007"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our weakest category: funding (1 question; the app answers it from a curated list). We show it.</a:t>
            </a:r>
          </a:p>
        </p:txBody>
      </p:sp>
      <p:cxnSp>
        <p:nvCxnSpPr>
          <p:cNvPr id="914" name="Connector 913"/>
          <p:cNvCxnSpPr/>
          <p:nvPr/>
        </p:nvCxnSpPr>
        <p:spPr>
          <a:xfrm>
            <a:off x="841248" y="4617720"/>
            <a:ext cx="1097280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5" name="TextBox 914"/>
          <p:cNvSpPr txBox="1"/>
          <p:nvPr/>
        </p:nvSpPr>
        <p:spPr>
          <a:xfrm>
            <a:off x="841248" y="4800600"/>
            <a:ext cx="6949440" cy="1463040"/>
          </a:xfrm>
          <a:prstGeom prst="rect">
            <a:avLst/>
          </a:prstGeom>
          <a:noFill/>
        </p:spPr>
        <p:txBody>
          <a:bodyPr wrap="square" lIns="0" rIns="0" tIns="0" bIns="0" anchor="t">
            <a:spAutoFit/>
          </a:bodyPr>
          <a:lstStyle/>
          <a:p>
            <a:pPr algn="l">
              <a:spcAft>
                <a:spcPts val="600"/>
              </a:spcAft>
            </a:pPr>
            <a:r>
              <a:rPr sz="1300" b="1" i="0">
                <a:solidFill>
                  <a:srgbClr val="63737B"/>
                </a:solidFill>
              </a:rPr>
              <a:t>How: </a:t>
            </a:r>
            <a:r>
              <a:rPr sz="1300" b="0" i="0">
                <a:solidFill>
                  <a:srgbClr val="63737B"/>
                </a:solidFill>
              </a:rPr>
              <a:t>84 hand-written test cases (55 to tune on, 29 held out and hash-locked) plus 47 synthetic. Hybrid search (BM25 + BGE-M3, fused with RRF), cross-encoder rerank, Apertus 70B grading, every extracted fact checked against the page text.</a:t>
            </a:r>
          </a:p>
        </p:txBody>
      </p:sp>
      <p:sp>
        <p:nvSpPr>
          <p:cNvPr id="916" name="Rectangle 915"/>
          <p:cNvSpPr/>
          <p:nvPr/>
        </p:nvSpPr>
        <p:spPr>
          <a:xfrm>
            <a:off x="8138160" y="4800600"/>
            <a:ext cx="3657600" cy="1051560"/>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7" name="TextBox 916"/>
          <p:cNvSpPr txBox="1"/>
          <p:nvPr/>
        </p:nvSpPr>
        <p:spPr>
          <a:xfrm>
            <a:off x="8321040" y="4800600"/>
            <a:ext cx="3291840" cy="1051560"/>
          </a:xfrm>
          <a:prstGeom prst="rect">
            <a:avLst/>
          </a:prstGeom>
          <a:noFill/>
        </p:spPr>
        <p:txBody>
          <a:bodyPr wrap="square" lIns="0" rIns="0" tIns="0" bIns="0" anchor="ctr">
            <a:spAutoFit/>
          </a:bodyPr>
          <a:lstStyle/>
          <a:p>
            <a:pPr algn="l">
              <a:spcAft>
                <a:spcPts val="600"/>
              </a:spcAft>
            </a:pPr>
            <a:r>
              <a:rPr sz="1800" b="1" i="0">
                <a:solidFill>
                  <a:srgbClr val="FFFFFF"/>
                </a:solidFill>
              </a:rPr>
              <a:t>Judges: type your own question</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one-pager never leaves Switzerland</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13</a:t>
            </a:fld>
            <a:endParaRPr lang="de-CH" dirty="0"/>
          </a:p>
        </p:txBody>
      </p:sp>
      <p:sp>
        <p:nvSpPr>
          <p:cNvPr id="903" name="Rectangle 902"/>
          <p:cNvSpPr/>
          <p:nvPr/>
        </p:nvSpPr>
        <p:spPr>
          <a:xfrm>
            <a:off x="841248" y="1920240"/>
            <a:ext cx="329184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4" name="TextBox 903"/>
          <p:cNvSpPr txBox="1"/>
          <p:nvPr/>
        </p:nvSpPr>
        <p:spPr>
          <a:xfrm>
            <a:off x="1024128" y="2011680"/>
            <a:ext cx="2926080" cy="1280160"/>
          </a:xfrm>
          <a:prstGeom prst="rect">
            <a:avLst/>
          </a:prstGeom>
          <a:noFill/>
        </p:spPr>
        <p:txBody>
          <a:bodyPr wrap="square" lIns="0" rIns="0" tIns="0" bIns="0" anchor="ctr">
            <a:spAutoFit/>
          </a:bodyPr>
          <a:lstStyle/>
          <a:p>
            <a:pPr algn="l">
              <a:spcAft>
                <a:spcPts val="400"/>
              </a:spcAft>
            </a:pPr>
            <a:r>
              <a:rPr sz="1800" b="1" i="0">
                <a:solidFill>
                  <a:srgbClr val="FFFFFF"/>
                </a:solidFill>
              </a:rPr>
              <a:t>Confidential</a:t>
            </a:r>
          </a:p>
          <a:p>
            <a:pPr algn="l">
              <a:spcAft>
                <a:spcPts val="400"/>
              </a:spcAft>
            </a:pPr>
            <a:r>
              <a:rPr sz="1400" b="0" i="0">
                <a:solidFill>
                  <a:srgbClr val="FFFFFF"/>
                </a:solidFill>
              </a:rPr>
              <a:t>Company one-pager, officer notes</a:t>
            </a:r>
          </a:p>
        </p:txBody>
      </p:sp>
      <p:sp>
        <p:nvSpPr>
          <p:cNvPr id="905" name="TextBox 904"/>
          <p:cNvSpPr txBox="1"/>
          <p:nvPr/>
        </p:nvSpPr>
        <p:spPr>
          <a:xfrm>
            <a:off x="4206240" y="1920240"/>
            <a:ext cx="822960" cy="1463040"/>
          </a:xfrm>
          <a:prstGeom prst="rect">
            <a:avLst/>
          </a:prstGeom>
          <a:noFill/>
        </p:spPr>
        <p:txBody>
          <a:bodyPr wrap="square" lIns="0" rIns="0" tIns="0" bIns="0" anchor="ctr">
            <a:spAutoFit/>
          </a:bodyPr>
          <a:lstStyle/>
          <a:p>
            <a:pPr algn="ctr">
              <a:spcAft>
                <a:spcPts val="600"/>
              </a:spcAft>
            </a:pPr>
            <a:r>
              <a:rPr sz="3600" b="0" i="0">
                <a:solidFill>
                  <a:srgbClr val="EA161F"/>
                </a:solidFill>
              </a:rPr>
              <a:t>→</a:t>
            </a:r>
          </a:p>
        </p:txBody>
      </p:sp>
      <p:sp>
        <p:nvSpPr>
          <p:cNvPr id="906" name="Rectangle 905"/>
          <p:cNvSpPr/>
          <p:nvPr/>
        </p:nvSpPr>
        <p:spPr>
          <a:xfrm>
            <a:off x="5074920" y="1920240"/>
            <a:ext cx="3566160" cy="1463040"/>
          </a:xfrm>
          <a:prstGeom prst="rect">
            <a:avLst/>
          </a:prstGeom>
          <a:noFill/>
          <a:ln w="31750">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7" name="TextBox 906"/>
          <p:cNvSpPr txBox="1"/>
          <p:nvPr/>
        </p:nvSpPr>
        <p:spPr>
          <a:xfrm>
            <a:off x="5257800" y="2011680"/>
            <a:ext cx="3200400" cy="1280160"/>
          </a:xfrm>
          <a:prstGeom prst="rect">
            <a:avLst/>
          </a:prstGeom>
          <a:noFill/>
        </p:spPr>
        <p:txBody>
          <a:bodyPr wrap="square" lIns="0" rIns="0" tIns="0" bIns="0" anchor="ctr">
            <a:spAutoFit/>
          </a:bodyPr>
          <a:lstStyle/>
          <a:p>
            <a:pPr algn="l">
              <a:spcAft>
                <a:spcPts val="400"/>
              </a:spcAft>
            </a:pPr>
            <a:r>
              <a:rPr sz="1800" b="1" i="0">
                <a:solidFill>
                  <a:srgbClr val="000000"/>
                </a:solidFill>
              </a:rPr>
              <a:t>Apertus v1.5 on CSCS</a:t>
            </a:r>
          </a:p>
          <a:p>
            <a:pPr algn="l">
              <a:spcAft>
                <a:spcPts val="400"/>
              </a:spcAft>
            </a:pPr>
            <a:r>
              <a:rPr sz="1400" b="0" i="0">
                <a:solidFill>
                  <a:srgbClr val="63737B"/>
                </a:solidFill>
              </a:rPr>
              <a:t>Swiss open model, Swiss supercomputing centre</a:t>
            </a:r>
          </a:p>
        </p:txBody>
      </p:sp>
      <p:sp>
        <p:nvSpPr>
          <p:cNvPr id="908" name="Rectangle 907"/>
          <p:cNvSpPr/>
          <p:nvPr/>
        </p:nvSpPr>
        <p:spPr>
          <a:xfrm>
            <a:off x="841248" y="3657600"/>
            <a:ext cx="3291840" cy="14630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9" name="TextBox 908"/>
          <p:cNvSpPr txBox="1"/>
          <p:nvPr/>
        </p:nvSpPr>
        <p:spPr>
          <a:xfrm>
            <a:off x="1024128" y="3749039"/>
            <a:ext cx="2926080" cy="1280160"/>
          </a:xfrm>
          <a:prstGeom prst="rect">
            <a:avLst/>
          </a:prstGeom>
          <a:noFill/>
        </p:spPr>
        <p:txBody>
          <a:bodyPr wrap="square" lIns="0" rIns="0" tIns="0" bIns="0" anchor="ctr">
            <a:spAutoFit/>
          </a:bodyPr>
          <a:lstStyle/>
          <a:p>
            <a:pPr algn="l">
              <a:spcAft>
                <a:spcPts val="400"/>
              </a:spcAft>
            </a:pPr>
            <a:r>
              <a:rPr sz="1800" b="1" i="0">
                <a:solidFill>
                  <a:srgbClr val="000000"/>
                </a:solidFill>
              </a:rPr>
              <a:t>Public web text only</a:t>
            </a:r>
          </a:p>
          <a:p>
            <a:pPr algn="l">
              <a:spcAft>
                <a:spcPts val="400"/>
              </a:spcAft>
            </a:pPr>
            <a:r>
              <a:rPr sz="1400" b="0" i="0">
                <a:solidFill>
                  <a:srgbClr val="63737B"/>
                </a:solidFill>
              </a:rPr>
              <a:t>unibe.ch, ARTORG, Diabetes Center Berne</a:t>
            </a:r>
          </a:p>
        </p:txBody>
      </p:sp>
      <p:sp>
        <p:nvSpPr>
          <p:cNvPr id="910" name="TextBox 909"/>
          <p:cNvSpPr txBox="1"/>
          <p:nvPr/>
        </p:nvSpPr>
        <p:spPr>
          <a:xfrm>
            <a:off x="4206240" y="3657600"/>
            <a:ext cx="822960" cy="1463040"/>
          </a:xfrm>
          <a:prstGeom prst="rect">
            <a:avLst/>
          </a:prstGeom>
          <a:noFill/>
        </p:spPr>
        <p:txBody>
          <a:bodyPr wrap="square" lIns="0" rIns="0" tIns="0" bIns="0" anchor="ctr">
            <a:spAutoFit/>
          </a:bodyPr>
          <a:lstStyle/>
          <a:p>
            <a:pPr algn="ctr">
              <a:spcAft>
                <a:spcPts val="600"/>
              </a:spcAft>
            </a:pPr>
            <a:r>
              <a:rPr sz="3600" b="0" i="0">
                <a:solidFill>
                  <a:srgbClr val="63737B"/>
                </a:solidFill>
              </a:rPr>
              <a:t>→</a:t>
            </a:r>
          </a:p>
        </p:txBody>
      </p:sp>
      <p:sp>
        <p:nvSpPr>
          <p:cNvPr id="911" name="Rectangle 910"/>
          <p:cNvSpPr/>
          <p:nvPr/>
        </p:nvSpPr>
        <p:spPr>
          <a:xfrm>
            <a:off x="5074920" y="3657600"/>
            <a:ext cx="3566160" cy="1463040"/>
          </a:xfrm>
          <a:prstGeom prst="rect">
            <a:avLst/>
          </a:prstGeom>
          <a:noFill/>
          <a:ln w="19050">
            <a:solidFill>
              <a:srgbClr val="B1B9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2" name="TextBox 911"/>
          <p:cNvSpPr txBox="1"/>
          <p:nvPr/>
        </p:nvSpPr>
        <p:spPr>
          <a:xfrm>
            <a:off x="5257800" y="3749039"/>
            <a:ext cx="3200400" cy="1280160"/>
          </a:xfrm>
          <a:prstGeom prst="rect">
            <a:avLst/>
          </a:prstGeom>
          <a:noFill/>
        </p:spPr>
        <p:txBody>
          <a:bodyPr wrap="square" lIns="0" rIns="0" tIns="0" bIns="0" anchor="ctr">
            <a:spAutoFit/>
          </a:bodyPr>
          <a:lstStyle/>
          <a:p>
            <a:pPr algn="l">
              <a:spcAft>
                <a:spcPts val="400"/>
              </a:spcAft>
            </a:pPr>
            <a:r>
              <a:rPr sz="1800" b="1" i="0">
                <a:solidFill>
                  <a:srgbClr val="000000"/>
                </a:solidFill>
              </a:rPr>
              <a:t>Local models</a:t>
            </a:r>
          </a:p>
          <a:p>
            <a:pPr algn="l">
              <a:spcAft>
                <a:spcPts val="400"/>
              </a:spcAft>
            </a:pPr>
            <a:r>
              <a:rPr sz="1400" b="0" i="0">
                <a:solidFill>
                  <a:srgbClr val="63737B"/>
                </a:solidFill>
              </a:rPr>
              <a:t>Embeddings and reranker, inside our container</a:t>
            </a:r>
          </a:p>
        </p:txBody>
      </p:sp>
      <p:cxnSp>
        <p:nvCxnSpPr>
          <p:cNvPr id="913" name="Connector 912"/>
          <p:cNvCxnSpPr/>
          <p:nvPr/>
        </p:nvCxnSpPr>
        <p:spPr>
          <a:xfrm>
            <a:off x="905256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4" name="TextBox 913"/>
          <p:cNvSpPr txBox="1"/>
          <p:nvPr/>
        </p:nvSpPr>
        <p:spPr>
          <a:xfrm>
            <a:off x="9372600" y="1920240"/>
            <a:ext cx="2468880" cy="365760"/>
          </a:xfrm>
          <a:prstGeom prst="rect">
            <a:avLst/>
          </a:prstGeom>
          <a:noFill/>
        </p:spPr>
        <p:txBody>
          <a:bodyPr wrap="square" lIns="0" rIns="0" tIns="0" bIns="0" anchor="t">
            <a:spAutoFit/>
          </a:bodyPr>
          <a:lstStyle/>
          <a:p>
            <a:pPr algn="l">
              <a:spcAft>
                <a:spcPts val="600"/>
              </a:spcAft>
            </a:pPr>
            <a:r>
              <a:rPr sz="1600" b="1" i="0">
                <a:solidFill>
                  <a:srgbClr val="000000"/>
                </a:solidFill>
              </a:rPr>
              <a:t>Data rules</a:t>
            </a:r>
          </a:p>
        </p:txBody>
      </p:sp>
      <p:sp>
        <p:nvSpPr>
          <p:cNvPr id="915" name="TextBox 914"/>
          <p:cNvSpPr txBox="1"/>
          <p:nvPr/>
        </p:nvSpPr>
        <p:spPr>
          <a:xfrm>
            <a:off x="9372600" y="2377440"/>
            <a:ext cx="2468880" cy="3200400"/>
          </a:xfrm>
          <a:prstGeom prst="rect">
            <a:avLst/>
          </a:prstGeom>
          <a:noFill/>
        </p:spPr>
        <p:txBody>
          <a:bodyPr wrap="square" lIns="0" rIns="0" tIns="0" bIns="0" anchor="t">
            <a:spAutoFit/>
          </a:bodyPr>
          <a:lstStyle/>
          <a:p>
            <a:pPr algn="l">
              <a:spcAft>
                <a:spcPts val="1200"/>
              </a:spcAft>
            </a:pPr>
            <a:r>
              <a:rPr sz="1400" b="1" i="0">
                <a:solidFill>
                  <a:srgbClr val="EA161F"/>
                </a:solidFill>
              </a:rPr>
              <a:t>✓  </a:t>
            </a:r>
            <a:r>
              <a:rPr sz="1400" b="0" i="0">
                <a:solidFill>
                  <a:srgbClr val="000000"/>
                </a:solidFill>
              </a:rPr>
              <a:t>robots.txt respected</a:t>
            </a:r>
          </a:p>
          <a:p>
            <a:pPr algn="l">
              <a:spcAft>
                <a:spcPts val="1200"/>
              </a:spcAft>
            </a:pPr>
            <a:r>
              <a:rPr sz="1400" b="1" i="0">
                <a:solidFill>
                  <a:srgbClr val="EA161F"/>
                </a:solidFill>
              </a:rPr>
              <a:t>✓  </a:t>
            </a:r>
            <a:r>
              <a:rPr sz="1400" b="0" i="0">
                <a:solidFill>
                  <a:srgbClr val="000000"/>
                </a:solidFill>
              </a:rPr>
              <a:t>Only professional contact data</a:t>
            </a:r>
          </a:p>
          <a:p>
            <a:pPr algn="l">
              <a:spcAft>
                <a:spcPts val="1200"/>
              </a:spcAft>
            </a:pPr>
            <a:r>
              <a:rPr sz="1400" b="1" i="0">
                <a:solidFill>
                  <a:srgbClr val="EA161F"/>
                </a:solidFill>
              </a:rPr>
              <a:t>✓  </a:t>
            </a:r>
            <a:r>
              <a:rPr sz="1400" b="0" i="0">
                <a:solidFill>
                  <a:srgbClr val="000000"/>
                </a:solidFill>
              </a:rPr>
              <a:t>No LinkedIn, no social media</a:t>
            </a:r>
          </a:p>
          <a:p>
            <a:pPr algn="l">
              <a:spcAft>
                <a:spcPts val="1200"/>
              </a:spcAft>
            </a:pPr>
            <a:r>
              <a:rPr sz="1400" b="1" i="0">
                <a:solidFill>
                  <a:srgbClr val="EA161F"/>
                </a:solidFill>
              </a:rPr>
              <a:t>✓  </a:t>
            </a:r>
            <a:r>
              <a:rPr sz="1400" b="0" i="0">
                <a:solidFill>
                  <a:srgbClr val="000000"/>
                </a:solidFill>
              </a:rPr>
              <a:t>Every fact traceable to a public page</a:t>
            </a:r>
          </a:p>
        </p:txBody>
      </p:sp>
      <p:sp>
        <p:nvSpPr>
          <p:cNvPr id="916" name="TextBox 915"/>
          <p:cNvSpPr txBox="1"/>
          <p:nvPr/>
        </p:nvSpPr>
        <p:spPr>
          <a:xfrm>
            <a:off x="841248" y="5440680"/>
            <a:ext cx="7772400" cy="731520"/>
          </a:xfrm>
          <a:prstGeom prst="rect">
            <a:avLst/>
          </a:prstGeom>
          <a:noFill/>
        </p:spPr>
        <p:txBody>
          <a:bodyPr wrap="square" lIns="0" rIns="0" tIns="0" bIns="0" anchor="t">
            <a:spAutoFit/>
          </a:bodyPr>
          <a:lstStyle/>
          <a:p>
            <a:pPr algn="l">
              <a:spcAft>
                <a:spcPts val="600"/>
              </a:spcAft>
            </a:pPr>
            <a:r>
              <a:rPr sz="1400" b="1" i="0">
                <a:solidFill>
                  <a:srgbClr val="000000"/>
                </a:solidFill>
              </a:rPr>
              <a:t>Confidential input only ever goes to Apertus on Swiss infrastructure. That's not a checkbox: it is why this product can exist.</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Bern's research never sits idle</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14</a:t>
            </a:fld>
            <a:endParaRPr lang="de-CH" dirty="0"/>
          </a:p>
        </p:txBody>
      </p:sp>
      <p:sp>
        <p:nvSpPr>
          <p:cNvPr id="903" name="Rectangle 902"/>
          <p:cNvSpPr/>
          <p:nvPr/>
        </p:nvSpPr>
        <p:spPr>
          <a:xfrm>
            <a:off x="84124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New</a:t>
            </a:r>
          </a:p>
        </p:txBody>
      </p:sp>
      <p:sp>
        <p:nvSpPr>
          <p:cNvPr id="904" name="TextBox 903"/>
          <p:cNvSpPr txBox="1"/>
          <p:nvPr/>
        </p:nvSpPr>
        <p:spPr>
          <a:xfrm>
            <a:off x="180136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05" name="Rectangle 904"/>
          <p:cNvSpPr/>
          <p:nvPr/>
        </p:nvSpPr>
        <p:spPr>
          <a:xfrm>
            <a:off x="207568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Triaged</a:t>
            </a:r>
          </a:p>
        </p:txBody>
      </p:sp>
      <p:sp>
        <p:nvSpPr>
          <p:cNvPr id="906" name="TextBox 905"/>
          <p:cNvSpPr txBox="1"/>
          <p:nvPr/>
        </p:nvSpPr>
        <p:spPr>
          <a:xfrm>
            <a:off x="303580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07" name="Rectangle 906"/>
          <p:cNvSpPr/>
          <p:nvPr/>
        </p:nvSpPr>
        <p:spPr>
          <a:xfrm>
            <a:off x="331012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Pitched</a:t>
            </a:r>
          </a:p>
        </p:txBody>
      </p:sp>
      <p:sp>
        <p:nvSpPr>
          <p:cNvPr id="908" name="TextBox 907"/>
          <p:cNvSpPr txBox="1"/>
          <p:nvPr/>
        </p:nvSpPr>
        <p:spPr>
          <a:xfrm>
            <a:off x="427024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09" name="Rectangle 908"/>
          <p:cNvSpPr/>
          <p:nvPr/>
        </p:nvSpPr>
        <p:spPr>
          <a:xfrm>
            <a:off x="454456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Visit</a:t>
            </a:r>
          </a:p>
        </p:txBody>
      </p:sp>
      <p:sp>
        <p:nvSpPr>
          <p:cNvPr id="910" name="TextBox 909"/>
          <p:cNvSpPr txBox="1"/>
          <p:nvPr/>
        </p:nvSpPr>
        <p:spPr>
          <a:xfrm>
            <a:off x="550468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11" name="Rectangle 910"/>
          <p:cNvSpPr/>
          <p:nvPr/>
        </p:nvSpPr>
        <p:spPr>
          <a:xfrm>
            <a:off x="5779008" y="1874519"/>
            <a:ext cx="123444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Won / Lost</a:t>
            </a:r>
          </a:p>
        </p:txBody>
      </p:sp>
      <p:sp>
        <p:nvSpPr>
          <p:cNvPr id="912" name="TextBox 911"/>
          <p:cNvSpPr txBox="1"/>
          <p:nvPr/>
        </p:nvSpPr>
        <p:spPr>
          <a:xfrm>
            <a:off x="841248"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Case</a:t>
            </a:r>
          </a:p>
        </p:txBody>
      </p:sp>
      <p:sp>
        <p:nvSpPr>
          <p:cNvPr id="913" name="TextBox 912"/>
          <p:cNvSpPr txBox="1"/>
          <p:nvPr/>
        </p:nvSpPr>
        <p:spPr>
          <a:xfrm>
            <a:off x="3429000"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Status</a:t>
            </a:r>
          </a:p>
        </p:txBody>
      </p:sp>
      <p:sp>
        <p:nvSpPr>
          <p:cNvPr id="914" name="TextBox 913"/>
          <p:cNvSpPr txBox="1"/>
          <p:nvPr/>
        </p:nvSpPr>
        <p:spPr>
          <a:xfrm>
            <a:off x="4754880"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Coverage</a:t>
            </a:r>
          </a:p>
        </p:txBody>
      </p:sp>
      <p:sp>
        <p:nvSpPr>
          <p:cNvPr id="915" name="TextBox 914"/>
          <p:cNvSpPr txBox="1"/>
          <p:nvPr/>
        </p:nvSpPr>
        <p:spPr>
          <a:xfrm>
            <a:off x="5806440"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Since last check</a:t>
            </a:r>
          </a:p>
        </p:txBody>
      </p:sp>
      <p:cxnSp>
        <p:nvCxnSpPr>
          <p:cNvPr id="916" name="Connector 915"/>
          <p:cNvCxnSpPr/>
          <p:nvPr/>
        </p:nvCxnSpPr>
        <p:spPr>
          <a:xfrm>
            <a:off x="841248" y="283464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7" name="TextBox 916"/>
          <p:cNvSpPr txBox="1"/>
          <p:nvPr/>
        </p:nvSpPr>
        <p:spPr>
          <a:xfrm>
            <a:off x="841248" y="2971800"/>
            <a:ext cx="2560320" cy="502920"/>
          </a:xfrm>
          <a:prstGeom prst="rect">
            <a:avLst/>
          </a:prstGeom>
          <a:noFill/>
        </p:spPr>
        <p:txBody>
          <a:bodyPr wrap="square" lIns="0" rIns="0" tIns="0" bIns="0" anchor="ctr">
            <a:spAutoFit/>
          </a:bodyPr>
          <a:lstStyle/>
          <a:p>
            <a:pPr algn="l">
              <a:spcAft>
                <a:spcPts val="600"/>
              </a:spcAft>
            </a:pPr>
            <a:r>
              <a:rPr sz="1400" b="1" i="0">
                <a:solidFill>
                  <a:srgbClr val="000000"/>
                </a:solidFill>
              </a:rPr>
              <a:t>Sport wearable patch</a:t>
            </a:r>
          </a:p>
        </p:txBody>
      </p:sp>
      <p:sp>
        <p:nvSpPr>
          <p:cNvPr id="918" name="TextBox 917"/>
          <p:cNvSpPr txBox="1"/>
          <p:nvPr/>
        </p:nvSpPr>
        <p:spPr>
          <a:xfrm>
            <a:off x="3429000" y="29718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Triaged</a:t>
            </a:r>
          </a:p>
        </p:txBody>
      </p:sp>
      <p:pic>
        <p:nvPicPr>
          <p:cNvPr id="919" name="Picture 918" descr="pot-full.png"/>
          <p:cNvPicPr>
            <a:picLocks noChangeAspect="1"/>
          </p:cNvPicPr>
          <p:nvPr/>
        </p:nvPicPr>
        <p:blipFill>
          <a:blip r:embed="rId2"/>
          <a:stretch>
            <a:fillRect/>
          </a:stretch>
        </p:blipFill>
        <p:spPr>
          <a:xfrm>
            <a:off x="4937760" y="2990088"/>
            <a:ext cx="368710" cy="457200"/>
          </a:xfrm>
          <a:prstGeom prst="rect">
            <a:avLst/>
          </a:prstGeom>
        </p:spPr>
      </p:pic>
      <p:sp>
        <p:nvSpPr>
          <p:cNvPr id="920" name="Rectangle 919"/>
          <p:cNvSpPr/>
          <p:nvPr/>
        </p:nvSpPr>
        <p:spPr>
          <a:xfrm>
            <a:off x="5806440" y="3063240"/>
            <a:ext cx="160020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a:solidFill>
                  <a:srgbClr val="FFFFFF"/>
                </a:solidFill>
              </a:rPr>
              <a:t>2 new matches</a:t>
            </a:r>
          </a:p>
        </p:txBody>
      </p:sp>
      <p:cxnSp>
        <p:nvCxnSpPr>
          <p:cNvPr id="921" name="Connector 920"/>
          <p:cNvCxnSpPr/>
          <p:nvPr/>
        </p:nvCxnSpPr>
        <p:spPr>
          <a:xfrm>
            <a:off x="841248" y="35661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22" name="TextBox 921"/>
          <p:cNvSpPr txBox="1"/>
          <p:nvPr/>
        </p:nvSpPr>
        <p:spPr>
          <a:xfrm>
            <a:off x="841248" y="3657600"/>
            <a:ext cx="2560320" cy="502920"/>
          </a:xfrm>
          <a:prstGeom prst="rect">
            <a:avLst/>
          </a:prstGeom>
          <a:noFill/>
        </p:spPr>
        <p:txBody>
          <a:bodyPr wrap="square" lIns="0" rIns="0" tIns="0" bIns="0" anchor="ctr">
            <a:spAutoFit/>
          </a:bodyPr>
          <a:lstStyle/>
          <a:p>
            <a:pPr algn="l">
              <a:spcAft>
                <a:spcPts val="600"/>
              </a:spcAft>
            </a:pPr>
            <a:r>
              <a:rPr sz="1400" b="0" i="0">
                <a:solidFill>
                  <a:srgbClr val="000000"/>
                </a:solidFill>
              </a:rPr>
              <a:t>Hearing implant start-up</a:t>
            </a:r>
          </a:p>
        </p:txBody>
      </p:sp>
      <p:sp>
        <p:nvSpPr>
          <p:cNvPr id="923" name="TextBox 922"/>
          <p:cNvSpPr txBox="1"/>
          <p:nvPr/>
        </p:nvSpPr>
        <p:spPr>
          <a:xfrm>
            <a:off x="3429000" y="36576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New</a:t>
            </a:r>
          </a:p>
        </p:txBody>
      </p:sp>
      <p:pic>
        <p:nvPicPr>
          <p:cNvPr id="924" name="Picture 923" descr="pot-thin.png"/>
          <p:cNvPicPr>
            <a:picLocks noChangeAspect="1"/>
          </p:cNvPicPr>
          <p:nvPr/>
        </p:nvPicPr>
        <p:blipFill>
          <a:blip r:embed="rId3"/>
          <a:stretch>
            <a:fillRect/>
          </a:stretch>
        </p:blipFill>
        <p:spPr>
          <a:xfrm>
            <a:off x="4937760" y="3675887"/>
            <a:ext cx="368710" cy="457200"/>
          </a:xfrm>
          <a:prstGeom prst="rect">
            <a:avLst/>
          </a:prstGeom>
        </p:spPr>
      </p:pic>
      <p:cxnSp>
        <p:nvCxnSpPr>
          <p:cNvPr id="925" name="Connector 924"/>
          <p:cNvCxnSpPr/>
          <p:nvPr/>
        </p:nvCxnSpPr>
        <p:spPr>
          <a:xfrm>
            <a:off x="841248" y="42519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26" name="TextBox 925"/>
          <p:cNvSpPr txBox="1"/>
          <p:nvPr/>
        </p:nvSpPr>
        <p:spPr>
          <a:xfrm>
            <a:off x="841248" y="4343400"/>
            <a:ext cx="2560320" cy="502920"/>
          </a:xfrm>
          <a:prstGeom prst="rect">
            <a:avLst/>
          </a:prstGeom>
          <a:noFill/>
        </p:spPr>
        <p:txBody>
          <a:bodyPr wrap="square" lIns="0" rIns="0" tIns="0" bIns="0" anchor="ctr">
            <a:spAutoFit/>
          </a:bodyPr>
          <a:lstStyle/>
          <a:p>
            <a:pPr algn="l">
              <a:spcAft>
                <a:spcPts val="600"/>
              </a:spcAft>
            </a:pPr>
            <a:r>
              <a:rPr sz="1400" b="0" i="0">
                <a:solidFill>
                  <a:srgbClr val="000000"/>
                </a:solidFill>
              </a:rPr>
              <a:t>Lab-on-chip drug testing</a:t>
            </a:r>
          </a:p>
        </p:txBody>
      </p:sp>
      <p:sp>
        <p:nvSpPr>
          <p:cNvPr id="927" name="TextBox 926"/>
          <p:cNvSpPr txBox="1"/>
          <p:nvPr/>
        </p:nvSpPr>
        <p:spPr>
          <a:xfrm>
            <a:off x="3429000" y="43434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Pitched</a:t>
            </a:r>
          </a:p>
        </p:txBody>
      </p:sp>
      <p:pic>
        <p:nvPicPr>
          <p:cNvPr id="928" name="Picture 927" descr="pot-full.png"/>
          <p:cNvPicPr>
            <a:picLocks noChangeAspect="1"/>
          </p:cNvPicPr>
          <p:nvPr/>
        </p:nvPicPr>
        <p:blipFill>
          <a:blip r:embed="rId2"/>
          <a:stretch>
            <a:fillRect/>
          </a:stretch>
        </p:blipFill>
        <p:spPr>
          <a:xfrm>
            <a:off x="4937760" y="4361688"/>
            <a:ext cx="368710" cy="457200"/>
          </a:xfrm>
          <a:prstGeom prst="rect">
            <a:avLst/>
          </a:prstGeom>
        </p:spPr>
      </p:pic>
      <p:cxnSp>
        <p:nvCxnSpPr>
          <p:cNvPr id="929" name="Connector 928"/>
          <p:cNvCxnSpPr/>
          <p:nvPr/>
        </p:nvCxnSpPr>
        <p:spPr>
          <a:xfrm>
            <a:off x="841248" y="49377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30" name="TextBox 929"/>
          <p:cNvSpPr txBox="1"/>
          <p:nvPr/>
        </p:nvSpPr>
        <p:spPr>
          <a:xfrm>
            <a:off x="841248" y="5029200"/>
            <a:ext cx="2560320" cy="502920"/>
          </a:xfrm>
          <a:prstGeom prst="rect">
            <a:avLst/>
          </a:prstGeom>
          <a:noFill/>
        </p:spPr>
        <p:txBody>
          <a:bodyPr wrap="square" lIns="0" rIns="0" tIns="0" bIns="0" anchor="ctr">
            <a:spAutoFit/>
          </a:bodyPr>
          <a:lstStyle/>
          <a:p>
            <a:pPr algn="l">
              <a:spcAft>
                <a:spcPts val="600"/>
              </a:spcAft>
            </a:pPr>
            <a:r>
              <a:rPr sz="1400" b="0" i="0">
                <a:solidFill>
                  <a:srgbClr val="000000"/>
                </a:solidFill>
              </a:rPr>
              <a:t>Battery recycling</a:t>
            </a:r>
          </a:p>
        </p:txBody>
      </p:sp>
      <p:sp>
        <p:nvSpPr>
          <p:cNvPr id="931" name="TextBox 930"/>
          <p:cNvSpPr txBox="1"/>
          <p:nvPr/>
        </p:nvSpPr>
        <p:spPr>
          <a:xfrm>
            <a:off x="3429000" y="50292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Not pitched</a:t>
            </a:r>
          </a:p>
        </p:txBody>
      </p:sp>
      <p:pic>
        <p:nvPicPr>
          <p:cNvPr id="932" name="Picture 931" descr="pot-empty.png"/>
          <p:cNvPicPr>
            <a:picLocks noChangeAspect="1"/>
          </p:cNvPicPr>
          <p:nvPr/>
        </p:nvPicPr>
        <p:blipFill>
          <a:blip r:embed="rId4"/>
          <a:stretch>
            <a:fillRect/>
          </a:stretch>
        </p:blipFill>
        <p:spPr>
          <a:xfrm>
            <a:off x="4937760" y="5047488"/>
            <a:ext cx="368710" cy="457200"/>
          </a:xfrm>
          <a:prstGeom prst="rect">
            <a:avLst/>
          </a:prstGeom>
        </p:spPr>
      </p:pic>
      <p:cxnSp>
        <p:nvCxnSpPr>
          <p:cNvPr id="933" name="Connector 932"/>
          <p:cNvCxnSpPr/>
          <p:nvPr/>
        </p:nvCxnSpPr>
        <p:spPr>
          <a:xfrm>
            <a:off x="841248" y="56235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34" name="TextBox 933"/>
          <p:cNvSpPr txBox="1"/>
          <p:nvPr/>
        </p:nvSpPr>
        <p:spPr>
          <a:xfrm>
            <a:off x="841248" y="5989320"/>
            <a:ext cx="6675120" cy="320040"/>
          </a:xfrm>
          <a:prstGeom prst="rect">
            <a:avLst/>
          </a:prstGeom>
          <a:noFill/>
        </p:spPr>
        <p:txBody>
          <a:bodyPr wrap="square" lIns="0" rIns="0" tIns="0" bIns="0" anchor="t">
            <a:spAutoFit/>
          </a:bodyPr>
          <a:lstStyle/>
          <a:p>
            <a:pPr algn="l">
              <a:spcAft>
                <a:spcPts val="600"/>
              </a:spcAft>
            </a:pPr>
            <a:r>
              <a:rPr sz="1000" b="0" i="0">
                <a:solidFill>
                  <a:srgbClr val="63737B"/>
                </a:solidFill>
              </a:rPr>
              <a:t>Demo cases, anonymised</a:t>
            </a:r>
          </a:p>
        </p:txBody>
      </p:sp>
      <p:cxnSp>
        <p:nvCxnSpPr>
          <p:cNvPr id="935" name="Connector 934"/>
          <p:cNvCxnSpPr/>
          <p:nvPr/>
        </p:nvCxnSpPr>
        <p:spPr>
          <a:xfrm>
            <a:off x="7909560" y="1874519"/>
            <a:ext cx="0" cy="44348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pic>
        <p:nvPicPr>
          <p:cNvPr id="936" name="Mutz (alert)" descr="alert-last.png"/>
          <p:cNvPicPr>
            <a:picLocks noChangeAspect="1"/>
          </p:cNvPicPr>
          <p:nvPr/>
        </p:nvPicPr>
        <p:blipFill>
          <a:blip r:embed="rId5"/>
          <a:stretch>
            <a:fillRect/>
          </a:stretch>
        </p:blipFill>
        <p:spPr>
          <a:xfrm>
            <a:off x="8275320" y="1783080"/>
            <a:ext cx="3520440" cy="2286000"/>
          </a:xfrm>
          <a:prstGeom prst="rect">
            <a:avLst/>
          </a:prstGeom>
        </p:spPr>
      </p:pic>
      <p:sp>
        <p:nvSpPr>
          <p:cNvPr id="937" name="Rectangle 936"/>
          <p:cNvSpPr/>
          <p:nvPr/>
        </p:nvSpPr>
        <p:spPr>
          <a:xfrm>
            <a:off x="8275320" y="4206240"/>
            <a:ext cx="3520440" cy="9144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8" name="TextBox 937"/>
          <p:cNvSpPr txBox="1"/>
          <p:nvPr/>
        </p:nvSpPr>
        <p:spPr>
          <a:xfrm>
            <a:off x="8458200" y="4279392"/>
            <a:ext cx="3200400" cy="777240"/>
          </a:xfrm>
          <a:prstGeom prst="rect">
            <a:avLst/>
          </a:prstGeom>
          <a:noFill/>
        </p:spPr>
        <p:txBody>
          <a:bodyPr wrap="square" lIns="0" rIns="0" tIns="0" bIns="0" anchor="ctr">
            <a:spAutoFit/>
          </a:bodyPr>
          <a:lstStyle/>
          <a:p>
            <a:pPr algn="l">
              <a:spcAft>
                <a:spcPts val="600"/>
              </a:spcAft>
            </a:pPr>
            <a:r>
              <a:rPr sz="1400" b="1" i="0">
                <a:solidFill>
                  <a:srgbClr val="000000"/>
                </a:solidFill>
              </a:rPr>
              <a:t>Next step: “New archive checked. 2 open cases have new matches.”</a:t>
            </a:r>
          </a:p>
        </p:txBody>
      </p:sp>
      <p:sp>
        <p:nvSpPr>
          <p:cNvPr id="939" name="TextBox 938"/>
          <p:cNvSpPr txBox="1"/>
          <p:nvPr/>
        </p:nvSpPr>
        <p:spPr>
          <a:xfrm>
            <a:off x="8275320" y="5303520"/>
            <a:ext cx="3520440" cy="1005840"/>
          </a:xfrm>
          <a:prstGeom prst="rect">
            <a:avLst/>
          </a:prstGeom>
          <a:noFill/>
        </p:spPr>
        <p:txBody>
          <a:bodyPr wrap="square" lIns="0" rIns="0" tIns="0" bIns="0" anchor="t">
            <a:spAutoFit/>
          </a:bodyPr>
          <a:lstStyle/>
          <a:p>
            <a:pPr algn="l">
              <a:spcAft>
                <a:spcPts val="600"/>
              </a:spcAft>
            </a:pPr>
            <a:r>
              <a:rPr sz="1400" b="0" i="0">
                <a:solidFill>
                  <a:srgbClr val="63737B"/>
                </a:solidFill>
              </a:rPr>
              <a:t>Planned: add a source or re-crawl, and every open case is re-checked automatically.</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a search tool to an economic strategy tool</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15</a:t>
            </a:fld>
            <a:endParaRPr lang="de-CH" dirty="0"/>
          </a:p>
        </p:txBody>
      </p:sp>
      <p:sp>
        <p:nvSpPr>
          <p:cNvPr id="903" name="TextBox 902"/>
          <p:cNvSpPr txBox="1"/>
          <p:nvPr/>
        </p:nvSpPr>
        <p:spPr>
          <a:xfrm>
            <a:off x="841248" y="1828800"/>
            <a:ext cx="5303520" cy="411480"/>
          </a:xfrm>
          <a:prstGeom prst="rect">
            <a:avLst/>
          </a:prstGeom>
          <a:noFill/>
        </p:spPr>
        <p:txBody>
          <a:bodyPr wrap="square" lIns="0" rIns="0" tIns="0" bIns="0" anchor="t">
            <a:spAutoFit/>
          </a:bodyPr>
          <a:lstStyle/>
          <a:p>
            <a:pPr algn="l">
              <a:spcAft>
                <a:spcPts val="600"/>
              </a:spcAft>
            </a:pPr>
            <a:r>
              <a:rPr sz="1800" b="1" i="0">
                <a:solidFill>
                  <a:srgbClr val="000000"/>
                </a:solidFill>
              </a:rPr>
              <a:t>Word cloud: where Bern is strong</a:t>
            </a:r>
          </a:p>
        </p:txBody>
      </p:sp>
      <p:sp>
        <p:nvSpPr>
          <p:cNvPr id="904" name="TextBox 903"/>
          <p:cNvSpPr txBox="1"/>
          <p:nvPr/>
        </p:nvSpPr>
        <p:spPr>
          <a:xfrm>
            <a:off x="1465325" y="2630805"/>
            <a:ext cx="1336040" cy="222250"/>
          </a:xfrm>
          <a:prstGeom prst="rect">
            <a:avLst/>
          </a:prstGeom>
          <a:noFill/>
        </p:spPr>
        <p:txBody>
          <a:bodyPr wrap="none" lIns="0" rIns="0" tIns="0" bIns="0" anchor="ctr">
            <a:spAutoFit/>
          </a:bodyPr>
          <a:lstStyle/>
          <a:p>
            <a:pPr algn="ctr">
              <a:spcAft>
                <a:spcPts val="0"/>
              </a:spcAft>
            </a:pPr>
            <a:r>
              <a:rPr sz="1400" b="0" i="0">
                <a:solidFill>
                  <a:srgbClr val="63737B"/>
                </a:solidFill>
              </a:rPr>
              <a:t>Gut microbiome</a:t>
            </a:r>
          </a:p>
        </p:txBody>
      </p:sp>
      <p:sp>
        <p:nvSpPr>
          <p:cNvPr id="905" name="TextBox 904"/>
          <p:cNvSpPr txBox="1"/>
          <p:nvPr/>
        </p:nvSpPr>
        <p:spPr>
          <a:xfrm>
            <a:off x="2965958" y="2583180"/>
            <a:ext cx="2123440" cy="317500"/>
          </a:xfrm>
          <a:prstGeom prst="rect">
            <a:avLst/>
          </a:prstGeom>
          <a:noFill/>
        </p:spPr>
        <p:txBody>
          <a:bodyPr wrap="none" lIns="0" rIns="0" tIns="0" bIns="0" anchor="ctr">
            <a:spAutoFit/>
          </a:bodyPr>
          <a:lstStyle/>
          <a:p>
            <a:pPr algn="ctr">
              <a:spcAft>
                <a:spcPts val="0"/>
              </a:spcAft>
            </a:pPr>
            <a:r>
              <a:rPr sz="2000" b="0" i="0">
                <a:solidFill>
                  <a:srgbClr val="000000"/>
                </a:solidFill>
              </a:rPr>
              <a:t>Hearing research</a:t>
            </a:r>
          </a:p>
        </p:txBody>
      </p:sp>
      <p:sp>
        <p:nvSpPr>
          <p:cNvPr id="906" name="TextBox 905"/>
          <p:cNvSpPr txBox="1"/>
          <p:nvPr/>
        </p:nvSpPr>
        <p:spPr>
          <a:xfrm>
            <a:off x="5253990" y="2630805"/>
            <a:ext cx="358140" cy="222250"/>
          </a:xfrm>
          <a:prstGeom prst="rect">
            <a:avLst/>
          </a:prstGeom>
          <a:noFill/>
        </p:spPr>
        <p:txBody>
          <a:bodyPr wrap="none" lIns="0" rIns="0" tIns="0" bIns="0" anchor="ctr">
            <a:spAutoFit/>
          </a:bodyPr>
          <a:lstStyle/>
          <a:p>
            <a:pPr algn="ctr">
              <a:spcAft>
                <a:spcPts val="0"/>
              </a:spcAft>
            </a:pPr>
            <a:r>
              <a:rPr sz="1400" b="0" i="0">
                <a:solidFill>
                  <a:srgbClr val="63737B"/>
                </a:solidFill>
              </a:rPr>
              <a:t>MRI</a:t>
            </a:r>
          </a:p>
        </p:txBody>
      </p:sp>
      <p:sp>
        <p:nvSpPr>
          <p:cNvPr id="907" name="TextBox 906"/>
          <p:cNvSpPr txBox="1"/>
          <p:nvPr/>
        </p:nvSpPr>
        <p:spPr>
          <a:xfrm>
            <a:off x="1089152" y="2962910"/>
            <a:ext cx="1869439" cy="317500"/>
          </a:xfrm>
          <a:prstGeom prst="rect">
            <a:avLst/>
          </a:prstGeom>
          <a:noFill/>
        </p:spPr>
        <p:txBody>
          <a:bodyPr wrap="none" lIns="0" rIns="0" tIns="0" bIns="0" anchor="ctr">
            <a:spAutoFit/>
          </a:bodyPr>
          <a:lstStyle/>
          <a:p>
            <a:pPr algn="ctr">
              <a:spcAft>
                <a:spcPts val="0"/>
              </a:spcAft>
            </a:pPr>
            <a:r>
              <a:rPr sz="2000" b="0" i="0">
                <a:solidFill>
                  <a:srgbClr val="EA161F"/>
                </a:solidFill>
              </a:rPr>
              <a:t>Organs-on-chip</a:t>
            </a:r>
          </a:p>
        </p:txBody>
      </p:sp>
      <p:sp>
        <p:nvSpPr>
          <p:cNvPr id="908" name="TextBox 907"/>
          <p:cNvSpPr txBox="1"/>
          <p:nvPr/>
        </p:nvSpPr>
        <p:spPr>
          <a:xfrm>
            <a:off x="3123184" y="2915285"/>
            <a:ext cx="2865120" cy="412750"/>
          </a:xfrm>
          <a:prstGeom prst="rect">
            <a:avLst/>
          </a:prstGeom>
          <a:noFill/>
        </p:spPr>
        <p:txBody>
          <a:bodyPr wrap="none" lIns="0" rIns="0" tIns="0" bIns="0" anchor="ctr">
            <a:spAutoFit/>
          </a:bodyPr>
          <a:lstStyle/>
          <a:p>
            <a:pPr algn="ctr">
              <a:spcAft>
                <a:spcPts val="0"/>
              </a:spcAft>
            </a:pPr>
            <a:r>
              <a:rPr sz="2600" b="1" i="0">
                <a:solidFill>
                  <a:srgbClr val="000000"/>
                </a:solidFill>
              </a:rPr>
              <a:t>Medical imaging</a:t>
            </a:r>
          </a:p>
        </p:txBody>
      </p:sp>
      <p:sp>
        <p:nvSpPr>
          <p:cNvPr id="909" name="TextBox 908"/>
          <p:cNvSpPr txBox="1"/>
          <p:nvPr/>
        </p:nvSpPr>
        <p:spPr>
          <a:xfrm>
            <a:off x="707135" y="3491865"/>
            <a:ext cx="1656080" cy="349250"/>
          </a:xfrm>
          <a:prstGeom prst="rect">
            <a:avLst/>
          </a:prstGeom>
          <a:noFill/>
        </p:spPr>
        <p:txBody>
          <a:bodyPr wrap="none" lIns="0" rIns="0" tIns="0" bIns="0" anchor="ctr">
            <a:spAutoFit/>
          </a:bodyPr>
          <a:lstStyle/>
          <a:p>
            <a:pPr algn="ctr">
              <a:spcAft>
                <a:spcPts val="0"/>
              </a:spcAft>
            </a:pPr>
            <a:r>
              <a:rPr sz="2200" b="1" i="0">
                <a:solidFill>
                  <a:srgbClr val="000000"/>
                </a:solidFill>
              </a:rPr>
              <a:t>Biosensors</a:t>
            </a:r>
          </a:p>
        </p:txBody>
      </p:sp>
      <p:sp>
        <p:nvSpPr>
          <p:cNvPr id="910" name="TextBox 909"/>
          <p:cNvSpPr txBox="1"/>
          <p:nvPr/>
        </p:nvSpPr>
        <p:spPr>
          <a:xfrm>
            <a:off x="2527808" y="3348990"/>
            <a:ext cx="2367280" cy="635000"/>
          </a:xfrm>
          <a:prstGeom prst="rect">
            <a:avLst/>
          </a:prstGeom>
          <a:noFill/>
        </p:spPr>
        <p:txBody>
          <a:bodyPr wrap="none" lIns="0" rIns="0" tIns="0" bIns="0" anchor="ctr">
            <a:spAutoFit/>
          </a:bodyPr>
          <a:lstStyle/>
          <a:p>
            <a:pPr algn="ctr">
              <a:spcAft>
                <a:spcPts val="0"/>
              </a:spcAft>
            </a:pPr>
            <a:r>
              <a:rPr sz="4000" b="1" i="0">
                <a:solidFill>
                  <a:srgbClr val="EA161F"/>
                </a:solidFill>
              </a:rPr>
              <a:t>Diabetes</a:t>
            </a:r>
          </a:p>
        </p:txBody>
      </p:sp>
      <p:sp>
        <p:nvSpPr>
          <p:cNvPr id="911" name="TextBox 910"/>
          <p:cNvSpPr txBox="1"/>
          <p:nvPr/>
        </p:nvSpPr>
        <p:spPr>
          <a:xfrm>
            <a:off x="5059680" y="3539490"/>
            <a:ext cx="1310640" cy="254000"/>
          </a:xfrm>
          <a:prstGeom prst="rect">
            <a:avLst/>
          </a:prstGeom>
          <a:noFill/>
        </p:spPr>
        <p:txBody>
          <a:bodyPr wrap="none" lIns="0" rIns="0" tIns="0" bIns="0" anchor="ctr">
            <a:spAutoFit/>
          </a:bodyPr>
          <a:lstStyle/>
          <a:p>
            <a:pPr algn="ctr">
              <a:spcAft>
                <a:spcPts val="0"/>
              </a:spcAft>
            </a:pPr>
            <a:r>
              <a:rPr sz="1600" b="0" i="0">
                <a:solidFill>
                  <a:srgbClr val="000000"/>
                </a:solidFill>
              </a:rPr>
              <a:t>Nutrition AI</a:t>
            </a:r>
          </a:p>
        </p:txBody>
      </p:sp>
      <p:sp>
        <p:nvSpPr>
          <p:cNvPr id="912" name="TextBox 911"/>
          <p:cNvSpPr txBox="1"/>
          <p:nvPr/>
        </p:nvSpPr>
        <p:spPr>
          <a:xfrm>
            <a:off x="983488" y="4004310"/>
            <a:ext cx="2822448" cy="381000"/>
          </a:xfrm>
          <a:prstGeom prst="rect">
            <a:avLst/>
          </a:prstGeom>
          <a:noFill/>
        </p:spPr>
        <p:txBody>
          <a:bodyPr wrap="none" lIns="0" rIns="0" tIns="0" bIns="0" anchor="ctr">
            <a:spAutoFit/>
          </a:bodyPr>
          <a:lstStyle/>
          <a:p>
            <a:pPr algn="ctr">
              <a:spcAft>
                <a:spcPts val="0"/>
              </a:spcAft>
            </a:pPr>
            <a:r>
              <a:rPr sz="2400" b="1" i="0">
                <a:solidFill>
                  <a:srgbClr val="EA161F"/>
                </a:solidFill>
              </a:rPr>
              <a:t>Surgical sensing</a:t>
            </a:r>
          </a:p>
        </p:txBody>
      </p:sp>
      <p:sp>
        <p:nvSpPr>
          <p:cNvPr id="913" name="TextBox 912"/>
          <p:cNvSpPr txBox="1"/>
          <p:nvPr/>
        </p:nvSpPr>
        <p:spPr>
          <a:xfrm>
            <a:off x="3970528" y="4036060"/>
            <a:ext cx="2123440" cy="317500"/>
          </a:xfrm>
          <a:prstGeom prst="rect">
            <a:avLst/>
          </a:prstGeom>
          <a:noFill/>
        </p:spPr>
        <p:txBody>
          <a:bodyPr wrap="none" lIns="0" rIns="0" tIns="0" bIns="0" anchor="ctr">
            <a:spAutoFit/>
          </a:bodyPr>
          <a:lstStyle/>
          <a:p>
            <a:pPr algn="ctr">
              <a:spcAft>
                <a:spcPts val="0"/>
              </a:spcAft>
            </a:pPr>
            <a:r>
              <a:rPr sz="2000" b="0" i="0">
                <a:solidFill>
                  <a:srgbClr val="000000"/>
                </a:solidFill>
              </a:rPr>
              <a:t>Machine learning</a:t>
            </a:r>
          </a:p>
        </p:txBody>
      </p:sp>
      <p:sp>
        <p:nvSpPr>
          <p:cNvPr id="914" name="TextBox 913"/>
          <p:cNvSpPr txBox="1"/>
          <p:nvPr/>
        </p:nvSpPr>
        <p:spPr>
          <a:xfrm>
            <a:off x="792226" y="4398010"/>
            <a:ext cx="1310640" cy="254000"/>
          </a:xfrm>
          <a:prstGeom prst="rect">
            <a:avLst/>
          </a:prstGeom>
          <a:noFill/>
        </p:spPr>
        <p:txBody>
          <a:bodyPr wrap="none" lIns="0" rIns="0" tIns="0" bIns="0" anchor="ctr">
            <a:spAutoFit/>
          </a:bodyPr>
          <a:lstStyle/>
          <a:p>
            <a:pPr algn="ctr">
              <a:spcAft>
                <a:spcPts val="0"/>
              </a:spcAft>
            </a:pPr>
            <a:r>
              <a:rPr sz="1600" b="0" i="0">
                <a:solidFill>
                  <a:srgbClr val="63737B"/>
                </a:solidFill>
              </a:rPr>
              <a:t>Biomechanics</a:t>
            </a:r>
          </a:p>
        </p:txBody>
      </p:sp>
      <p:sp>
        <p:nvSpPr>
          <p:cNvPr id="915" name="TextBox 914"/>
          <p:cNvSpPr txBox="1"/>
          <p:nvPr/>
        </p:nvSpPr>
        <p:spPr>
          <a:xfrm>
            <a:off x="2267458" y="4398010"/>
            <a:ext cx="2428240" cy="254000"/>
          </a:xfrm>
          <a:prstGeom prst="rect">
            <a:avLst/>
          </a:prstGeom>
          <a:noFill/>
        </p:spPr>
        <p:txBody>
          <a:bodyPr wrap="none" lIns="0" rIns="0" tIns="0" bIns="0" anchor="ctr">
            <a:spAutoFit/>
          </a:bodyPr>
          <a:lstStyle/>
          <a:p>
            <a:pPr algn="ctr">
              <a:spcAft>
                <a:spcPts val="0"/>
              </a:spcAft>
            </a:pPr>
            <a:r>
              <a:rPr sz="1600" b="0" i="0">
                <a:solidFill>
                  <a:srgbClr val="000000"/>
                </a:solidFill>
              </a:rPr>
              <a:t>Rehabilitation robotics</a:t>
            </a:r>
          </a:p>
        </p:txBody>
      </p:sp>
      <p:sp>
        <p:nvSpPr>
          <p:cNvPr id="916" name="TextBox 915"/>
          <p:cNvSpPr txBox="1"/>
          <p:nvPr/>
        </p:nvSpPr>
        <p:spPr>
          <a:xfrm>
            <a:off x="4860290" y="4413885"/>
            <a:ext cx="1424940" cy="222250"/>
          </a:xfrm>
          <a:prstGeom prst="rect">
            <a:avLst/>
          </a:prstGeom>
          <a:noFill/>
        </p:spPr>
        <p:txBody>
          <a:bodyPr wrap="none" lIns="0" rIns="0" tIns="0" bIns="0" anchor="ctr">
            <a:spAutoFit/>
          </a:bodyPr>
          <a:lstStyle/>
          <a:p>
            <a:pPr algn="ctr">
              <a:spcAft>
                <a:spcPts val="0"/>
              </a:spcAft>
            </a:pPr>
            <a:r>
              <a:rPr sz="1400" b="0" i="0">
                <a:solidFill>
                  <a:srgbClr val="63737B"/>
                </a:solidFill>
              </a:rPr>
              <a:t>Cardiac devices</a:t>
            </a:r>
          </a:p>
        </p:txBody>
      </p:sp>
      <p:sp>
        <p:nvSpPr>
          <p:cNvPr id="917" name="TextBox 916"/>
          <p:cNvSpPr txBox="1"/>
          <p:nvPr/>
        </p:nvSpPr>
        <p:spPr>
          <a:xfrm>
            <a:off x="950976" y="4662170"/>
            <a:ext cx="1818640" cy="254000"/>
          </a:xfrm>
          <a:prstGeom prst="rect">
            <a:avLst/>
          </a:prstGeom>
          <a:noFill/>
        </p:spPr>
        <p:txBody>
          <a:bodyPr wrap="none" lIns="0" rIns="0" tIns="0" bIns="0" anchor="ctr">
            <a:spAutoFit/>
          </a:bodyPr>
          <a:lstStyle/>
          <a:p>
            <a:pPr algn="ctr">
              <a:spcAft>
                <a:spcPts val="0"/>
              </a:spcAft>
            </a:pPr>
            <a:r>
              <a:rPr sz="1600" b="0" i="0">
                <a:solidFill>
                  <a:srgbClr val="63737B"/>
                </a:solidFill>
              </a:rPr>
              <a:t>Radiation therapy</a:t>
            </a:r>
          </a:p>
        </p:txBody>
      </p:sp>
      <p:sp>
        <p:nvSpPr>
          <p:cNvPr id="918" name="TextBox 917"/>
          <p:cNvSpPr txBox="1"/>
          <p:nvPr/>
        </p:nvSpPr>
        <p:spPr>
          <a:xfrm>
            <a:off x="2934208" y="4678045"/>
            <a:ext cx="1602740" cy="222250"/>
          </a:xfrm>
          <a:prstGeom prst="rect">
            <a:avLst/>
          </a:prstGeom>
          <a:noFill/>
        </p:spPr>
        <p:txBody>
          <a:bodyPr wrap="none" lIns="0" rIns="0" tIns="0" bIns="0" anchor="ctr">
            <a:spAutoFit/>
          </a:bodyPr>
          <a:lstStyle/>
          <a:p>
            <a:pPr algn="ctr">
              <a:spcAft>
                <a:spcPts val="0"/>
              </a:spcAft>
            </a:pPr>
            <a:r>
              <a:rPr sz="1400" b="0" i="0">
                <a:solidFill>
                  <a:srgbClr val="63737B"/>
                </a:solidFill>
              </a:rPr>
              <a:t>Acoustic robotics</a:t>
            </a:r>
          </a:p>
        </p:txBody>
      </p:sp>
      <p:sp>
        <p:nvSpPr>
          <p:cNvPr id="919" name="TextBox 918"/>
          <p:cNvSpPr txBox="1"/>
          <p:nvPr/>
        </p:nvSpPr>
        <p:spPr>
          <a:xfrm>
            <a:off x="4701540" y="4678045"/>
            <a:ext cx="1424940" cy="222250"/>
          </a:xfrm>
          <a:prstGeom prst="rect">
            <a:avLst/>
          </a:prstGeom>
          <a:noFill/>
        </p:spPr>
        <p:txBody>
          <a:bodyPr wrap="none" lIns="0" rIns="0" tIns="0" bIns="0" anchor="ctr">
            <a:spAutoFit/>
          </a:bodyPr>
          <a:lstStyle/>
          <a:p>
            <a:pPr algn="ctr">
              <a:spcAft>
                <a:spcPts val="0"/>
              </a:spcAft>
            </a:pPr>
            <a:r>
              <a:rPr sz="1400" b="0" i="0">
                <a:solidFill>
                  <a:srgbClr val="63737B"/>
                </a:solidFill>
              </a:rPr>
              <a:t>Gerontechnology</a:t>
            </a:r>
          </a:p>
        </p:txBody>
      </p:sp>
      <p:sp>
        <p:nvSpPr>
          <p:cNvPr id="920" name="TextBox 919"/>
          <p:cNvSpPr txBox="1"/>
          <p:nvPr/>
        </p:nvSpPr>
        <p:spPr>
          <a:xfrm>
            <a:off x="841248" y="5303520"/>
            <a:ext cx="5303520" cy="685800"/>
          </a:xfrm>
          <a:prstGeom prst="rect">
            <a:avLst/>
          </a:prstGeom>
          <a:noFill/>
        </p:spPr>
        <p:txBody>
          <a:bodyPr wrap="square" lIns="0" rIns="0" tIns="0" bIns="0" anchor="t">
            <a:spAutoFit/>
          </a:bodyPr>
          <a:lstStyle/>
          <a:p>
            <a:pPr algn="l">
              <a:spcAft>
                <a:spcPts val="600"/>
              </a:spcAft>
            </a:pPr>
            <a:r>
              <a:rPr sz="1200" b="0" i="0">
                <a:solidFill>
                  <a:srgbClr val="63737B"/>
                </a:solidFill>
              </a:rPr>
              <a:t>Example from the crawled archives. Bigger word = more verified pages.</a:t>
            </a:r>
          </a:p>
        </p:txBody>
      </p:sp>
      <p:cxnSp>
        <p:nvCxnSpPr>
          <p:cNvPr id="921" name="Connector 920"/>
          <p:cNvCxnSpPr/>
          <p:nvPr/>
        </p:nvCxnSpPr>
        <p:spPr>
          <a:xfrm>
            <a:off x="6492240" y="1828800"/>
            <a:ext cx="0" cy="44348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22" name="TextBox 921"/>
          <p:cNvSpPr txBox="1"/>
          <p:nvPr/>
        </p:nvSpPr>
        <p:spPr>
          <a:xfrm>
            <a:off x="6858000" y="1828800"/>
            <a:ext cx="4937760" cy="411480"/>
          </a:xfrm>
          <a:prstGeom prst="rect">
            <a:avLst/>
          </a:prstGeom>
          <a:noFill/>
        </p:spPr>
        <p:txBody>
          <a:bodyPr wrap="square" lIns="0" rIns="0" tIns="0" bIns="0" anchor="t">
            <a:spAutoFit/>
          </a:bodyPr>
          <a:lstStyle/>
          <a:p>
            <a:pPr algn="l">
              <a:spcAft>
                <a:spcPts val="600"/>
              </a:spcAft>
            </a:pPr>
            <a:r>
              <a:rPr sz="1800" b="1" i="0">
                <a:solidFill>
                  <a:srgbClr val="000000"/>
                </a:solidFill>
              </a:rPr>
              <a:t>Gap report: what leads ask for</a:t>
            </a:r>
          </a:p>
        </p:txBody>
      </p:sp>
      <p:sp>
        <p:nvSpPr>
          <p:cNvPr id="923" name="TextBox 922"/>
          <p:cNvSpPr txBox="1"/>
          <p:nvPr/>
        </p:nvSpPr>
        <p:spPr>
          <a:xfrm>
            <a:off x="6858000" y="2286000"/>
            <a:ext cx="4937760" cy="365760"/>
          </a:xfrm>
          <a:prstGeom prst="rect">
            <a:avLst/>
          </a:prstGeom>
          <a:noFill/>
        </p:spPr>
        <p:txBody>
          <a:bodyPr wrap="square" lIns="0" rIns="0" tIns="0" bIns="0" anchor="t">
            <a:spAutoFit/>
          </a:bodyPr>
          <a:lstStyle/>
          <a:p>
            <a:pPr algn="l">
              <a:spcAft>
                <a:spcPts val="600"/>
              </a:spcAft>
            </a:pPr>
            <a:r>
              <a:rPr sz="1300" b="0" i="0">
                <a:solidFill>
                  <a:srgbClr val="63737B"/>
                </a:solidFill>
              </a:rPr>
              <a:t>Needs that ended in an empty pot (test data, 81 leads)</a:t>
            </a:r>
          </a:p>
        </p:txBody>
      </p:sp>
      <p:sp>
        <p:nvSpPr>
          <p:cNvPr id="924" name="TextBox 923"/>
          <p:cNvSpPr txBox="1"/>
          <p:nvPr/>
        </p:nvSpPr>
        <p:spPr>
          <a:xfrm>
            <a:off x="6858000" y="2788920"/>
            <a:ext cx="2194560" cy="457200"/>
          </a:xfrm>
          <a:prstGeom prst="rect">
            <a:avLst/>
          </a:prstGeom>
          <a:noFill/>
        </p:spPr>
        <p:txBody>
          <a:bodyPr wrap="square" lIns="0" rIns="0" tIns="0" bIns="0" anchor="ctr">
            <a:spAutoFit/>
          </a:bodyPr>
          <a:lstStyle/>
          <a:p>
            <a:pPr algn="l">
              <a:spcAft>
                <a:spcPts val="600"/>
              </a:spcAft>
            </a:pPr>
            <a:r>
              <a:rPr sz="1300" b="0" i="0">
                <a:solidFill>
                  <a:srgbClr val="000000"/>
                </a:solidFill>
              </a:rPr>
              <a:t>Small batch manufacturing</a:t>
            </a:r>
          </a:p>
        </p:txBody>
      </p:sp>
      <p:sp>
        <p:nvSpPr>
          <p:cNvPr id="925" name="Rectangle 924"/>
          <p:cNvSpPr/>
          <p:nvPr/>
        </p:nvSpPr>
        <p:spPr>
          <a:xfrm>
            <a:off x="9098280" y="2898648"/>
            <a:ext cx="1787651" cy="237744"/>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6" name="TextBox 925"/>
          <p:cNvSpPr txBox="1"/>
          <p:nvPr/>
        </p:nvSpPr>
        <p:spPr>
          <a:xfrm>
            <a:off x="10977371" y="2788920"/>
            <a:ext cx="640080" cy="457200"/>
          </a:xfrm>
          <a:prstGeom prst="rect">
            <a:avLst/>
          </a:prstGeom>
          <a:noFill/>
        </p:spPr>
        <p:txBody>
          <a:bodyPr wrap="square" lIns="0" rIns="0" tIns="0" bIns="0" anchor="ctr">
            <a:spAutoFit/>
          </a:bodyPr>
          <a:lstStyle/>
          <a:p>
            <a:pPr algn="l">
              <a:spcAft>
                <a:spcPts val="600"/>
              </a:spcAft>
            </a:pPr>
            <a:r>
              <a:rPr sz="1200" b="0" i="0">
                <a:solidFill>
                  <a:srgbClr val="63737B"/>
                </a:solidFill>
              </a:rPr>
              <a:t>18</a:t>
            </a:r>
          </a:p>
        </p:txBody>
      </p:sp>
      <p:sp>
        <p:nvSpPr>
          <p:cNvPr id="927" name="TextBox 926"/>
          <p:cNvSpPr txBox="1"/>
          <p:nvPr/>
        </p:nvSpPr>
        <p:spPr>
          <a:xfrm>
            <a:off x="6858000" y="3474720"/>
            <a:ext cx="2194560" cy="457200"/>
          </a:xfrm>
          <a:prstGeom prst="rect">
            <a:avLst/>
          </a:prstGeom>
          <a:noFill/>
        </p:spPr>
        <p:txBody>
          <a:bodyPr wrap="square" lIns="0" rIns="0" tIns="0" bIns="0" anchor="ctr">
            <a:spAutoFit/>
          </a:bodyPr>
          <a:lstStyle/>
          <a:p>
            <a:pPr algn="l">
              <a:spcAft>
                <a:spcPts val="600"/>
              </a:spcAft>
            </a:pPr>
            <a:r>
              <a:rPr sz="1300" b="0" i="0">
                <a:solidFill>
                  <a:srgbClr val="000000"/>
                </a:solidFill>
              </a:rPr>
              <a:t>Battery technology</a:t>
            </a:r>
          </a:p>
        </p:txBody>
      </p:sp>
      <p:sp>
        <p:nvSpPr>
          <p:cNvPr id="928" name="Rectangle 927"/>
          <p:cNvSpPr/>
          <p:nvPr/>
        </p:nvSpPr>
        <p:spPr>
          <a:xfrm>
            <a:off x="9098280" y="3584448"/>
            <a:ext cx="893825" cy="237744"/>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9" name="TextBox 928"/>
          <p:cNvSpPr txBox="1"/>
          <p:nvPr/>
        </p:nvSpPr>
        <p:spPr>
          <a:xfrm>
            <a:off x="10083545" y="3474720"/>
            <a:ext cx="640080" cy="457200"/>
          </a:xfrm>
          <a:prstGeom prst="rect">
            <a:avLst/>
          </a:prstGeom>
          <a:noFill/>
        </p:spPr>
        <p:txBody>
          <a:bodyPr wrap="square" lIns="0" rIns="0" tIns="0" bIns="0" anchor="ctr">
            <a:spAutoFit/>
          </a:bodyPr>
          <a:lstStyle/>
          <a:p>
            <a:pPr algn="l">
              <a:spcAft>
                <a:spcPts val="600"/>
              </a:spcAft>
            </a:pPr>
            <a:r>
              <a:rPr sz="1200" b="0" i="0">
                <a:solidFill>
                  <a:srgbClr val="63737B"/>
                </a:solidFill>
              </a:rPr>
              <a:t>9</a:t>
            </a:r>
          </a:p>
        </p:txBody>
      </p:sp>
      <p:sp>
        <p:nvSpPr>
          <p:cNvPr id="930" name="TextBox 929"/>
          <p:cNvSpPr txBox="1"/>
          <p:nvPr/>
        </p:nvSpPr>
        <p:spPr>
          <a:xfrm>
            <a:off x="6858000" y="4160520"/>
            <a:ext cx="2194560" cy="457200"/>
          </a:xfrm>
          <a:prstGeom prst="rect">
            <a:avLst/>
          </a:prstGeom>
          <a:noFill/>
        </p:spPr>
        <p:txBody>
          <a:bodyPr wrap="square" lIns="0" rIns="0" tIns="0" bIns="0" anchor="ctr">
            <a:spAutoFit/>
          </a:bodyPr>
          <a:lstStyle/>
          <a:p>
            <a:pPr algn="l">
              <a:spcAft>
                <a:spcPts val="600"/>
              </a:spcAft>
            </a:pPr>
            <a:r>
              <a:rPr sz="1300" b="0" i="0">
                <a:solidFill>
                  <a:srgbClr val="000000"/>
                </a:solidFill>
              </a:rPr>
              <a:t>Cosmetics and packaging</a:t>
            </a:r>
          </a:p>
        </p:txBody>
      </p:sp>
      <p:sp>
        <p:nvSpPr>
          <p:cNvPr id="931" name="Rectangle 930"/>
          <p:cNvSpPr/>
          <p:nvPr/>
        </p:nvSpPr>
        <p:spPr>
          <a:xfrm>
            <a:off x="9098280" y="4270248"/>
            <a:ext cx="595883" cy="237744"/>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2" name="TextBox 931"/>
          <p:cNvSpPr txBox="1"/>
          <p:nvPr/>
        </p:nvSpPr>
        <p:spPr>
          <a:xfrm>
            <a:off x="9785603" y="4160520"/>
            <a:ext cx="640080" cy="457200"/>
          </a:xfrm>
          <a:prstGeom prst="rect">
            <a:avLst/>
          </a:prstGeom>
          <a:noFill/>
        </p:spPr>
        <p:txBody>
          <a:bodyPr wrap="square" lIns="0" rIns="0" tIns="0" bIns="0" anchor="ctr">
            <a:spAutoFit/>
          </a:bodyPr>
          <a:lstStyle/>
          <a:p>
            <a:pPr algn="l">
              <a:spcAft>
                <a:spcPts val="600"/>
              </a:spcAft>
            </a:pPr>
            <a:r>
              <a:rPr sz="1200" b="0" i="0">
                <a:solidFill>
                  <a:srgbClr val="63737B"/>
                </a:solidFill>
              </a:rPr>
              <a:t>6</a:t>
            </a:r>
          </a:p>
        </p:txBody>
      </p:sp>
      <p:sp>
        <p:nvSpPr>
          <p:cNvPr id="933" name="TextBox 932"/>
          <p:cNvSpPr txBox="1"/>
          <p:nvPr/>
        </p:nvSpPr>
        <p:spPr>
          <a:xfrm>
            <a:off x="6858000" y="4937760"/>
            <a:ext cx="4937760" cy="1280160"/>
          </a:xfrm>
          <a:prstGeom prst="rect">
            <a:avLst/>
          </a:prstGeom>
          <a:noFill/>
        </p:spPr>
        <p:txBody>
          <a:bodyPr wrap="square" lIns="0" rIns="0" tIns="0" bIns="0" anchor="t">
            <a:spAutoFit/>
          </a:bodyPr>
          <a:lstStyle/>
          <a:p>
            <a:pPr algn="l">
              <a:spcAft>
                <a:spcPts val="600"/>
              </a:spcAft>
            </a:pPr>
            <a:r>
              <a:rPr sz="1400" b="1" i="0">
                <a:solidFill>
                  <a:srgbClr val="000000"/>
                </a:solidFill>
              </a:rPr>
              <a:t>For the canton: </a:t>
            </a:r>
            <a:r>
              <a:rPr sz="1400" b="0" i="0">
                <a:solidFill>
                  <a:srgbClr val="000000"/>
                </a:solidFill>
              </a:rPr>
              <a:t>which strengths to market abroad, and where leads keep asking for something Bern does not have yet.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more archive is six lines of config</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16</a:t>
            </a:fld>
            <a:endParaRPr lang="de-CH" dirty="0"/>
          </a:p>
        </p:txBody>
      </p:sp>
      <p:sp>
        <p:nvSpPr>
          <p:cNvPr id="903" name="YAML snippet"/>
          <p:cNvSpPr/>
          <p:nvPr/>
        </p:nvSpPr>
        <p:spPr>
          <a:xfrm>
            <a:off x="841248" y="1920240"/>
            <a:ext cx="5486400" cy="3017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4" name="TextBox 903"/>
          <p:cNvSpPr txBox="1"/>
          <p:nvPr/>
        </p:nvSpPr>
        <p:spPr>
          <a:xfrm>
            <a:off x="1097280" y="2148840"/>
            <a:ext cx="5029200" cy="2651760"/>
          </a:xfrm>
          <a:prstGeom prst="rect">
            <a:avLst/>
          </a:prstGeom>
          <a:noFill/>
        </p:spPr>
        <p:txBody>
          <a:bodyPr wrap="square" lIns="0" rIns="0" tIns="0" bIns="0" anchor="t">
            <a:spAutoFit/>
          </a:bodyPr>
          <a:lstStyle/>
          <a:p>
            <a:pPr algn="l">
              <a:spcAft>
                <a:spcPts val="800"/>
              </a:spcAft>
            </a:pPr>
            <a:r>
              <a:rPr sz="1500" b="0" i="0">
                <a:solidFill>
                  <a:srgbClr val="FFFFFF"/>
                </a:solidFill>
                <a:latin typeface="Courier New"/>
              </a:rPr>
              <a:t>"id": "sitem_insel",</a:t>
            </a:r>
          </a:p>
          <a:p>
            <a:pPr algn="l">
              <a:spcAft>
                <a:spcPts val="800"/>
              </a:spcAft>
            </a:pPr>
            <a:r>
              <a:rPr sz="1500" b="0" i="0">
                <a:solidFill>
                  <a:srgbClr val="FFFFFF"/>
                </a:solidFill>
                <a:latin typeface="Courier New"/>
              </a:rPr>
              <a:t>"seeds": ["https://sitem-insel.ch/"],</a:t>
            </a:r>
          </a:p>
          <a:p>
            <a:pPr algn="l">
              <a:spcAft>
                <a:spcPts val="800"/>
              </a:spcAft>
            </a:pPr>
            <a:r>
              <a:rPr sz="1500" b="0" i="0">
                <a:solidFill>
                  <a:srgbClr val="FFFFFF"/>
                </a:solidFill>
                <a:latin typeface="Courier New"/>
              </a:rPr>
              <a:t>"allow": ["sitem-insel.ch"],</a:t>
            </a:r>
          </a:p>
          <a:p>
            <a:pPr algn="l">
              <a:spcAft>
                <a:spcPts val="800"/>
              </a:spcAft>
            </a:pPr>
            <a:r>
              <a:rPr sz="1500" b="0" i="0">
                <a:solidFill>
                  <a:srgbClr val="FFFFFF"/>
                </a:solidFill>
                <a:latin typeface="Courier New"/>
              </a:rPr>
              <a:t>"include": [],</a:t>
            </a:r>
          </a:p>
          <a:p>
            <a:pPr algn="l">
              <a:spcAft>
                <a:spcPts val="800"/>
              </a:spcAft>
            </a:pPr>
            <a:r>
              <a:rPr sz="1500" b="0" i="0">
                <a:solidFill>
                  <a:srgbClr val="FFFFFF"/>
                </a:solidFill>
                <a:latin typeface="Courier New"/>
              </a:rPr>
              <a:t>"exclude": ["/news/", "/search", "/print"],</a:t>
            </a:r>
          </a:p>
          <a:p>
            <a:pPr algn="l">
              <a:spcAft>
                <a:spcPts val="800"/>
              </a:spcAft>
            </a:pPr>
            <a:r>
              <a:rPr sz="1500" b="0" i="0">
                <a:solidFill>
                  <a:srgbClr val="FFFFFF"/>
                </a:solidFill>
                <a:latin typeface="Courier New"/>
              </a:rPr>
              <a:t>"max_pages": 400</a:t>
            </a:r>
          </a:p>
        </p:txBody>
      </p:sp>
      <p:sp>
        <p:nvSpPr>
          <p:cNvPr id="905" name="TextBox 904"/>
          <p:cNvSpPr txBox="1"/>
          <p:nvPr/>
        </p:nvSpPr>
        <p:spPr>
          <a:xfrm>
            <a:off x="841248" y="5120640"/>
            <a:ext cx="5486400" cy="1097280"/>
          </a:xfrm>
          <a:prstGeom prst="rect">
            <a:avLst/>
          </a:prstGeom>
          <a:noFill/>
        </p:spPr>
        <p:txBody>
          <a:bodyPr wrap="square" lIns="0" rIns="0" tIns="0" bIns="0" anchor="t">
            <a:spAutoFit/>
          </a:bodyPr>
          <a:lstStyle/>
          <a:p>
            <a:pPr algn="l">
              <a:spcAft>
                <a:spcPts val="600"/>
              </a:spcAft>
            </a:pPr>
            <a:r>
              <a:rPr sz="1400" b="0" i="0">
                <a:solidFill>
                  <a:srgbClr val="63737B"/>
                </a:solidFill>
              </a:rPr>
              <a:t>No code change. Crawl, extract, verify, index. Next: every open case re-checked automatically.</a:t>
            </a:r>
          </a:p>
        </p:txBody>
      </p:sp>
      <p:cxnSp>
        <p:nvCxnSpPr>
          <p:cNvPr id="906" name="Connector 905"/>
          <p:cNvCxnSpPr/>
          <p:nvPr/>
        </p:nvCxnSpPr>
        <p:spPr>
          <a:xfrm>
            <a:off x="672084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7086600" y="1874519"/>
            <a:ext cx="4754880" cy="365760"/>
          </a:xfrm>
          <a:prstGeom prst="rect">
            <a:avLst/>
          </a:prstGeom>
          <a:noFill/>
        </p:spPr>
        <p:txBody>
          <a:bodyPr wrap="square" lIns="0" rIns="0" tIns="0" bIns="0" anchor="t">
            <a:spAutoFit/>
          </a:bodyPr>
          <a:lstStyle/>
          <a:p>
            <a:pPr algn="l">
              <a:spcAft>
                <a:spcPts val="600"/>
              </a:spcAft>
            </a:pPr>
            <a:r>
              <a:rPr sz="1600" b="1" i="0">
                <a:solidFill>
                  <a:srgbClr val="000000"/>
                </a:solidFill>
              </a:rPr>
              <a:t>Value for the agency</a:t>
            </a:r>
          </a:p>
        </p:txBody>
      </p:sp>
      <p:sp>
        <p:nvSpPr>
          <p:cNvPr id="908" name="TextBox 907"/>
          <p:cNvSpPr txBox="1"/>
          <p:nvPr/>
        </p:nvSpPr>
        <p:spPr>
          <a:xfrm>
            <a:off x="7086600" y="2377440"/>
            <a:ext cx="4754880" cy="1463040"/>
          </a:xfrm>
          <a:prstGeom prst="rect">
            <a:avLst/>
          </a:prstGeom>
          <a:noFill/>
        </p:spPr>
        <p:txBody>
          <a:bodyPr wrap="square" lIns="0" rIns="0" tIns="0" bIns="0" anchor="t">
            <a:spAutoFit/>
          </a:bodyPr>
          <a:lstStyle/>
          <a:p>
            <a:pPr algn="l">
              <a:spcAft>
                <a:spcPts val="400"/>
              </a:spcAft>
            </a:pPr>
            <a:r>
              <a:rPr sz="4400" b="1" i="0">
                <a:solidFill>
                  <a:srgbClr val="EA161F"/>
                </a:solidFill>
              </a:rPr>
              <a:t>≈ 10 s</a:t>
            </a:r>
            <a:r>
              <a:rPr sz="1600" b="0" i="0">
                <a:solidFill>
                  <a:srgbClr val="000000"/>
                </a:solidFill>
              </a:rPr>
              <a:t>  per need search</a:t>
            </a:r>
          </a:p>
          <a:p>
            <a:pPr algn="l">
              <a:spcAft>
                <a:spcPts val="400"/>
              </a:spcAft>
            </a:pPr>
            <a:r>
              <a:rPr sz="1600" b="0" i="0">
                <a:solidFill>
                  <a:srgbClr val="000000"/>
                </a:solidFill>
              </a:rPr>
              <a:t>measured on our held-out questions</a:t>
            </a:r>
          </a:p>
        </p:txBody>
      </p:sp>
      <p:cxnSp>
        <p:nvCxnSpPr>
          <p:cNvPr id="909" name="Connector 908"/>
          <p:cNvCxnSpPr/>
          <p:nvPr/>
        </p:nvCxnSpPr>
        <p:spPr>
          <a:xfrm>
            <a:off x="7086600" y="4069080"/>
            <a:ext cx="475488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0" name="TextBox 909"/>
          <p:cNvSpPr txBox="1"/>
          <p:nvPr/>
        </p:nvSpPr>
        <p:spPr>
          <a:xfrm>
            <a:off x="7086600" y="4251960"/>
            <a:ext cx="4754880" cy="1828800"/>
          </a:xfrm>
          <a:prstGeom prst="rect">
            <a:avLst/>
          </a:prstGeom>
          <a:noFill/>
        </p:spPr>
        <p:txBody>
          <a:bodyPr wrap="square" lIns="0" rIns="0" tIns="0" bIns="0" anchor="t">
            <a:spAutoFit/>
          </a:bodyPr>
          <a:lstStyle/>
          <a:p>
            <a:pPr algn="l">
              <a:spcAft>
                <a:spcPts val="1000"/>
              </a:spcAft>
            </a:pPr>
            <a:r>
              <a:rPr sz="1500" b="1" i="0">
                <a:solidFill>
                  <a:srgbClr val="000000"/>
                </a:solidFill>
              </a:rPr>
              <a:t>≈ 35k tokens</a:t>
            </a:r>
            <a:r>
              <a:rPr sz="1500" b="0" i="0">
                <a:solidFill>
                  <a:srgbClr val="000000"/>
                </a:solidFill>
              </a:rPr>
              <a:t> per case on Apertus (estimate)</a:t>
            </a:r>
          </a:p>
          <a:p>
            <a:pPr algn="l">
              <a:spcAft>
                <a:spcPts val="1000"/>
              </a:spcAft>
            </a:pPr>
            <a:r>
              <a:rPr sz="1500" b="1" i="0">
                <a:solidFill>
                  <a:srgbClr val="000000"/>
                </a:solidFill>
              </a:rPr>
              <a:t>3,026 pages</a:t>
            </a:r>
            <a:r>
              <a:rPr sz="1500" b="0" i="0">
                <a:solidFill>
                  <a:srgbClr val="000000"/>
                </a:solidFill>
              </a:rPr>
              <a:t> crawled across 16 sources</a:t>
            </a:r>
          </a:p>
          <a:p>
            <a:pPr algn="l">
              <a:spcAft>
                <a:spcPts val="1000"/>
              </a:spcAft>
            </a:pPr>
            <a:r>
              <a:rPr sz="1500" b="1" i="0">
                <a:solidFill>
                  <a:srgbClr val="000000"/>
                </a:solidFill>
              </a:rPr>
              <a:t>Apertus on CSCS, search runs on a laptop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 for Bern's economy</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17</a:t>
            </a:fld>
            <a:endParaRPr lang="de-CH" dirty="0"/>
          </a:p>
        </p:txBody>
      </p:sp>
      <p:sp>
        <p:nvSpPr>
          <p:cNvPr id="903" name="TextBox 902"/>
          <p:cNvSpPr txBox="1"/>
          <p:nvPr/>
        </p:nvSpPr>
        <p:spPr>
          <a:xfrm>
            <a:off x="841248" y="192024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1</a:t>
            </a:r>
          </a:p>
        </p:txBody>
      </p:sp>
      <p:sp>
        <p:nvSpPr>
          <p:cNvPr id="904" name="TextBox 903"/>
          <p:cNvSpPr txBox="1"/>
          <p:nvPr/>
        </p:nvSpPr>
        <p:spPr>
          <a:xfrm>
            <a:off x="1435608" y="196596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Bid faster</a:t>
            </a:r>
          </a:p>
          <a:p>
            <a:pPr algn="l">
              <a:spcAft>
                <a:spcPts val="400"/>
              </a:spcAft>
            </a:pPr>
            <a:r>
              <a:rPr sz="1400" b="0" i="0">
                <a:solidFill>
                  <a:srgbClr val="000000"/>
                </a:solidFill>
              </a:rPr>
              <a:t>The teaser is ready before the other cantons have finished reading.</a:t>
            </a:r>
          </a:p>
        </p:txBody>
      </p:sp>
      <p:sp>
        <p:nvSpPr>
          <p:cNvPr id="905" name="TextBox 904"/>
          <p:cNvSpPr txBox="1"/>
          <p:nvPr/>
        </p:nvSpPr>
        <p:spPr>
          <a:xfrm>
            <a:off x="4590288" y="192024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2</a:t>
            </a:r>
          </a:p>
        </p:txBody>
      </p:sp>
      <p:sp>
        <p:nvSpPr>
          <p:cNvPr id="906" name="TextBox 905"/>
          <p:cNvSpPr txBox="1"/>
          <p:nvPr/>
        </p:nvSpPr>
        <p:spPr>
          <a:xfrm>
            <a:off x="5184648" y="196596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Bid smarter</a:t>
            </a:r>
          </a:p>
          <a:p>
            <a:pPr algn="l">
              <a:spcAft>
                <a:spcPts val="400"/>
              </a:spcAft>
            </a:pPr>
            <a:r>
              <a:rPr sz="1400" b="0" i="0">
                <a:solidFill>
                  <a:srgbClr val="000000"/>
                </a:solidFill>
              </a:rPr>
              <a:t>Only where Bern is strong, so every pitch is credible.</a:t>
            </a:r>
          </a:p>
        </p:txBody>
      </p:sp>
      <p:sp>
        <p:nvSpPr>
          <p:cNvPr id="907" name="TextBox 906"/>
          <p:cNvSpPr txBox="1"/>
          <p:nvPr/>
        </p:nvSpPr>
        <p:spPr>
          <a:xfrm>
            <a:off x="841248" y="361188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3</a:t>
            </a:r>
          </a:p>
        </p:txBody>
      </p:sp>
      <p:sp>
        <p:nvSpPr>
          <p:cNvPr id="908" name="TextBox 907"/>
          <p:cNvSpPr txBox="1"/>
          <p:nvPr/>
        </p:nvSpPr>
        <p:spPr>
          <a:xfrm>
            <a:off x="1435608" y="365760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Invest smarter</a:t>
            </a:r>
          </a:p>
          <a:p>
            <a:pPr algn="l">
              <a:spcAft>
                <a:spcPts val="400"/>
              </a:spcAft>
            </a:pPr>
            <a:r>
              <a:rPr sz="1400" b="0" i="0">
                <a:solidFill>
                  <a:srgbClr val="000000"/>
                </a:solidFill>
              </a:rPr>
              <a:t>The gap report shows where demand meets no Bern supply.</a:t>
            </a:r>
          </a:p>
        </p:txBody>
      </p:sp>
      <p:sp>
        <p:nvSpPr>
          <p:cNvPr id="909" name="TextBox 908"/>
          <p:cNvSpPr txBox="1"/>
          <p:nvPr/>
        </p:nvSpPr>
        <p:spPr>
          <a:xfrm>
            <a:off x="4590288" y="361188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4</a:t>
            </a:r>
          </a:p>
        </p:txBody>
      </p:sp>
      <p:sp>
        <p:nvSpPr>
          <p:cNvPr id="910" name="TextBox 909"/>
          <p:cNvSpPr txBox="1"/>
          <p:nvPr/>
        </p:nvSpPr>
        <p:spPr>
          <a:xfrm>
            <a:off x="5184648" y="365760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Small labs win too</a:t>
            </a:r>
          </a:p>
          <a:p>
            <a:pPr algn="l">
              <a:spcAft>
                <a:spcPts val="400"/>
              </a:spcAft>
            </a:pPr>
            <a:r>
              <a:rPr sz="1400" b="0" i="0">
                <a:solidFill>
                  <a:srgbClr val="000000"/>
                </a:solidFill>
              </a:rPr>
              <a:t>Companies find the one-page group, not just the big institutes.</a:t>
            </a:r>
          </a:p>
        </p:txBody>
      </p:sp>
      <p:cxnSp>
        <p:nvCxnSpPr>
          <p:cNvPr id="911" name="Connector 910"/>
          <p:cNvCxnSpPr/>
          <p:nvPr/>
        </p:nvCxnSpPr>
        <p:spPr>
          <a:xfrm>
            <a:off x="8503920" y="1920240"/>
            <a:ext cx="0" cy="4206239"/>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8869680" y="1920240"/>
            <a:ext cx="2971800" cy="365760"/>
          </a:xfrm>
          <a:prstGeom prst="rect">
            <a:avLst/>
          </a:prstGeom>
          <a:noFill/>
        </p:spPr>
        <p:txBody>
          <a:bodyPr wrap="square" lIns="0" rIns="0" tIns="0" bIns="0" anchor="t">
            <a:spAutoFit/>
          </a:bodyPr>
          <a:lstStyle/>
          <a:p>
            <a:pPr algn="l">
              <a:spcAft>
                <a:spcPts val="600"/>
              </a:spcAft>
            </a:pPr>
            <a:r>
              <a:rPr sz="1400" b="0" i="0">
                <a:solidFill>
                  <a:srgbClr val="63737B"/>
                </a:solidFill>
              </a:rPr>
              <a:t>The opportunity</a:t>
            </a:r>
          </a:p>
        </p:txBody>
      </p:sp>
      <p:sp>
        <p:nvSpPr>
          <p:cNvPr id="913" name="TextBox 912"/>
          <p:cNvSpPr txBox="1"/>
          <p:nvPr/>
        </p:nvSpPr>
        <p:spPr>
          <a:xfrm>
            <a:off x="8869680" y="2331720"/>
            <a:ext cx="2971800" cy="822960"/>
          </a:xfrm>
          <a:prstGeom prst="rect">
            <a:avLst/>
          </a:prstGeom>
          <a:noFill/>
        </p:spPr>
        <p:txBody>
          <a:bodyPr wrap="square" lIns="0" rIns="0" tIns="0" bIns="0" anchor="t">
            <a:spAutoFit/>
          </a:bodyPr>
          <a:lstStyle/>
          <a:p>
            <a:pPr algn="l">
              <a:spcAft>
                <a:spcPts val="600"/>
              </a:spcAft>
            </a:pPr>
            <a:r>
              <a:rPr sz="4400" b="1" i="0">
                <a:solidFill>
                  <a:srgbClr val="000000"/>
                </a:solidFill>
              </a:rPr>
              <a:t>500+</a:t>
            </a:r>
          </a:p>
        </p:txBody>
      </p:sp>
      <p:sp>
        <p:nvSpPr>
          <p:cNvPr id="914" name="TextBox 913"/>
          <p:cNvSpPr txBox="1"/>
          <p:nvPr/>
        </p:nvSpPr>
        <p:spPr>
          <a:xfrm>
            <a:off x="8869680" y="3154680"/>
            <a:ext cx="2971800" cy="914400"/>
          </a:xfrm>
          <a:prstGeom prst="rect">
            <a:avLst/>
          </a:prstGeom>
          <a:noFill/>
        </p:spPr>
        <p:txBody>
          <a:bodyPr wrap="square" lIns="0" rIns="0" tIns="0" bIns="0" anchor="t">
            <a:spAutoFit/>
          </a:bodyPr>
          <a:lstStyle/>
          <a:p>
            <a:pPr algn="l">
              <a:spcAft>
                <a:spcPts val="600"/>
              </a:spcAft>
            </a:pPr>
            <a:r>
              <a:rPr sz="1300" b="0" i="0">
                <a:solidFill>
                  <a:srgbClr val="000000"/>
                </a:solidFill>
              </a:rPr>
              <a:t>active investment projects in the Greater Geneva Bern area, 2024</a:t>
            </a:r>
          </a:p>
        </p:txBody>
      </p:sp>
      <p:sp>
        <p:nvSpPr>
          <p:cNvPr id="915" name="TextBox 914"/>
          <p:cNvSpPr txBox="1"/>
          <p:nvPr/>
        </p:nvSpPr>
        <p:spPr>
          <a:xfrm>
            <a:off x="8869680" y="4160520"/>
            <a:ext cx="2971800" cy="822960"/>
          </a:xfrm>
          <a:prstGeom prst="rect">
            <a:avLst/>
          </a:prstGeom>
          <a:noFill/>
        </p:spPr>
        <p:txBody>
          <a:bodyPr wrap="square" lIns="0" rIns="0" tIns="0" bIns="0" anchor="t">
            <a:spAutoFit/>
          </a:bodyPr>
          <a:lstStyle/>
          <a:p>
            <a:pPr algn="l">
              <a:spcAft>
                <a:spcPts val="600"/>
              </a:spcAft>
            </a:pPr>
            <a:r>
              <a:rPr sz="4400" b="1" i="0">
                <a:solidFill>
                  <a:srgbClr val="000000"/>
                </a:solidFill>
              </a:rPr>
              <a:t>79</a:t>
            </a:r>
          </a:p>
        </p:txBody>
      </p:sp>
      <p:sp>
        <p:nvSpPr>
          <p:cNvPr id="916" name="TextBox 915"/>
          <p:cNvSpPr txBox="1"/>
          <p:nvPr/>
        </p:nvSpPr>
        <p:spPr>
          <a:xfrm>
            <a:off x="8869680" y="4983480"/>
            <a:ext cx="2971800" cy="914400"/>
          </a:xfrm>
          <a:prstGeom prst="rect">
            <a:avLst/>
          </a:prstGeom>
          <a:noFill/>
        </p:spPr>
        <p:txBody>
          <a:bodyPr wrap="square" lIns="0" rIns="0" tIns="0" bIns="0" anchor="t">
            <a:spAutoFit/>
          </a:bodyPr>
          <a:lstStyle/>
          <a:p>
            <a:pPr algn="l">
              <a:spcAft>
                <a:spcPts val="600"/>
              </a:spcAft>
            </a:pPr>
            <a:r>
              <a:rPr sz="1300" b="0" i="0">
                <a:solidFill>
                  <a:srgbClr val="000000"/>
                </a:solidFill>
              </a:rPr>
              <a:t>companies settled in its member cantons that year</a:t>
            </a:r>
          </a:p>
        </p:txBody>
      </p:sp>
      <p:sp>
        <p:nvSpPr>
          <p:cNvPr id="917" name="TextBox 916"/>
          <p:cNvSpPr txBox="1"/>
          <p:nvPr/>
        </p:nvSpPr>
        <p:spPr>
          <a:xfrm>
            <a:off x="8869680" y="5897880"/>
            <a:ext cx="2971800" cy="320040"/>
          </a:xfrm>
          <a:prstGeom prst="rect">
            <a:avLst/>
          </a:prstGeom>
          <a:noFill/>
        </p:spPr>
        <p:txBody>
          <a:bodyPr wrap="square" lIns="0" rIns="0" tIns="0" bIns="0" anchor="t">
            <a:spAutoFit/>
          </a:bodyPr>
          <a:lstStyle/>
          <a:p>
            <a:pPr algn="l">
              <a:spcAft>
                <a:spcPts val="600"/>
              </a:spcAft>
            </a:pPr>
            <a:r>
              <a:rPr sz="1000" b="0" i="0">
                <a:solidFill>
                  <a:srgbClr val="63737B"/>
                </a:solidFill>
              </a:rPr>
              <a:t>Source: GGBa annual report 2024</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How it works</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18</a:t>
            </a:fld>
            <a:endParaRPr lang="de-CH" dirty="0"/>
          </a:p>
        </p:txBody>
      </p:sp>
      <p:sp>
        <p:nvSpPr>
          <p:cNvPr id="903" name="TextBox 902"/>
          <p:cNvSpPr txBox="1"/>
          <p:nvPr/>
        </p:nvSpPr>
        <p:spPr>
          <a:xfrm>
            <a:off x="841248" y="2011680"/>
            <a:ext cx="1463040" cy="914400"/>
          </a:xfrm>
          <a:prstGeom prst="rect">
            <a:avLst/>
          </a:prstGeom>
          <a:noFill/>
        </p:spPr>
        <p:txBody>
          <a:bodyPr wrap="square" lIns="0" rIns="0" tIns="0" bIns="0" anchor="ctr">
            <a:spAutoFit/>
          </a:bodyPr>
          <a:lstStyle/>
          <a:p>
            <a:pPr algn="l">
              <a:spcAft>
                <a:spcPts val="600"/>
              </a:spcAft>
            </a:pPr>
            <a:r>
              <a:rPr sz="1400" b="1" i="0">
                <a:solidFill>
                  <a:srgbClr val="000000"/>
                </a:solidFill>
              </a:rPr>
              <a:t>Ingest
(offline)</a:t>
            </a:r>
          </a:p>
        </p:txBody>
      </p:sp>
      <p:sp>
        <p:nvSpPr>
          <p:cNvPr id="904" name="Rectangle 903"/>
          <p:cNvSpPr/>
          <p:nvPr/>
        </p:nvSpPr>
        <p:spPr>
          <a:xfrm>
            <a:off x="2423160"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5" name="TextBox 904"/>
          <p:cNvSpPr txBox="1"/>
          <p:nvPr/>
        </p:nvSpPr>
        <p:spPr>
          <a:xfrm>
            <a:off x="2514600"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Polite crawler</a:t>
            </a:r>
          </a:p>
          <a:p>
            <a:pPr algn="l">
              <a:spcAft>
                <a:spcPts val="200"/>
              </a:spcAft>
            </a:pPr>
            <a:r>
              <a:rPr sz="1100" b="0" i="0">
                <a:solidFill>
                  <a:srgbClr val="63737B"/>
                </a:solidFill>
              </a:rPr>
              <a:t>robots, rate limit, sources.json</a:t>
            </a:r>
          </a:p>
        </p:txBody>
      </p:sp>
      <p:sp>
        <p:nvSpPr>
          <p:cNvPr id="906" name="Rectangle 905"/>
          <p:cNvSpPr/>
          <p:nvPr/>
        </p:nvSpPr>
        <p:spPr>
          <a:xfrm>
            <a:off x="4027931"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7" name="TextBox 906"/>
          <p:cNvSpPr txBox="1"/>
          <p:nvPr/>
        </p:nvSpPr>
        <p:spPr>
          <a:xfrm>
            <a:off x="4119371"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Clean + chunk</a:t>
            </a:r>
          </a:p>
          <a:p>
            <a:pPr algn="l">
              <a:spcAft>
                <a:spcPts val="200"/>
              </a:spcAft>
            </a:pPr>
            <a:r>
              <a:rPr sz="1100" b="0" i="0">
                <a:solidFill>
                  <a:srgbClr val="63737B"/>
                </a:solidFill>
              </a:rPr>
              <a:t>3 languages</a:t>
            </a:r>
          </a:p>
        </p:txBody>
      </p:sp>
      <p:sp>
        <p:nvSpPr>
          <p:cNvPr id="908" name="Rectangle 907"/>
          <p:cNvSpPr/>
          <p:nvPr/>
        </p:nvSpPr>
        <p:spPr>
          <a:xfrm>
            <a:off x="5632704" y="201168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9" name="TextBox 908"/>
          <p:cNvSpPr txBox="1"/>
          <p:nvPr/>
        </p:nvSpPr>
        <p:spPr>
          <a:xfrm>
            <a:off x="5724144"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Extract</a:t>
            </a:r>
          </a:p>
          <a:p>
            <a:pPr algn="l">
              <a:spcAft>
                <a:spcPts val="200"/>
              </a:spcAft>
            </a:pPr>
            <a:r>
              <a:rPr sz="1100" b="0" i="0">
                <a:solidFill>
                  <a:srgbClr val="63737B"/>
                </a:solidFill>
              </a:rPr>
              <a:t>Apertus 8B, quotes required</a:t>
            </a:r>
          </a:p>
        </p:txBody>
      </p:sp>
      <p:sp>
        <p:nvSpPr>
          <p:cNvPr id="910" name="Rectangle 909"/>
          <p:cNvSpPr/>
          <p:nvPr/>
        </p:nvSpPr>
        <p:spPr>
          <a:xfrm>
            <a:off x="7237475" y="201168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1" name="TextBox 910"/>
          <p:cNvSpPr txBox="1"/>
          <p:nvPr/>
        </p:nvSpPr>
        <p:spPr>
          <a:xfrm>
            <a:off x="7328915"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Verify</a:t>
            </a:r>
          </a:p>
          <a:p>
            <a:pPr algn="l">
              <a:spcAft>
                <a:spcPts val="200"/>
              </a:spcAft>
            </a:pPr>
            <a:r>
              <a:rPr sz="1100" b="0" i="0">
                <a:solidFill>
                  <a:srgbClr val="63737B"/>
                </a:solidFill>
              </a:rPr>
              <a:t>quote must exist in page</a:t>
            </a:r>
          </a:p>
        </p:txBody>
      </p:sp>
      <p:sp>
        <p:nvSpPr>
          <p:cNvPr id="912" name="Rectangle 911"/>
          <p:cNvSpPr/>
          <p:nvPr/>
        </p:nvSpPr>
        <p:spPr>
          <a:xfrm>
            <a:off x="8842248"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8933688"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Resolve</a:t>
            </a:r>
          </a:p>
          <a:p>
            <a:pPr algn="l">
              <a:spcAft>
                <a:spcPts val="200"/>
              </a:spcAft>
            </a:pPr>
            <a:r>
              <a:rPr sz="1100" b="0" i="0">
                <a:solidFill>
                  <a:srgbClr val="63737B"/>
                </a:solidFill>
              </a:rPr>
              <a:t>merge people and units</a:t>
            </a:r>
          </a:p>
        </p:txBody>
      </p:sp>
      <p:sp>
        <p:nvSpPr>
          <p:cNvPr id="914" name="Rectangle 913"/>
          <p:cNvSpPr/>
          <p:nvPr/>
        </p:nvSpPr>
        <p:spPr>
          <a:xfrm>
            <a:off x="10447019"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5" name="TextBox 914"/>
          <p:cNvSpPr txBox="1"/>
          <p:nvPr/>
        </p:nvSpPr>
        <p:spPr>
          <a:xfrm>
            <a:off x="10538459"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Graph + index</a:t>
            </a:r>
          </a:p>
          <a:p>
            <a:pPr algn="l">
              <a:spcAft>
                <a:spcPts val="200"/>
              </a:spcAft>
            </a:pPr>
            <a:r>
              <a:rPr sz="1100" b="0" i="0">
                <a:solidFill>
                  <a:srgbClr val="63737B"/>
                </a:solidFill>
              </a:rPr>
              <a:t>BM25 + BGE-M3</a:t>
            </a:r>
          </a:p>
        </p:txBody>
      </p:sp>
      <p:sp>
        <p:nvSpPr>
          <p:cNvPr id="916" name="TextBox 915"/>
          <p:cNvSpPr txBox="1"/>
          <p:nvPr/>
        </p:nvSpPr>
        <p:spPr>
          <a:xfrm>
            <a:off x="841248" y="3657600"/>
            <a:ext cx="1463040" cy="914400"/>
          </a:xfrm>
          <a:prstGeom prst="rect">
            <a:avLst/>
          </a:prstGeom>
          <a:noFill/>
        </p:spPr>
        <p:txBody>
          <a:bodyPr wrap="square" lIns="0" rIns="0" tIns="0" bIns="0" anchor="ctr">
            <a:spAutoFit/>
          </a:bodyPr>
          <a:lstStyle/>
          <a:p>
            <a:pPr algn="l">
              <a:spcAft>
                <a:spcPts val="600"/>
              </a:spcAft>
            </a:pPr>
            <a:r>
              <a:rPr sz="1400" b="1" i="0">
                <a:solidFill>
                  <a:srgbClr val="000000"/>
                </a:solidFill>
              </a:rPr>
              <a:t>Query
(online)</a:t>
            </a:r>
          </a:p>
        </p:txBody>
      </p:sp>
      <p:sp>
        <p:nvSpPr>
          <p:cNvPr id="917" name="Rectangle 916"/>
          <p:cNvSpPr/>
          <p:nvPr/>
        </p:nvSpPr>
        <p:spPr>
          <a:xfrm>
            <a:off x="2423160" y="365760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8" name="TextBox 917"/>
          <p:cNvSpPr txBox="1"/>
          <p:nvPr/>
        </p:nvSpPr>
        <p:spPr>
          <a:xfrm>
            <a:off x="2514600"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Needs</a:t>
            </a:r>
          </a:p>
          <a:p>
            <a:pPr algn="l">
              <a:spcAft>
                <a:spcPts val="200"/>
              </a:spcAft>
            </a:pPr>
            <a:r>
              <a:rPr sz="1100" b="0" i="0">
                <a:solidFill>
                  <a:srgbClr val="63737B"/>
                </a:solidFill>
              </a:rPr>
              <a:t>Apertus 70B on CSCS</a:t>
            </a:r>
          </a:p>
        </p:txBody>
      </p:sp>
      <p:sp>
        <p:nvSpPr>
          <p:cNvPr id="919" name="Rectangle 918"/>
          <p:cNvSpPr/>
          <p:nvPr/>
        </p:nvSpPr>
        <p:spPr>
          <a:xfrm>
            <a:off x="4027931"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0" name="TextBox 919"/>
          <p:cNvSpPr txBox="1"/>
          <p:nvPr/>
        </p:nvSpPr>
        <p:spPr>
          <a:xfrm>
            <a:off x="4119371"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Expand</a:t>
            </a:r>
          </a:p>
          <a:p>
            <a:pPr algn="l">
              <a:spcAft>
                <a:spcPts val="200"/>
              </a:spcAft>
            </a:pPr>
            <a:r>
              <a:rPr sz="1100" b="0" i="0">
                <a:solidFill>
                  <a:srgbClr val="63737B"/>
                </a:solidFill>
              </a:rPr>
              <a:t>Apertus 70B lay terms, DE/FR/EN</a:t>
            </a:r>
          </a:p>
        </p:txBody>
      </p:sp>
      <p:sp>
        <p:nvSpPr>
          <p:cNvPr id="921" name="Rectangle 920"/>
          <p:cNvSpPr/>
          <p:nvPr/>
        </p:nvSpPr>
        <p:spPr>
          <a:xfrm>
            <a:off x="5632704"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2" name="TextBox 921"/>
          <p:cNvSpPr txBox="1"/>
          <p:nvPr/>
        </p:nvSpPr>
        <p:spPr>
          <a:xfrm>
            <a:off x="5724144"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Retrieve</a:t>
            </a:r>
          </a:p>
          <a:p>
            <a:pPr algn="l">
              <a:spcAft>
                <a:spcPts val="200"/>
              </a:spcAft>
            </a:pPr>
            <a:r>
              <a:rPr sz="1100" b="0" i="0">
                <a:solidFill>
                  <a:srgbClr val="63737B"/>
                </a:solidFill>
              </a:rPr>
              <a:t>hybrid, RRF</a:t>
            </a:r>
          </a:p>
        </p:txBody>
      </p:sp>
      <p:sp>
        <p:nvSpPr>
          <p:cNvPr id="923" name="Rectangle 922"/>
          <p:cNvSpPr/>
          <p:nvPr/>
        </p:nvSpPr>
        <p:spPr>
          <a:xfrm>
            <a:off x="7237475"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4" name="TextBox 923"/>
          <p:cNvSpPr txBox="1"/>
          <p:nvPr/>
        </p:nvSpPr>
        <p:spPr>
          <a:xfrm>
            <a:off x="7328915"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Aggregate</a:t>
            </a:r>
          </a:p>
          <a:p>
            <a:pPr algn="l">
              <a:spcAft>
                <a:spcPts val="200"/>
              </a:spcAft>
            </a:pPr>
            <a:r>
              <a:rPr sz="1100" b="0" i="0">
                <a:solidFill>
                  <a:srgbClr val="63737B"/>
                </a:solidFill>
              </a:rPr>
              <a:t>chunks → experts</a:t>
            </a:r>
          </a:p>
        </p:txBody>
      </p:sp>
      <p:sp>
        <p:nvSpPr>
          <p:cNvPr id="925" name="Rectangle 924"/>
          <p:cNvSpPr/>
          <p:nvPr/>
        </p:nvSpPr>
        <p:spPr>
          <a:xfrm>
            <a:off x="8842248"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6" name="TextBox 925"/>
          <p:cNvSpPr txBox="1"/>
          <p:nvPr/>
        </p:nvSpPr>
        <p:spPr>
          <a:xfrm>
            <a:off x="8933688"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Rerank</a:t>
            </a:r>
          </a:p>
          <a:p>
            <a:pPr algn="l">
              <a:spcAft>
                <a:spcPts val="200"/>
              </a:spcAft>
            </a:pPr>
            <a:r>
              <a:rPr sz="1100" b="0" i="0">
                <a:solidFill>
                  <a:srgbClr val="63737B"/>
                </a:solidFill>
              </a:rPr>
              <a:t>cross-encoder, Apertus grade, fairness</a:t>
            </a:r>
          </a:p>
        </p:txBody>
      </p:sp>
      <p:sp>
        <p:nvSpPr>
          <p:cNvPr id="927" name="Rectangle 926"/>
          <p:cNvSpPr/>
          <p:nvPr/>
        </p:nvSpPr>
        <p:spPr>
          <a:xfrm>
            <a:off x="10447019" y="365760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8" name="TextBox 927"/>
          <p:cNvSpPr txBox="1"/>
          <p:nvPr/>
        </p:nvSpPr>
        <p:spPr>
          <a:xfrm>
            <a:off x="10538459"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Explain</a:t>
            </a:r>
          </a:p>
          <a:p>
            <a:pPr algn="l">
              <a:spcAft>
                <a:spcPts val="200"/>
              </a:spcAft>
            </a:pPr>
            <a:r>
              <a:rPr sz="1100" b="0" i="0">
                <a:solidFill>
                  <a:srgbClr val="63737B"/>
                </a:solidFill>
              </a:rPr>
              <a:t>grounded reasons, [n] cites</a:t>
            </a:r>
          </a:p>
        </p:txBody>
      </p:sp>
      <p:sp>
        <p:nvSpPr>
          <p:cNvPr id="929" name="TextBox 928"/>
          <p:cNvSpPr txBox="1"/>
          <p:nvPr/>
        </p:nvSpPr>
        <p:spPr>
          <a:xfrm>
            <a:off x="841248" y="5166360"/>
            <a:ext cx="10972800" cy="1005840"/>
          </a:xfrm>
          <a:prstGeom prst="rect">
            <a:avLst/>
          </a:prstGeom>
          <a:noFill/>
        </p:spPr>
        <p:txBody>
          <a:bodyPr wrap="square" lIns="0" rIns="0" tIns="0" bIns="0" anchor="t">
            <a:spAutoFit/>
          </a:bodyPr>
          <a:lstStyle/>
          <a:p>
            <a:pPr algn="l">
              <a:spcAft>
                <a:spcPts val="600"/>
              </a:spcAft>
            </a:pPr>
            <a:r>
              <a:rPr sz="1400" b="1" i="0">
                <a:solidFill>
                  <a:srgbClr val="63737B"/>
                </a:solidFill>
              </a:rPr>
              <a:t>Evidence table: </a:t>
            </a:r>
            <a:r>
              <a:rPr sz="1400" b="0" i="0">
                <a:solidFill>
                  <a:srgbClr val="63737B"/>
                </a:solidFill>
              </a:rPr>
              <a:t>every fact points to (quote, URL, fetch date). No evidence row, no fact in the UI. Red = Apertus. Mutz calls the same functions as the UI.</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“Why isn't Prof. X on the list?”</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19</a:t>
            </a:fld>
            <a:endParaRPr lang="de-CH" dirty="0"/>
          </a:p>
        </p:txBody>
      </p:sp>
      <p:sp>
        <p:nvSpPr>
          <p:cNvPr id="903" name="Rectangle 902"/>
          <p:cNvSpPr/>
          <p:nvPr/>
        </p:nvSpPr>
        <p:spPr>
          <a:xfrm>
            <a:off x="841248" y="1920240"/>
            <a:ext cx="6583680" cy="82296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4" name="TextBox 903"/>
          <p:cNvSpPr txBox="1"/>
          <p:nvPr/>
        </p:nvSpPr>
        <p:spPr>
          <a:xfrm>
            <a:off x="1024128" y="1920240"/>
            <a:ext cx="6217920" cy="822960"/>
          </a:xfrm>
          <a:prstGeom prst="rect">
            <a:avLst/>
          </a:prstGeom>
          <a:noFill/>
        </p:spPr>
        <p:txBody>
          <a:bodyPr wrap="square" lIns="0" rIns="0" tIns="0" bIns="0" anchor="ctr">
            <a:spAutoFit/>
          </a:bodyPr>
          <a:lstStyle/>
          <a:p>
            <a:pPr algn="l">
              <a:spcAft>
                <a:spcPts val="600"/>
              </a:spcAft>
            </a:pPr>
            <a:r>
              <a:rPr sz="1200" b="0" i="0">
                <a:solidFill>
                  <a:srgbClr val="63737B"/>
                </a:solidFill>
              </a:rPr>
              <a:t>Officer  </a:t>
            </a:r>
            <a:r>
              <a:rPr sz="1600" b="1" i="0">
                <a:solidFill>
                  <a:srgbClr val="000000"/>
                </a:solidFill>
              </a:rPr>
              <a:t>Why isn't Prof. Brüningk in the results?</a:t>
            </a:r>
          </a:p>
        </p:txBody>
      </p:sp>
      <p:sp>
        <p:nvSpPr>
          <p:cNvPr id="905" name="Rectangle 904"/>
          <p:cNvSpPr/>
          <p:nvPr/>
        </p:nvSpPr>
        <p:spPr>
          <a:xfrm>
            <a:off x="841248" y="2926080"/>
            <a:ext cx="6583680" cy="1920240"/>
          </a:xfrm>
          <a:prstGeom prst="rect">
            <a:avLst/>
          </a:prstGeom>
          <a:no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6" name="TextBox 905"/>
          <p:cNvSpPr txBox="1"/>
          <p:nvPr/>
        </p:nvSpPr>
        <p:spPr>
          <a:xfrm>
            <a:off x="1024128" y="3017520"/>
            <a:ext cx="6217920" cy="1783080"/>
          </a:xfrm>
          <a:prstGeom prst="rect">
            <a:avLst/>
          </a:prstGeom>
          <a:noFill/>
        </p:spPr>
        <p:txBody>
          <a:bodyPr wrap="square" lIns="0" rIns="0" tIns="0" bIns="0" anchor="t">
            <a:spAutoFit/>
          </a:bodyPr>
          <a:lstStyle/>
          <a:p>
            <a:pPr algn="l">
              <a:spcAft>
                <a:spcPts val="800"/>
              </a:spcAft>
            </a:pPr>
            <a:r>
              <a:rPr sz="1200" b="1" i="0">
                <a:solidFill>
                  <a:srgbClr val="EA161F"/>
                </a:solidFill>
              </a:rPr>
              <a:t>Mutz  </a:t>
            </a:r>
            <a:r>
              <a:rPr sz="1500" b="1" i="0">
                <a:solidFill>
                  <a:srgbClr val="000000"/>
                </a:solidFill>
              </a:rPr>
              <a:t>I have no page about Prof. Brüningk in our 16 archives.</a:t>
            </a:r>
          </a:p>
          <a:p>
            <a:pPr algn="l">
              <a:spcAft>
                <a:spcPts val="800"/>
              </a:spcAft>
            </a:pPr>
            <a:r>
              <a:rPr sz="1500" b="0" i="0">
                <a:solidFill>
                  <a:srgbClr val="000000"/>
                </a:solidFill>
              </a:rPr>
              <a:t>Their profile may be on a site we do not crawl.</a:t>
            </a:r>
          </a:p>
          <a:p>
            <a:pPr algn="l">
              <a:spcAft>
                <a:spcPts val="800"/>
              </a:spcAft>
            </a:pPr>
            <a:r>
              <a:rPr sz="1500" b="0" i="0">
                <a:solidFill>
                  <a:srgbClr val="EA161F"/>
                </a:solidFill>
              </a:rPr>
              <a:t>Propose their profile page as a source</a:t>
            </a:r>
          </a:p>
        </p:txBody>
      </p:sp>
      <p:pic>
        <p:nvPicPr>
          <p:cNvPr id="907" name="Picture 906" descr="head-card.png"/>
          <p:cNvPicPr>
            <a:picLocks noChangeAspect="1"/>
          </p:cNvPicPr>
          <p:nvPr/>
        </p:nvPicPr>
        <p:blipFill>
          <a:blip r:embed="rId2"/>
          <a:stretch>
            <a:fillRect/>
          </a:stretch>
        </p:blipFill>
        <p:spPr>
          <a:xfrm>
            <a:off x="841248" y="4983480"/>
            <a:ext cx="1234440" cy="1234440"/>
          </a:xfrm>
          <a:prstGeom prst="rect">
            <a:avLst/>
          </a:prstGeom>
        </p:spPr>
      </p:pic>
      <p:sp>
        <p:nvSpPr>
          <p:cNvPr id="908" name="TextBox 907"/>
          <p:cNvSpPr txBox="1"/>
          <p:nvPr/>
        </p:nvSpPr>
        <p:spPr>
          <a:xfrm>
            <a:off x="2194560" y="5120640"/>
            <a:ext cx="5212080" cy="1097280"/>
          </a:xfrm>
          <a:prstGeom prst="rect">
            <a:avLst/>
          </a:prstGeom>
          <a:noFill/>
        </p:spPr>
        <p:txBody>
          <a:bodyPr wrap="square" lIns="0" rIns="0" tIns="0" bIns="0" anchor="t">
            <a:spAutoFit/>
          </a:bodyPr>
          <a:lstStyle/>
          <a:p>
            <a:pPr algn="l">
              <a:spcAft>
                <a:spcPts val="600"/>
              </a:spcAft>
            </a:pPr>
            <a:r>
              <a:rPr sz="1400" b="0" i="0">
                <a:solidFill>
                  <a:srgbClr val="63737B"/>
                </a:solidFill>
              </a:rPr>
              <a:t>The numbers come from the ranking itself. Apertus only puts them into words.</a:t>
            </a:r>
          </a:p>
        </p:txBody>
      </p:sp>
      <p:cxnSp>
        <p:nvCxnSpPr>
          <p:cNvPr id="909" name="Connector 908"/>
          <p:cNvCxnSpPr/>
          <p:nvPr/>
        </p:nvCxnSpPr>
        <p:spPr>
          <a:xfrm>
            <a:off x="781812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0" name="TextBox 909"/>
          <p:cNvSpPr txBox="1"/>
          <p:nvPr/>
        </p:nvSpPr>
        <p:spPr>
          <a:xfrm>
            <a:off x="8183879" y="1920240"/>
            <a:ext cx="3657600" cy="365760"/>
          </a:xfrm>
          <a:prstGeom prst="rect">
            <a:avLst/>
          </a:prstGeom>
          <a:noFill/>
        </p:spPr>
        <p:txBody>
          <a:bodyPr wrap="square" lIns="0" rIns="0" tIns="0" bIns="0" anchor="t">
            <a:spAutoFit/>
          </a:bodyPr>
          <a:lstStyle/>
          <a:p>
            <a:pPr algn="l">
              <a:spcAft>
                <a:spcPts val="600"/>
              </a:spcAft>
            </a:pPr>
            <a:r>
              <a:rPr sz="1600" b="1" i="0">
                <a:solidFill>
                  <a:srgbClr val="000000"/>
                </a:solidFill>
              </a:rPr>
              <a:t>Every fact has a provenance</a:t>
            </a:r>
          </a:p>
        </p:txBody>
      </p:sp>
      <p:cxnSp>
        <p:nvCxnSpPr>
          <p:cNvPr id="911" name="Connector 910"/>
          <p:cNvCxnSpPr/>
          <p:nvPr/>
        </p:nvCxnSpPr>
        <p:spPr>
          <a:xfrm>
            <a:off x="8183879" y="2697480"/>
            <a:ext cx="64008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9006840" y="246888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Read</a:t>
            </a:r>
          </a:p>
          <a:p>
            <a:pPr algn="l">
              <a:spcAft>
                <a:spcPts val="200"/>
              </a:spcAft>
            </a:pPr>
            <a:r>
              <a:rPr sz="1300" b="0" i="0">
                <a:solidFill>
                  <a:srgbClr val="63737B"/>
                </a:solidFill>
              </a:rPr>
              <a:t>verified quote on the page</a:t>
            </a:r>
          </a:p>
        </p:txBody>
      </p:sp>
      <p:cxnSp>
        <p:nvCxnSpPr>
          <p:cNvPr id="913" name="Connector 912"/>
          <p:cNvCxnSpPr/>
          <p:nvPr/>
        </p:nvCxnSpPr>
        <p:spPr>
          <a:xfrm>
            <a:off x="8183879" y="3566160"/>
            <a:ext cx="64008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sp>
        <p:nvSpPr>
          <p:cNvPr id="914" name="TextBox 913"/>
          <p:cNvSpPr txBox="1"/>
          <p:nvPr/>
        </p:nvSpPr>
        <p:spPr>
          <a:xfrm>
            <a:off x="9006840" y="333756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Derived</a:t>
            </a:r>
          </a:p>
          <a:p>
            <a:pPr algn="l">
              <a:spcAft>
                <a:spcPts val="200"/>
              </a:spcAft>
            </a:pPr>
            <a:r>
              <a:rPr sz="1300" b="0" i="0">
                <a:solidFill>
                  <a:srgbClr val="63737B"/>
                </a:solidFill>
              </a:rPr>
              <a:t>from a related page</a:t>
            </a:r>
          </a:p>
        </p:txBody>
      </p:sp>
      <p:cxnSp>
        <p:nvCxnSpPr>
          <p:cNvPr id="915" name="Connector 914"/>
          <p:cNvCxnSpPr/>
          <p:nvPr/>
        </p:nvCxnSpPr>
        <p:spPr>
          <a:xfrm>
            <a:off x="8183879" y="4434840"/>
            <a:ext cx="640080" cy="0"/>
          </a:xfrm>
          <a:prstGeom prst="line">
            <a:avLst/>
          </a:prstGeom>
          <a:ln w="25400">
            <a:solidFill>
              <a:srgbClr val="EA161F"/>
            </a:solidFill>
          </a:ln>
        </p:spPr>
        <p:style>
          <a:lnRef idx="2">
            <a:schemeClr val="accent1"/>
          </a:lnRef>
          <a:fillRef idx="0">
            <a:schemeClr val="accent1"/>
          </a:fillRef>
          <a:effectRef idx="1">
            <a:schemeClr val="accent1"/>
          </a:effectRef>
          <a:fontRef idx="minor">
            <a:schemeClr val="tx1"/>
          </a:fontRef>
        </p:style>
      </p:cxnSp>
      <p:sp>
        <p:nvSpPr>
          <p:cNvPr id="916" name="TextBox 915"/>
          <p:cNvSpPr txBox="1"/>
          <p:nvPr/>
        </p:nvSpPr>
        <p:spPr>
          <a:xfrm>
            <a:off x="9006840" y="420624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Assumed</a:t>
            </a:r>
          </a:p>
          <a:p>
            <a:pPr algn="l">
              <a:spcAft>
                <a:spcPts val="200"/>
              </a:spcAft>
            </a:pPr>
            <a:r>
              <a:rPr sz="1300" b="0" i="0">
                <a:solidFill>
                  <a:srgbClr val="63737B"/>
                </a:solidFill>
              </a:rPr>
              <a:t>model inference, flagged</a:t>
            </a:r>
          </a:p>
        </p:txBody>
      </p:sp>
      <p:cxnSp>
        <p:nvCxnSpPr>
          <p:cNvPr id="917" name="Connector 916"/>
          <p:cNvCxnSpPr/>
          <p:nvPr/>
        </p:nvCxnSpPr>
        <p:spPr>
          <a:xfrm>
            <a:off x="8183879" y="5303520"/>
            <a:ext cx="640080" cy="0"/>
          </a:xfrm>
          <a:prstGeom prst="line">
            <a:avLst/>
          </a:prstGeom>
          <a:ln w="19050">
            <a:solidFill>
              <a:srgbClr val="B1B9BD"/>
            </a:solidFill>
          </a:ln>
        </p:spPr>
        <p:style>
          <a:lnRef idx="2">
            <a:schemeClr val="accent1"/>
          </a:lnRef>
          <a:fillRef idx="0">
            <a:schemeClr val="accent1"/>
          </a:fillRef>
          <a:effectRef idx="1">
            <a:schemeClr val="accent1"/>
          </a:effectRef>
          <a:fontRef idx="minor">
            <a:schemeClr val="tx1"/>
          </a:fontRef>
        </p:style>
      </p:cxnSp>
      <p:sp>
        <p:nvSpPr>
          <p:cNvPr id="918" name="TextBox 917"/>
          <p:cNvSpPr txBox="1"/>
          <p:nvPr/>
        </p:nvSpPr>
        <p:spPr>
          <a:xfrm>
            <a:off x="9006840" y="507492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Missing</a:t>
            </a:r>
          </a:p>
          <a:p>
            <a:pPr algn="l">
              <a:spcAft>
                <a:spcPts val="200"/>
              </a:spcAft>
            </a:pPr>
            <a:r>
              <a:rPr sz="1300" b="0" i="0">
                <a:solidFill>
                  <a:srgbClr val="63737B"/>
                </a:solidFill>
              </a:rPr>
              <a:t>not stated anywhere</a:t>
            </a:r>
          </a:p>
        </p:txBody>
      </p:sp>
    </p:spTree>
  </p:cSld>
  <p:clrMapOvr>
    <a:masterClrMapping/>
  </p:clrMapOvr>
  <p:transition spd="med">
    <p:fade/>
  </p:transition>
</p:sld>
</file>

<file path=ppt/theme/theme1.xml><?xml version="1.0" encoding="utf-8"?>
<a:theme xmlns:a="http://schemas.openxmlformats.org/drawingml/2006/main" name="Benutzerdefiniertes Design">
  <a:themeElements>
    <a:clrScheme name="Kanton Bern">
      <a:dk1>
        <a:sysClr val="windowText" lastClr="000000"/>
      </a:dk1>
      <a:lt1>
        <a:sysClr val="window" lastClr="FFFFFF"/>
      </a:lt1>
      <a:dk2>
        <a:srgbClr val="63737B"/>
      </a:dk2>
      <a:lt2>
        <a:srgbClr val="B1B9BD"/>
      </a:lt2>
      <a:accent1>
        <a:srgbClr val="3C505A"/>
      </a:accent1>
      <a:accent2>
        <a:srgbClr val="96D7F0"/>
      </a:accent2>
      <a:accent3>
        <a:srgbClr val="A0C7A0"/>
      </a:accent3>
      <a:accent4>
        <a:srgbClr val="E1D2C6"/>
      </a:accent4>
      <a:accent5>
        <a:srgbClr val="644B41"/>
      </a:accent5>
      <a:accent6>
        <a:srgbClr val="EA161F"/>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Präsentation PowerPoint DE.potx" id="{E35E844B-C969-45C1-85DE-B7ED56A30097}" vid="{9CD5C389-EEA3-4CD9-ADDA-01A292F3BE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702</Words>
  <Application>Microsoft Office PowerPoint</Application>
  <PresentationFormat>Grand écran</PresentationFormat>
  <Paragraphs>186</Paragraphs>
  <Slides>19</Slides>
  <Notes>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19</vt:i4>
      </vt:variant>
    </vt:vector>
  </HeadingPairs>
  <TitlesOfParts>
    <vt:vector size="21" baseType="lpstr">
      <vt:lpstr>Arial</vt:lpstr>
      <vt:lpstr>Benutzerdefiniertes Design</vt:lpstr>
      <vt:lpstr>Titel (maximal 2 Zeilen)</vt:lpstr>
      <vt:lpstr>Titel (maximal 2 Zeilen)</vt:lpstr>
      <vt:lpstr>Titel (maximal 2 Zeilen)</vt:lpstr>
      <vt:lpstr>Beispiel Kapiteltitel Schwarz</vt:lpstr>
      <vt:lpstr>Beispiel Kapiteltitel Blaugrau</vt:lpstr>
      <vt:lpstr>Beispiel Kapiteltitel Weiss</vt:lpstr>
      <vt:lpstr>Beispiel Kapiteltitel Rot</vt:lpstr>
      <vt:lpstr>Hinweis zum Erstellen von Aufzählungen</vt:lpstr>
      <vt:lpstr>Programm</vt:lpstr>
      <vt:lpstr>Beispielfolie «Titel und Inhalt»</vt:lpstr>
      <vt:lpstr>Beispielfolie «Titel, Untertitel und Inhalt»</vt:lpstr>
      <vt:lpstr>Beispielfolie «Titel, Inhalt und Bild rechts»</vt:lpstr>
      <vt:lpstr>Beispielfolie «Titel, Inhalt und Bild links»</vt:lpstr>
      <vt:lpstr>Tabelle</vt:lpstr>
      <vt:lpstr>Beispielfolie Säulendiagramm</vt:lpstr>
      <vt:lpstr>Beispielfolie Säulendiagramm</vt:lpstr>
      <vt:lpstr>Beispielfolie Kreisdiagramm</vt:lpstr>
      <vt:lpstr>Hinterlegtes Farbkonzept</vt:lpstr>
      <vt:lpstr>Kontakt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Ziegler Joëlle, WEU-AWI-SFBE-BI</dc:creator>
  <dc:description>V02-2022-06-13</dc:description>
  <cp:lastModifiedBy>Ziegler Joëlle, WEU-AWI-SFBE-BI</cp:lastModifiedBy>
  <cp:revision>1</cp:revision>
  <cp:lastPrinted>2018-09-06T06:44:02Z</cp:lastPrinted>
  <dcterms:created xsi:type="dcterms:W3CDTF">2026-10-18T09:02:13Z</dcterms:created>
  <dcterms:modified xsi:type="dcterms:W3CDTF">2026-10-18T09:03:04Z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4fdd986-87d9-48c6-acda-407b1ab5fef0_Enabled">
    <vt:lpwstr>true</vt:lpwstr>
  </property>
  <property fmtid="{D5CDD505-2E9C-101B-9397-08002B2CF9AE}" pid="3" name="MSIP_Label_74fdd986-87d9-48c6-acda-407b1ab5fef0_SetDate">
    <vt:lpwstr>2026-10-18T09:03:03Z</vt:lpwstr>
  </property>
  <property fmtid="{D5CDD505-2E9C-101B-9397-08002B2CF9AE}" pid="4" name="MSIP_Label_74fdd986-87d9-48c6-acda-407b1ab5fef0_Method">
    <vt:lpwstr>Standard</vt:lpwstr>
  </property>
  <property fmtid="{D5CDD505-2E9C-101B-9397-08002B2CF9AE}" pid="5" name="MSIP_Label_74fdd986-87d9-48c6-acda-407b1ab5fef0_Name">
    <vt:lpwstr>NICHT KLASSIFIZIERT</vt:lpwstr>
  </property>
  <property fmtid="{D5CDD505-2E9C-101B-9397-08002B2CF9AE}" pid="6" name="MSIP_Label_74fdd986-87d9-48c6-acda-407b1ab5fef0_SiteId">
    <vt:lpwstr>cb96f99a-a111-42d7-9f65-e111197ba4bb</vt:lpwstr>
  </property>
  <property fmtid="{D5CDD505-2E9C-101B-9397-08002B2CF9AE}" pid="7" name="MSIP_Label_74fdd986-87d9-48c6-acda-407b1ab5fef0_ActionId">
    <vt:lpwstr>106f63c6-80dd-4266-a76a-39bb703d85e2</vt:lpwstr>
  </property>
  <property fmtid="{D5CDD505-2E9C-101B-9397-08002B2CF9AE}" pid="8" name="MSIP_Label_74fdd986-87d9-48c6-acda-407b1ab5fef0_ContentBits">
    <vt:lpwstr>0</vt:lpwstr>
  </property>
  <property fmtid="{D5CDD505-2E9C-101B-9397-08002B2CF9AE}" pid="9" name="MSIP_Label_74fdd986-87d9-48c6-acda-407b1ab5fef0_Tag">
    <vt:lpwstr>10, 3, 0, 1</vt:lpwstr>
  </property>
</Properties>
</file>