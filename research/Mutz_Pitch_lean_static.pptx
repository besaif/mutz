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 id="302" r:id="rId20"/>
    <p:sldId id="303"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9" Type="http://schemas.openxmlformats.org/officeDocument/2006/relationships/slide" Target="slides/slide22.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Use when a judge asks "why no vector database?" or "why not pgvector?"</a:t>
            </a:r>
          </a:p>
          <a:p/>
          <a:p>
            <a:r>
              <a:t>"We do use vector search: every chunk is embedded with BGE-M3 and fused with keyword search. We just don't need a database to hold six thousand vectors. We tested pgvector on our own data: for the same exact results it was about seventeen times slower. With its default index it returned only forty of the two hundred candidates we need, and with a source filter almost none, without an error. A database becomes the right tool past about a hundred thousand chunks, and the swap is one function."</a:t>
            </a:r>
          </a:p>
          <a:p/>
          <a:p>
            <a:r>
              <a:t>If asked:</a:t>
            </a:r>
          </a:p>
          <a:p>
            <a:r>
              <a:t>- Exact means brute force over every vector; only the vector step is exact. The final ranking also uses BM25 fusion, the cross-encoder and the Apertus grade.</a:t>
            </a:r>
          </a:p>
          <a:p>
            <a:r>
              <a:t>- pgvector 0.8 has iterative index scans that fix the filter problem, but you have to know to switch them on.</a:t>
            </a:r>
          </a:p>
          <a:p>
            <a:r>
              <a:t>- Each Cloud Run instance holds its own read-only copy: about 23 MB in memory. The models use far more.</a:t>
            </a:r>
          </a:p>
          <a:p>
            <a:r>
              <a:t>- Benchmark 19 Oct 2026, local Docker, synthetic queries (chunk vectors plus noise). Absolute numbers differ on Cloud SQL; the pattern does not.</a:t>
            </a:r>
          </a:p>
          <a:p>
            <a:r>
              <a:t>Don't say "next to Apertus": the container runs in Zurich (europe-west6), Apertus at CSCS via the Keera gateway.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 Use when a judge asks "why only 3,000 pages?" or "why not all of UniBE?"</a:t>
            </a:r>
          </a:p>
          <a:p/>
          <a:p>
            <a:r>
              <a:t>"We chose depth over breadth. Our pages aren't just indexed: Apertus reads the ones about people and research and extracts people, units, projects and infrastructure, and then code checks every fact against the page. That check threw out forty percent of what the model extracted. So for the prototype we covered the Diabetes Center and ARTORG's research pages completely, and 14 more sites from the university inventory, the life science and medtech ones. That is 16 of the 42 inventory sites; adding one is a line of config, and the other 26 are already listed in the repo."</a:t>
            </a:r>
          </a:p>
          <a:p/>
          <a:p>
            <a:r>
              <a:t>HONESTY: the case asks for the whole UniBE inventory. Medtech was our choice, not the case's; don't say the case limited it.</a:t>
            </a:r>
          </a:p>
          <a:p>
            <a:r>
              <a:t>- The 42 inventory entries include ARTORG and DCB, so we cover 16 and 26 remain.</a:t>
            </a:r>
          </a:p>
          <a:p>
            <a:r>
              <a:t>- 8 of the 14 UniBE sites hit the 200 page cap, so don't say those are complete. Raising the cap is one number.</a:t>
            </a:r>
          </a:p>
          <a:p>
            <a:r>
              <a:t>- Extraction runs on Apertus 8B (bulk); needs, expansions, grading and reasons run on Apertus 70B.</a:t>
            </a:r>
          </a:p>
          <a:p>
            <a:r>
              <a:t>- Left out on purpose: computer science, Vetsuisse, legal medicine, medical education and history, non life science institutes.</a:t>
            </a:r>
          </a:p>
          <a:p>
            <a:r>
              <a:t>- A question outside the crawl gets "no match" plus the list of sources searched, never a guess.</a:t>
            </a:r>
          </a:p>
          <a:p>
            <a:r>
              <a:t>Counts: data/pages.jsonl (3,026 pages), data/chunks.jsonl (5,666), logs/extract_stats.json, data/kg.sqlite.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0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0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0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8" grpId="0" animBg="1"/>
      <p:bldP spid="910" grpId="0" animBg="1"/>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0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0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0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0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0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no vector database?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20</a:t>
            </a:fld>
            <a:endParaRPr lang="de-CH" dirty="0"/>
          </a:p>
        </p:txBody>
      </p:sp>
      <p:graphicFrame>
        <p:nvGraphicFramePr>
          <p:cNvPr id="1001" name="Table 1001"/>
          <p:cNvGraphicFramePr>
            <a:graphicFrameLocks noGrp="1"/>
          </p:cNvGraphicFramePr>
          <p:nvPr/>
        </p:nvGraphicFramePr>
        <p:xfrm>
          <a:off x="841248" y="1920240"/>
          <a:ext cx="6583680" cy="2697480"/>
        </p:xfrm>
        <a:graphic>
          <a:graphicData uri="http://schemas.openxmlformats.org/drawingml/2006/table">
            <a:tbl>
              <a:tblPr firstRow="1"/>
              <a:tblGrid>
                <a:gridCol w="3017520"/>
                <a:gridCol w="1234440"/>
                <a:gridCol w="1051560"/>
                <a:gridCol w="1280160"/>
              </a:tblGrid>
              <a:tr h="411480">
                <a:tc>
                  <a:txBody>
                    <a:bodyPr/>
                    <a:lstStyle/>
                    <a:p>
                      <a:pPr algn="l"/>
                      <a:r>
                        <a:rPr lang="en-GB" sz="1200" b="1" i="0" dirty="0">
                          <a:solidFill>
                            <a:srgbClr val="63737B"/>
                          </a:solidFill>
                        </a:rPr>
                        <a:t>Same top 200 search on our vectors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Per query</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Rows</a:t>
                      </a:r>
                    </a:p>
                  </a:txBody>
                  <a:tcPr marL="91440" marR="91440" marT="45720" marB="45720" anchor="ctr">
                    <a:lnL>
                      <a:noFill/>
                    </a:lnL>
                    <a:lnR>
                      <a:noFill/>
                    </a:lnR>
                    <a:lnT>
                      <a:noFill/>
                    </a:lnT>
                    <a:lnB w="19050">
                      <a:solidFill>
                        <a:srgbClr val="000000"/>
                      </a:solidFill>
                    </a:lnB>
                    <a:noFill/>
                  </a:tcPr>
                </a:tc>
                <a:tc>
                  <a:txBody>
                    <a:bodyPr/>
                    <a:lstStyle/>
                    <a:p>
                      <a:pPr algn="r"/>
                      <a:r>
                        <a:rPr lang="en-GB" sz="1200" b="1" i="0" dirty="0">
                          <a:solidFill>
                            <a:srgbClr val="63737B"/>
                          </a:solidFill>
                        </a:rPr>
                        <a:t>Recall</a:t>
                      </a:r>
                    </a:p>
                  </a:txBody>
                  <a:tcPr marL="91440" marR="91440" marT="45720" marB="45720" anchor="ctr">
                    <a:lnL>
                      <a:noFill/>
                    </a:lnL>
                    <a:lnR>
                      <a:noFill/>
                    </a:lnR>
                    <a:lnT>
                      <a:noFill/>
                    </a:lnT>
                    <a:lnB w="19050">
                      <a:solidFill>
                        <a:srgbClr val="000000"/>
                      </a:solidFill>
                    </a:lnB>
                    <a:noFill/>
                  </a:tcPr>
                </a:tc>
              </a:tr>
              <a:tr h="457200">
                <a:tc>
                  <a:txBody>
                    <a:bodyPr/>
                    <a:lstStyle/>
                    <a:p>
                      <a:pPr algn="l"/>
                      <a:r>
                        <a:rPr lang="en-GB" sz="1300" b="1" i="0" dirty="0">
                          <a:solidFill>
                            <a:srgbClr val="000000"/>
                          </a:solidFill>
                        </a:rPr>
                        <a:t>Ours: exact search in the app</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0.5 ms</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200</a:t>
                      </a:r>
                    </a:p>
                  </a:txBody>
                  <a:tcPr marL="91440" marR="91440" marT="45720" marB="45720" anchor="ctr">
                    <a:lnL>
                      <a:noFill/>
                    </a:lnL>
                    <a:lnR>
                      <a:noFill/>
                    </a:lnR>
                    <a:lnT>
                      <a:noFill/>
                    </a:lnT>
                    <a:lnB w="6350">
                      <a:solidFill>
                        <a:srgbClr val="B1B9BD"/>
                      </a:solidFill>
                    </a:lnB>
                    <a:solidFill>
                      <a:srgbClr val="EEF1F2"/>
                    </a:solidFill>
                  </a:tcPr>
                </a:tc>
                <a:tc>
                  <a:txBody>
                    <a:bodyPr/>
                    <a:lstStyle/>
                    <a:p>
                      <a:pPr algn="r"/>
                      <a:r>
                        <a:rPr lang="en-GB" sz="1300" b="1" i="0" dirty="0">
                          <a:solidFill>
                            <a:srgbClr val="000000"/>
                          </a:solidFill>
                        </a:rPr>
                        <a:t>100%</a:t>
                      </a:r>
                    </a:p>
                  </a:txBody>
                  <a:tcPr marL="91440" marR="91440" marT="45720" marB="45720" anchor="ctr">
                    <a:lnL>
                      <a:noFill/>
                    </a:lnL>
                    <a:lnR>
                      <a:noFill/>
                    </a:lnR>
                    <a:lnT>
                      <a:noFill/>
                    </a:lnT>
                    <a:lnB w="6350">
                      <a:solidFill>
                        <a:srgbClr val="B1B9BD"/>
                      </a:solidFill>
                    </a:lnB>
                    <a:solidFill>
                      <a:srgbClr val="EEF1F2"/>
                    </a:solidFill>
                  </a:tcPr>
                </a:tc>
              </a:tr>
              <a:tr h="457200">
                <a:tc>
                  <a:txBody>
                    <a:bodyPr/>
                    <a:lstStyle/>
                    <a:p>
                      <a:pPr algn="l"/>
                      <a:r>
                        <a:rPr lang="en-GB" sz="1300" b="0" i="0" dirty="0">
                          <a:solidFill>
                            <a:srgbClr val="000000"/>
                          </a:solidFill>
                        </a:rPr>
                        <a:t>pgvector, exact</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8.7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100%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default settings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1.9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40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20%</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ef_search = 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4.7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200</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99%</a:t>
                      </a:r>
                    </a:p>
                  </a:txBody>
                  <a:tcPr marL="91440" marR="91440" marT="45720" marB="45720" anchor="ctr">
                    <a:lnL>
                      <a:noFill/>
                    </a:lnL>
                    <a:lnR>
                      <a:noFill/>
                    </a:lnR>
                    <a:lnT>
                      <a:noFill/>
                    </a:lnT>
                    <a:lnB w="6350">
                      <a:solidFill>
                        <a:srgbClr val="B1B9BD"/>
                      </a:solidFill>
                    </a:lnB>
                    <a:noFill/>
                  </a:tcPr>
                </a:tc>
              </a:tr>
              <a:tr h="457200">
                <a:tc>
                  <a:txBody>
                    <a:bodyPr/>
                    <a:lstStyle/>
                    <a:p>
                      <a:pPr algn="l"/>
                      <a:r>
                        <a:rPr lang="en-GB" sz="1300" b="0" i="0" dirty="0">
                          <a:solidFill>
                            <a:srgbClr val="000000"/>
                          </a:solidFill>
                        </a:rPr>
                        <a:t>pgvector HNSW + source filter</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000000"/>
                          </a:solidFill>
                        </a:rPr>
                        <a:t>2–4 ms</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0–1</a:t>
                      </a:r>
                    </a:p>
                  </a:txBody>
                  <a:tcPr marL="91440" marR="91440" marT="45720" marB="45720" anchor="ctr">
                    <a:lnL>
                      <a:noFill/>
                    </a:lnL>
                    <a:lnR>
                      <a:noFill/>
                    </a:lnR>
                    <a:lnT>
                      <a:noFill/>
                    </a:lnT>
                    <a:lnB w="6350">
                      <a:solidFill>
                        <a:srgbClr val="B1B9BD"/>
                      </a:solidFill>
                    </a:lnB>
                    <a:noFill/>
                  </a:tcPr>
                </a:tc>
                <a:tc>
                  <a:txBody>
                    <a:bodyPr/>
                    <a:lstStyle/>
                    <a:p>
                      <a:pPr algn="r"/>
                      <a:r>
                        <a:rPr lang="en-GB" sz="1300" b="0" i="0" dirty="0">
                          <a:solidFill>
                            <a:srgbClr val="EA161F"/>
                          </a:solidFill>
                        </a:rPr>
                        <a:t>2–10%</a:t>
                      </a:r>
                    </a:p>
                  </a:txBody>
                  <a:tcPr marL="91440" marR="91440" marT="45720" marB="45720" anchor="ctr">
                    <a:lnL>
                      <a:noFill/>
                    </a:lnL>
                    <a:lnR>
                      <a:noFill/>
                    </a:lnR>
                    <a:lnT>
                      <a:noFill/>
                    </a:lnT>
                    <a:lnB w="6350">
                      <a:solidFill>
                        <a:srgbClr val="B1B9BD"/>
                      </a:solidFill>
                    </a:lnB>
                    <a:noFill/>
                  </a:tcPr>
                </a:tc>
              </a:tr>
            </a:tbl>
          </a:graphicData>
        </a:graphic>
      </p:graphicFrame>
      <p:sp>
        <p:nvSpPr>
          <p:cNvPr id="1002" name="TextBox 1002"/>
          <p:cNvSpPr txBox="1"/>
          <p:nvPr/>
        </p:nvSpPr>
        <p:spPr>
          <a:xfrm>
            <a:off x="841248" y="4846320"/>
            <a:ext cx="6583680" cy="1097280"/>
          </a:xfrm>
          <a:prstGeom prst="rect">
            <a:avLst/>
          </a:prstGeom>
          <a:noFill/>
        </p:spPr>
        <p:txBody>
          <a:bodyPr wrap="square" lIns="0" rIns="0" tIns="0" bIns="0" anchor="t">
            <a:normAutofit/>
          </a:bodyPr>
          <a:lstStyle/>
          <a:p>
            <a:pPr algn="l">
              <a:spcAft>
                <a:spcPts val="600"/>
              </a:spcAft>
            </a:pPr>
            <a:r>
              <a:rPr lang="en-GB" sz="1200" b="0" i="0" dirty="0">
                <a:solidFill>
                  <a:srgbClr val="63737B"/>
                </a:solidFill>
              </a:rPr>
              <a:t>Measured on our 5,666 BGE-M3 vectors (1024 dims), 100 queries, top 200 per query as search/query.py asks for. Postgres 17 + pgvector in Docker on a laptop; Cloud SQL would add network time.</a:t>
            </a:r>
          </a:p>
        </p:txBody>
      </p:sp>
      <p:cxnSp>
        <p:nvCxnSpPr>
          <p:cNvPr id="1003" name="Connector 1003"/>
          <p:cNvCxnSpPr/>
          <p:nvPr/>
        </p:nvCxnSpPr>
        <p:spPr>
          <a:xfrm>
            <a:off x="7818120" y="1920240"/>
            <a:ext cx="0" cy="4297680"/>
          </a:xfrm>
          <a:prstGeom prst="line">
            <a:avLst/>
          </a:prstGeom>
          <a:ln w="9525">
            <a:solidFill>
              <a:srgbClr val="B1B9BD"/>
            </a:solidFill>
          </a:ln>
        </p:spPr>
      </p:cxnSp>
      <p:sp>
        <p:nvSpPr>
          <p:cNvPr id="1004" name="TextBox 1004"/>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At our size, exact search wins</a:t>
            </a:r>
          </a:p>
        </p:txBody>
      </p:sp>
      <p:sp>
        <p:nvSpPr>
          <p:cNvPr id="1005" name="TextBox 1005"/>
          <p:cNvSpPr txBox="1"/>
          <p:nvPr/>
        </p:nvSpPr>
        <p:spPr>
          <a:xfrm>
            <a:off x="8183880" y="237744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0.5 ms</a:t>
            </a:r>
            <a:r>
              <a:rPr lang="en-GB" sz="1500" b="0" i="0" dirty="0">
                <a:solidFill>
                  <a:srgbClr val="000000"/>
                </a:solidFill>
              </a:rPr>
              <a:t> per query</a:t>
            </a:r>
          </a:p>
        </p:txBody>
      </p:sp>
      <p:sp>
        <p:nvSpPr>
          <p:cNvPr id="1006" name="TextBox 1006"/>
          <p:cNvSpPr txBox="1"/>
          <p:nvPr/>
        </p:nvSpPr>
        <p:spPr>
          <a:xfrm>
            <a:off x="8183880" y="320040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exact, over all 5,666 chunks, in the app</a:t>
            </a:r>
          </a:p>
        </p:txBody>
      </p:sp>
      <p:cxnSp>
        <p:nvCxnSpPr>
          <p:cNvPr id="1007" name="Connector 1007"/>
          <p:cNvCxnSpPr/>
          <p:nvPr/>
        </p:nvCxnSpPr>
        <p:spPr>
          <a:xfrm>
            <a:off x="8183880" y="4023360"/>
            <a:ext cx="640080" cy="0"/>
          </a:xfrm>
          <a:prstGeom prst="line">
            <a:avLst/>
          </a:prstGeom>
          <a:ln w="38100">
            <a:solidFill>
              <a:srgbClr val="000000"/>
            </a:solidFill>
          </a:ln>
        </p:spPr>
      </p:cxnSp>
      <p:sp>
        <p:nvSpPr>
          <p:cNvPr id="1008" name="TextBox 1008"/>
          <p:cNvSpPr txBox="1"/>
          <p:nvPr/>
        </p:nvSpPr>
        <p:spPr>
          <a:xfrm>
            <a:off x="9006840" y="379476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17× slower</a:t>
            </a:r>
          </a:p>
          <a:p>
            <a:pPr algn="l">
              <a:spcAft>
                <a:spcPts val="200"/>
              </a:spcAft>
            </a:pPr>
            <a:r>
              <a:rPr lang="en-GB" sz="1300" b="0" i="0" dirty="0">
                <a:solidFill>
                  <a:srgbClr val="63737B"/>
                </a:solidFill>
              </a:rPr>
              <a:t>pgvector, for the same exact result</a:t>
            </a:r>
          </a:p>
        </p:txBody>
      </p:sp>
      <p:cxnSp>
        <p:nvCxnSpPr>
          <p:cNvPr id="1009" name="Connector 1009"/>
          <p:cNvCxnSpPr/>
          <p:nvPr/>
        </p:nvCxnSpPr>
        <p:spPr>
          <a:xfrm>
            <a:off x="8183880" y="4800600"/>
            <a:ext cx="640080" cy="0"/>
          </a:xfrm>
          <a:prstGeom prst="line">
            <a:avLst/>
          </a:prstGeom>
          <a:ln w="38100">
            <a:solidFill>
              <a:srgbClr val="EA161F"/>
            </a:solidFill>
          </a:ln>
        </p:spPr>
      </p:cxnSp>
      <p:sp>
        <p:nvSpPr>
          <p:cNvPr id="1010" name="TextBox 1010"/>
          <p:cNvSpPr txBox="1"/>
          <p:nvPr/>
        </p:nvSpPr>
        <p:spPr>
          <a:xfrm>
            <a:off x="9006840" y="457200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Fails silently</a:t>
            </a:r>
          </a:p>
          <a:p>
            <a:pPr algn="l">
              <a:spcAft>
                <a:spcPts val="200"/>
              </a:spcAft>
            </a:pPr>
            <a:r>
              <a:rPr lang="en-GB" sz="1300" b="0" i="0" dirty="0">
                <a:solidFill>
                  <a:srgbClr val="63737B"/>
                </a:solidFill>
              </a:rPr>
              <a:t>default returns 40 of 200; filters ~none</a:t>
            </a:r>
          </a:p>
        </p:txBody>
      </p:sp>
      <p:cxnSp>
        <p:nvCxnSpPr>
          <p:cNvPr id="1011" name="Connector 1011"/>
          <p:cNvCxnSpPr/>
          <p:nvPr/>
        </p:nvCxnSpPr>
        <p:spPr>
          <a:xfrm>
            <a:off x="8183880" y="5577840"/>
            <a:ext cx="640080" cy="0"/>
          </a:xfrm>
          <a:prstGeom prst="line">
            <a:avLst/>
          </a:prstGeom>
          <a:ln w="38100">
            <a:solidFill>
              <a:srgbClr val="B1B9BD"/>
            </a:solidFill>
          </a:ln>
        </p:spPr>
      </p:cxnSp>
      <p:sp>
        <p:nvSpPr>
          <p:cNvPr id="1012" name="TextBox 1012"/>
          <p:cNvSpPr txBox="1"/>
          <p:nvPr/>
        </p:nvSpPr>
        <p:spPr>
          <a:xfrm>
            <a:off x="9006840" y="534924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Swap point past ~100k</a:t>
            </a:r>
          </a:p>
          <a:p>
            <a:pPr algn="l">
              <a:spcAft>
                <a:spcPts val="200"/>
              </a:spcAft>
            </a:pPr>
            <a:r>
              <a:rPr lang="en-GB" sz="1300" b="0" i="0" dirty="0">
                <a:solidFill>
                  <a:srgbClr val="63737B"/>
                </a:solidFill>
              </a:rPr>
              <a:t>one function: _rank_lists in search/query.py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What we crawled, and why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21</a:t>
            </a:fld>
            <a:endParaRPr lang="de-CH" dirty="0"/>
          </a:p>
        </p:txBody>
      </p:sp>
      <p:cxnSp>
        <p:nvCxnSpPr>
          <p:cNvPr id="1013" name="Connector 1013"/>
          <p:cNvCxnSpPr/>
          <p:nvPr/>
        </p:nvCxnSpPr>
        <p:spPr>
          <a:xfrm>
            <a:off x="841248" y="2148840"/>
            <a:ext cx="640080" cy="0"/>
          </a:xfrm>
          <a:prstGeom prst="line">
            <a:avLst/>
          </a:prstGeom>
          <a:ln w="38100">
            <a:solidFill>
              <a:srgbClr val="000000"/>
            </a:solidFill>
          </a:ln>
        </p:spPr>
      </p:cxnSp>
      <p:sp>
        <p:nvSpPr>
          <p:cNvPr id="1014" name="TextBox 1014"/>
          <p:cNvSpPr txBox="1"/>
          <p:nvPr/>
        </p:nvSpPr>
        <p:spPr>
          <a:xfrm>
            <a:off x="1664208" y="192024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Diabetes Center Berne</a:t>
            </a:r>
          </a:p>
          <a:p>
            <a:pPr algn="l">
              <a:spcAft>
                <a:spcPts val="200"/>
              </a:spcAft>
            </a:pPr>
            <a:r>
              <a:rPr lang="en-GB" sz="1300" b="0" i="0" dirty="0">
                <a:solidFill>
                  <a:srgbClr val="63737B"/>
                </a:solidFill>
              </a:rPr>
              <a:t>whole site, crawled completely · 450 pages</a:t>
            </a:r>
          </a:p>
        </p:txBody>
      </p:sp>
      <p:cxnSp>
        <p:nvCxnSpPr>
          <p:cNvPr id="1015" name="Connector 1015"/>
          <p:cNvCxnSpPr/>
          <p:nvPr/>
        </p:nvCxnSpPr>
        <p:spPr>
          <a:xfrm>
            <a:off x="841248" y="2971800"/>
            <a:ext cx="640080" cy="0"/>
          </a:xfrm>
          <a:prstGeom prst="line">
            <a:avLst/>
          </a:prstGeom>
          <a:ln w="38100">
            <a:solidFill>
              <a:srgbClr val="000000"/>
            </a:solidFill>
          </a:ln>
        </p:spPr>
      </p:cxnSp>
      <p:sp>
        <p:nvSpPr>
          <p:cNvPr id="1016" name="TextBox 1016"/>
          <p:cNvSpPr txBox="1"/>
          <p:nvPr/>
        </p:nvSpPr>
        <p:spPr>
          <a:xfrm>
            <a:off x="1664208" y="274320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ARTORG</a:t>
            </a:r>
          </a:p>
          <a:p>
            <a:pPr algn="l">
              <a:spcAft>
                <a:spcPts val="200"/>
              </a:spcAft>
            </a:pPr>
            <a:r>
              <a:rPr lang="en-GB" sz="1300" b="0" i="0" dirty="0">
                <a:solidFill>
                  <a:srgbClr val="63737B"/>
                </a:solidFill>
              </a:rPr>
              <a:t>research section, crawled completely · 363 pages</a:t>
            </a:r>
          </a:p>
        </p:txBody>
      </p:sp>
      <p:cxnSp>
        <p:nvCxnSpPr>
          <p:cNvPr id="1017" name="Connector 1017"/>
          <p:cNvCxnSpPr/>
          <p:nvPr/>
        </p:nvCxnSpPr>
        <p:spPr>
          <a:xfrm>
            <a:off x="841248" y="3794760"/>
            <a:ext cx="640080" cy="0"/>
          </a:xfrm>
          <a:prstGeom prst="line">
            <a:avLst/>
          </a:prstGeom>
          <a:ln w="38100">
            <a:solidFill>
              <a:srgbClr val="EA161F"/>
            </a:solidFill>
          </a:ln>
        </p:spPr>
      </p:cxnSp>
      <p:sp>
        <p:nvSpPr>
          <p:cNvPr id="1018" name="TextBox 1018"/>
          <p:cNvSpPr txBox="1"/>
          <p:nvPr/>
        </p:nvSpPr>
        <p:spPr>
          <a:xfrm>
            <a:off x="1664208" y="3566160"/>
            <a:ext cx="576072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University of Bern · 14 more inventory sites</a:t>
            </a:r>
          </a:p>
          <a:p>
            <a:pPr algn="l">
              <a:spcAft>
                <a:spcPts val="200"/>
              </a:spcAft>
            </a:pPr>
            <a:r>
              <a:rPr lang="en-GB" sz="1300" b="0" i="0" dirty="0">
                <a:solidFill>
                  <a:srgbClr val="63737B"/>
                </a:solidFill>
              </a:rPr>
              <a:t>life science and medtech, up to 200 pages each · 2,213 pages</a:t>
            </a:r>
          </a:p>
        </p:txBody>
      </p:sp>
      <p:sp>
        <p:nvSpPr>
          <p:cNvPr id="1019" name="Rectangle 1019"/>
          <p:cNvSpPr/>
          <p:nvPr/>
        </p:nvSpPr>
        <p:spPr>
          <a:xfrm>
            <a:off x="841248" y="4526280"/>
            <a:ext cx="6583680" cy="1417320"/>
          </a:xfrm>
          <a:prstGeom prst="rect">
            <a:avLst/>
          </a:prstGeom>
          <a:solidFill>
            <a:srgbClr val="EEF1F2"/>
          </a:solidFill>
          <a:ln>
            <a:noFill/>
          </a:ln>
          <a:effectLst/>
        </p:spPr>
        <p:txBody>
          <a:bodyPr rtlCol="0" anchor="ctr"/>
          <a:lstStyle/>
          <a:p/>
        </p:txBody>
      </p:sp>
      <p:sp>
        <p:nvSpPr>
          <p:cNvPr id="1020" name="TextBox 1020"/>
          <p:cNvSpPr txBox="1"/>
          <p:nvPr/>
        </p:nvSpPr>
        <p:spPr>
          <a:xfrm>
            <a:off x="1024128" y="4617720"/>
            <a:ext cx="6217920" cy="1234440"/>
          </a:xfrm>
          <a:prstGeom prst="rect">
            <a:avLst/>
          </a:prstGeom>
          <a:noFill/>
        </p:spPr>
        <p:txBody>
          <a:bodyPr wrap="square" lIns="0" rIns="0" tIns="0" bIns="0" anchor="ctr">
            <a:normAutofit/>
          </a:bodyPr>
          <a:lstStyle/>
          <a:p>
            <a:pPr algn="l">
              <a:spcAft>
                <a:spcPts val="400"/>
              </a:spcAft>
            </a:pPr>
            <a:r>
              <a:rPr lang="en-GB" sz="1500" b="1" i="0" dirty="0">
                <a:solidFill>
                  <a:srgbClr val="000000"/>
                </a:solidFill>
              </a:rPr>
              <a:t>3,026 pages → 5,666 chunks → 1,417 people, 335 units</a:t>
            </a:r>
          </a:p>
          <a:p>
            <a:pPr algn="l">
              <a:spcAft>
                <a:spcPts val="0"/>
              </a:spcAft>
            </a:pPr>
            <a:r>
              <a:rPr lang="en-GB" sz="1300" b="0" i="0" dirty="0">
                <a:solidFill>
                  <a:srgbClr val="63737B"/>
                </a:solidFill>
              </a:rPr>
              <a:t>Apertus 8B extracted facts from 1,859 pages. The quote check kept 6,385 and dropped 4,318 (40%): that is the cost of nothing invented.</a:t>
            </a:r>
          </a:p>
        </p:txBody>
      </p:sp>
      <p:cxnSp>
        <p:nvCxnSpPr>
          <p:cNvPr id="1021" name="Connector 1021"/>
          <p:cNvCxnSpPr/>
          <p:nvPr/>
        </p:nvCxnSpPr>
        <p:spPr>
          <a:xfrm>
            <a:off x="7818120" y="1920240"/>
            <a:ext cx="0" cy="4297680"/>
          </a:xfrm>
          <a:prstGeom prst="line">
            <a:avLst/>
          </a:prstGeom>
          <a:ln w="9525">
            <a:solidFill>
              <a:srgbClr val="B1B9BD"/>
            </a:solidFill>
          </a:ln>
        </p:spPr>
      </p:cxnSp>
      <p:sp>
        <p:nvSpPr>
          <p:cNvPr id="1022" name="TextBox 1022"/>
          <p:cNvSpPr txBox="1"/>
          <p:nvPr/>
        </p:nvSpPr>
        <p:spPr>
          <a:xfrm>
            <a:off x="8183880" y="1920240"/>
            <a:ext cx="3657600" cy="365760"/>
          </a:xfrm>
          <a:prstGeom prst="rect">
            <a:avLst/>
          </a:prstGeom>
          <a:noFill/>
        </p:spPr>
        <p:txBody>
          <a:bodyPr wrap="square" lIns="0" rIns="0" tIns="0" bIns="0" anchor="t">
            <a:normAutofit/>
          </a:bodyPr>
          <a:lstStyle/>
          <a:p>
            <a:pPr algn="l">
              <a:spcAft>
                <a:spcPts val="600"/>
              </a:spcAft>
            </a:pPr>
            <a:r>
              <a:rPr lang="en-GB" sz="1600" b="1" i="0" dirty="0">
                <a:solidFill>
                  <a:srgbClr val="000000"/>
                </a:solidFill>
              </a:rPr>
              <a:t>Our choice, not the case's limit</a:t>
            </a:r>
          </a:p>
        </p:txBody>
      </p:sp>
      <p:sp>
        <p:nvSpPr>
          <p:cNvPr id="1023" name="TextBox 1023"/>
          <p:cNvSpPr txBox="1"/>
          <p:nvPr/>
        </p:nvSpPr>
        <p:spPr>
          <a:xfrm>
            <a:off x="8183880" y="2377440"/>
            <a:ext cx="3657600" cy="100584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 case covers the whole UniBE inventory. We went deep on life science and medtech first, where Bern bids for companies.</a:t>
            </a:r>
          </a:p>
        </p:txBody>
      </p:sp>
      <p:sp>
        <p:nvSpPr>
          <p:cNvPr id="1024" name="TextBox 1024"/>
          <p:cNvSpPr txBox="1"/>
          <p:nvPr/>
        </p:nvSpPr>
        <p:spPr>
          <a:xfrm>
            <a:off x="8183880" y="3474720"/>
            <a:ext cx="3657600" cy="822960"/>
          </a:xfrm>
          <a:prstGeom prst="rect">
            <a:avLst/>
          </a:prstGeom>
          <a:noFill/>
        </p:spPr>
        <p:txBody>
          <a:bodyPr wrap="square" lIns="0" rIns="0" tIns="0" bIns="0" anchor="ctr">
            <a:normAutofit/>
          </a:bodyPr>
          <a:lstStyle/>
          <a:p>
            <a:pPr algn="l">
              <a:spcAft>
                <a:spcPts val="0"/>
              </a:spcAft>
            </a:pPr>
            <a:r>
              <a:rPr lang="en-GB" sz="4400" b="1" i="0" dirty="0">
                <a:solidFill>
                  <a:srgbClr val="EA161F"/>
                </a:solidFill>
              </a:rPr>
              <a:t>1 line</a:t>
            </a:r>
            <a:r>
              <a:rPr lang="en-GB" sz="1500" b="0" i="0" dirty="0">
                <a:solidFill>
                  <a:srgbClr val="000000"/>
                </a:solidFill>
              </a:rPr>
              <a:t> per new site</a:t>
            </a:r>
          </a:p>
        </p:txBody>
      </p:sp>
      <p:sp>
        <p:nvSpPr>
          <p:cNvPr id="1025" name="TextBox 1025"/>
          <p:cNvSpPr txBox="1"/>
          <p:nvPr/>
        </p:nvSpPr>
        <p:spPr>
          <a:xfrm>
            <a:off x="8183880" y="4297680"/>
            <a:ext cx="3657600" cy="365760"/>
          </a:xfrm>
          <a:prstGeom prst="rect">
            <a:avLst/>
          </a:prstGeom>
          <a:noFill/>
        </p:spPr>
        <p:txBody>
          <a:bodyPr wrap="square" lIns="0" rIns="0" tIns="0" bIns="0" anchor="t">
            <a:normAutofit/>
          </a:bodyPr>
          <a:lstStyle/>
          <a:p>
            <a:pPr algn="l">
              <a:spcAft>
                <a:spcPts val="600"/>
              </a:spcAft>
            </a:pPr>
            <a:r>
              <a:rPr lang="en-GB" sz="1300" b="0" i="0" dirty="0">
                <a:solidFill>
                  <a:srgbClr val="63737B"/>
                </a:solidFill>
              </a:rPr>
              <a:t>then crawl, extract, verify, index</a:t>
            </a:r>
          </a:p>
        </p:txBody>
      </p:sp>
      <p:cxnSp>
        <p:nvCxnSpPr>
          <p:cNvPr id="1026" name="Connector 1026"/>
          <p:cNvCxnSpPr/>
          <p:nvPr/>
        </p:nvCxnSpPr>
        <p:spPr>
          <a:xfrm>
            <a:off x="8183880" y="5074920"/>
            <a:ext cx="640080" cy="0"/>
          </a:xfrm>
          <a:prstGeom prst="line">
            <a:avLst/>
          </a:prstGeom>
          <a:ln w="38100">
            <a:solidFill>
              <a:srgbClr val="B1B9BD"/>
            </a:solidFill>
          </a:ln>
        </p:spPr>
      </p:cxnSp>
      <p:sp>
        <p:nvSpPr>
          <p:cNvPr id="1027" name="TextBox 1027"/>
          <p:cNvSpPr txBox="1"/>
          <p:nvPr/>
        </p:nvSpPr>
        <p:spPr>
          <a:xfrm>
            <a:off x="9006840" y="48463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26 sites ready to add</a:t>
            </a:r>
          </a:p>
          <a:p>
            <a:pPr algn="l">
              <a:spcAft>
                <a:spcPts val="200"/>
              </a:spcAft>
            </a:pPr>
            <a:r>
              <a:rPr lang="en-GB" sz="1300" b="0" i="0" dirty="0">
                <a:solidFill>
                  <a:srgbClr val="63737B"/>
                </a:solidFill>
              </a:rPr>
              <a:t>listed in inventory/unibe_all.tsv</a:t>
            </a:r>
          </a:p>
        </p:txBody>
      </p:sp>
      <p:cxnSp>
        <p:nvCxnSpPr>
          <p:cNvPr id="1028" name="Connector 1028"/>
          <p:cNvCxnSpPr/>
          <p:nvPr/>
        </p:nvCxnSpPr>
        <p:spPr>
          <a:xfrm>
            <a:off x="8183880" y="5760720"/>
            <a:ext cx="640080" cy="0"/>
          </a:xfrm>
          <a:prstGeom prst="line">
            <a:avLst/>
          </a:prstGeom>
          <a:ln w="38100">
            <a:solidFill>
              <a:srgbClr val="B1B9BD"/>
            </a:solidFill>
          </a:ln>
        </p:spPr>
      </p:cxnSp>
      <p:sp>
        <p:nvSpPr>
          <p:cNvPr id="1029" name="TextBox 1029"/>
          <p:cNvSpPr txBox="1"/>
          <p:nvPr/>
        </p:nvSpPr>
        <p:spPr>
          <a:xfrm>
            <a:off x="9006840" y="5532120"/>
            <a:ext cx="2834640" cy="731520"/>
          </a:xfrm>
          <a:prstGeom prst="rect">
            <a:avLst/>
          </a:prstGeom>
          <a:noFill/>
        </p:spPr>
        <p:txBody>
          <a:bodyPr wrap="square" lIns="0" rIns="0" tIns="0" bIns="0" anchor="t">
            <a:normAutofit/>
          </a:bodyPr>
          <a:lstStyle/>
          <a:p>
            <a:pPr algn="l">
              <a:spcAft>
                <a:spcPts val="200"/>
              </a:spcAft>
            </a:pPr>
            <a:r>
              <a:rPr lang="en-GB" sz="1500" b="1" i="0" dirty="0">
                <a:solidFill>
                  <a:srgbClr val="000000"/>
                </a:solidFill>
              </a:rPr>
              <a:t>All 42 still fit</a:t>
            </a:r>
          </a:p>
          <a:p>
            <a:pPr algn="l">
              <a:spcAft>
                <a:spcPts val="200"/>
              </a:spcAft>
            </a:pPr>
            <a:r>
              <a:rPr lang="en-GB" sz="1300" b="0" i="0" dirty="0">
                <a:solidFill>
                  <a:srgbClr val="63737B"/>
                </a:solidFill>
              </a:rPr>
              <a:t>tens of thousands of chunks, still ms</a:t>
            </a:r>
          </a:p>
        </p:txBody>
      </p:sp>
    </p:spTree>
  </p:cSld>
  <p:clrMapOvr>
    <a:masterClrMapping/>
  </p:clrMapOvr>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