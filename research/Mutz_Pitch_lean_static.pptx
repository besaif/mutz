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301" r:id="rId46"/>
    <p:sldId id="291" r:id="rId36"/>
    <p:sldId id="292" r:id="rId37"/>
    <p:sldId id="293" r:id="rId38"/>
    <p:sldId id="294" r:id="rId39"/>
    <p:sldId id="295" r:id="rId40"/>
    <p:sldId id="296" r:id="rId41"/>
    <p:sldId id="297" r:id="rId42"/>
    <p:sldId id="298" r:id="rId43"/>
    <p:sldId id="299" r:id="rId44"/>
    <p:sldId id="300"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[4:40–4:45] Speaker A. Leave this slide up during Q&amp;A.</a:t>
            </a:r>
          </a:p>
          <a:p>
            <a:r>
              <a:t>"Want to try Mutz yourself? Scan the code. The login is mutz, the password bearlikeshoney, because that's what our bear likes. Or run it on your own laptop with this one command."</a:t>
            </a:r>
          </a:p>
          <a:p>
            <a:r>
              <a:t>Live demo is kept warm until 23:59 tonight. The docker image needs an Apertus key for the Keera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Before the demo: "Because these leads are confidential, Mutz runs on Apertus, on Swiss infrastructure. Salaries, revenue and contact details are struck out on our own machine before anything reaches Apertus at all. Let us show you."</a:t>
            </a:r>
          </a:p>
          <a:p/>
          <a:p>
            <a:r>
              <a:t>1. Case list: "This is the officer's Monday morning: every open lead and where it stands."</a:t>
            </a:r>
          </a:p>
          <a:p>
            <a:r>
              <a:t>2. Paste the one-pager: "Apertus reads the one-pager and pulls out what the company actually needs. Each need points back to the sentence it came from." (Point at the header: Apertus on CSCS, Switzerland.)</a:t>
            </a:r>
          </a:p>
          <a:p>
            <a:r>
              <a:t>3. Matches, click a reason: "For every need, Mutz ranks people and labs in Bern, with a plain reason. Click it, and the source page opens at the exact sentence." Pause.</a:t>
            </a:r>
          </a:p>
          <a:p>
            <a:r>
              <a:t>4. Accept two, reject one, export: "The officer decides. Accept, reject, and the pitch is ready, with every claim numbered and linked."</a:t>
            </a:r>
          </a:p>
          <a:p>
            <a:r>
              <a:t>5. Weak field (battery recycling): "And when Bern has nothing? Kei Honig im Topf. No honey in the pot. Mutz says so, and shows everything it searched."</a:t>
            </a:r>
          </a:p>
          <a:p>
            <a:r>
              <a:t>6. Optional, if there is time: the company sends more information, and Mutz re-checks only the needs that changed.</a:t>
            </a:r>
          </a:p>
          <a:p/>
          <a:p>
            <a:r>
              <a:t>Do not demo "add a source, then an alert": it is not built yet.</a:t>
            </a:r>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"Mutz is honest and trustworthy by design, with Apertus. 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"Bern's research should never sit idle. When a company sends more information, Mutz re-checks only what changed. Next, it'll do the same for every open case whenever new research comes in. And every search adds up: the word cloud and gap report show where Bern is strong, and where companies keep asking for something Bern doesn't have yet, so the canton can plan for it."</a:t>
            </a:r>
          </a:p>
          <a:p/>
          <a:p>
            <a:r>
              <a:t>HONESTY: re-evaluation on new company information is built. Alerts on new research are the next step and not built. Don't say they work today.</a:t>
            </a:r>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"Our results, on questions we never tuned on: in 21 out of 23, the right expert is in the top 10. Plain-language questions: 10 out of 11. And every one of our 19,631 facts links back to the page it came from."</a:t>
            </a:r>
          </a:p>
          <a:p/>
          <a:p>
            <a:r>
              <a:t>Numbers from the single held-out run on 19 Oct 2026 (data/eval/latest_heldout.json, logged in data/eval/heldout_runs.jsonl). 91% = questions with at least one right expert in the top 10. Recall@10 (share of all expected groups found) is 89%. Dev split, which we tuned on: 88%.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(the technical person).</a:t>
            </a:r>
          </a:p>
          <a:p/>
          <a:p>
            <a:r>
              <a:t>"We measured it on questions we never tuned on. 21 of 23 held-out questions have the right expert in the top 10. Plain-language questions: 10 of 11. No fact without a source. And here's our weakest category: funding. The one held-out funding question is missed by search; in the app, funding needs are answered from a checked list of Bern programmes."</a:t>
            </a:r>
          </a:p>
          <a:p/>
          <a:p>
            <a:r>
              <a:t>If asked:</a:t>
            </a:r>
          </a:p>
          <a:p>
            <a:r>
              <a:t>- Recall@10: held-out 89%, dev 88%, synthetic 68% (47 lay queries Apertus wrote for single small units; harder, and optimistic because Apertus also expands our queries).</a:t>
            </a:r>
          </a:p>
          <a:p>
            <a:r>
              <a:t>- Held-out misses: tc12 "AI to plan cancer radiation treatment" (those affiliated groups are only listed on an ARTORG index page that links to Insel pages we don't crawl), tc22 startup funding, tc25 contact details for the head of MSL.</a:t>
            </a:r>
          </a:p>
          <a:p>
            <a:r>
              <a:t>- 19,631 facts: 19,630 carry a quote verified on the page; one unit name comes from the page URL. Reasons shown in results: 100% quote their page.</a:t>
            </a:r>
          </a:p>
          <a:p>
            <a:r>
              <a:t>- Weakest sources on held-out: ARTORG and DCB, 67% each.</a:t>
            </a:r>
          </a:p>
          <a:p/>
          <a:p>
            <a:r>
              <a:t>Only offer the live question if the "no match" path is solid.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"Remember: 'we cannot put it onto any model.' So we drew a hard line. Anything confidential, the one-pager and the officer's notes, only goes to Apertus, the Swiss open model, running at CSCS in Switzerland. Salaries, revenue and contact details are struck out locally before that. The other models, the embeddings and the reranker, run inside our own container: no third-party model API at all.</a:t>
            </a:r>
          </a:p>
          <a:p/>
          <a:p>
            <a:r>
              <a:t>For the agency, that's not a compliance checkbox. It's the reason this tool can exist at all."</a:t>
            </a:r>
          </a:p>
          <a:p/>
          <a:p>
            <a:r>
              <a:t>Expert note: every gateway call is logged with model and token counts (logs/gateway.jsonl). The shared demo runs on Cloud Run in europe-west6 (Zurich); in production the agency would host the container itself.</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"With 300 leads a year, the officer needs more than a search box. Here's the case list: new, triaged, pitched, visit, won or lost.</a:t>
            </a:r>
          </a:p>
          <a:p/>
          <a:p>
            <a:r>
              <a:t>Today, when a company sends more information, Mutz re-checks only the needs that changed. The next step is the alert on the right: add a source or re-crawl, and every open case is re-checked, with a note like 'New archive checked. 2 open cases have new matches.'"</a:t>
            </a:r>
          </a:p>
          <a:p/>
          <a:p>
            <a:r>
              <a:t>HONESTY: the alert is a mock-up of the next step. It is not built; don't demo it.</a:t>
            </a:r>
          </a:p>
          <a:p/>
          <a:p>
            <a:r>
              <a:t>How we'd build it: after each ingest, re-run every open case's needs, diff the top 10 and coverage against a stored snapshot, and raise an alert on new entries or a coverage upgrade.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"Every search leaves a trace. Flip them around and you get two things the agency has never had.</a:t>
            </a:r>
          </a:p>
          <a:p/>
          <a:p>
            <a:r>
              <a:t>Left: a word cloud of Bern's expertise. The bigger the word, the more verified pages back it.</a:t>
            </a:r>
          </a:p>
          <a:p/>
          <a:p>
            <a:r>
              <a:t>Right: a gap report. Every empty honey pot is a data point. In our test data, battery technology came up in 9 leads and every one ended in an empty pot. That is information for the canton's economic strategy."</a:t>
            </a:r>
          </a:p>
          <a:p/>
          <a:p>
            <a:r>
              <a:t>HONESTY: the bars come from the Insights screen, and 62 of its 81 leads are seeded demo leads, so say it's test data. Small batch manufacturing (18 empty of 26) may be a source we haven't crawled rather than a real gap in Bern; Insights flags it that way.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"Scaling to all of Bern doesn't need new code. A new archive is six lines of config, and the Archives screen writes them for you from a URL. We started with life science and medtech, because that's where the agency told us Bern is strongest.</a:t>
            </a:r>
          </a:p>
          <a:p/>
          <a:p>
            <a:r>
              <a:t>A search for one need takes about ten seconds, and a full case costs about 35,000 Apertus tokens."</a:t>
            </a:r>
          </a:p>
          <a:p/>
          <a:p>
            <a:r>
              <a:t>Measured: ≈10 s is the mean search time per question in the held-out eval (9.7 s; dev 6.5 s), with gateway answers partly cached. ≈35k tokens is an estimate from logs/gateway.jsonl averages: needs extraction ~2.1k, ~6.4k per need (expansion plus 14 Apertus grading calls) for ~4 needs, pitch ~7.7k.</a:t>
            </a:r>
          </a:p>
          <a:p>
            <a:r>
              <a:t>Hours saved per case are not measured. Time a manual search against the tool on 3 cases before claiming any.</a:t>
            </a:r>
          </a:p>
          <a:p>
            <a:r>
              <a:t>www.sitem-insel.ch redirects to sitem-insel.ch, so the entry uses the bare domain.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075025" y="297072"/>
            <a:ext cx="2743200" cy="167640"/>
          </a:xfrm>
          <a:prstGeom prst="rect">
            <a:avLst/>
          </a:prstGeom>
        </p:spPr>
        <p:txBody>
          <a:bodyPr vert="horz" lIns="0" tIns="0" rIns="0" bIns="0" rtlCol="0" anchor="t" anchorCtr="0"/>
          <a:lstStyle>
            <a:lvl1pPr algn="r">
              <a:defRPr sz="110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6452928"/>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dt="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5.xml"/><Relationship Id="rId9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0.png"/><Relationship Id="rId3" Type="http://schemas.openxmlformats.org/officeDocument/2006/relationships/notesSlide" Target="../notesSlides/notesSlide8.xml"/><Relationship Id="rId90" Type="http://schemas.openxmlformats.org/officeDocument/2006/relationships/image" Target="../media/apertus_logo.png"/><Relationship Id="rId91" Type="http://schemas.openxmlformats.org/officeDocument/2006/relationships/image" Target="../media/hf_logo.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Our Bärner Mutz</a:t>
            </a:r>
          </a:p>
        </p:txBody>
      </p:sp>
      <p:pic>
        <p:nvPicPr>
          <p:cNvPr id="906" name="Mutz (rise)" descr="rise-last.png"/>
          <p:cNvPicPr>
            <a:picLocks noChangeAspect="1"/>
          </p:cNvPicPr>
          <p:nvPr/>
        </p:nvPicPr>
        <p:blipFill>
          <a:blip r:embed="rId2"/>
          <a:stretch>
            <a:fillRect/>
          </a:stretch>
        </p:blipFill>
        <p:spPr>
          <a:xfrm>
            <a:off x="7269480" y="1143000"/>
            <a:ext cx="4480560" cy="44805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pic>
        <p:nvPicPr>
          <p:cNvPr id="907" name="Mutz (splash)" descr="splash-last.png"/>
          <p:cNvPicPr>
            <a:picLocks noChangeAspect="1"/>
          </p:cNvPicPr>
          <p:nvPr/>
        </p:nvPicPr>
        <p:blipFill>
          <a:blip r:embed="rId2"/>
          <a:stretch>
            <a:fillRect/>
          </a:stretch>
        </p:blipFill>
        <p:spPr>
          <a:xfrm>
            <a:off x="6126480" y="868680"/>
            <a:ext cx="5852160" cy="5852160"/>
          </a:xfrm>
          <a:prstGeom prst="rect">
            <a:avLst/>
          </a:prstGeom>
        </p:spPr>
      </p:pic>
      <p:sp>
        <p:nvSpPr>
          <p:cNvPr id="908" name="Challenge owner label"/>
          <p:cNvSpPr txBox="1"/>
          <p:nvPr/>
        </p:nvSpPr>
        <p:spPr>
          <a:xfrm>
            <a:off x="73189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9" name="Bern Economic Development Agency logo" descr="Bern Economic Development Agency"/>
          <p:cNvPicPr>
            <a:picLocks noChangeAspect="1"/>
          </p:cNvPicPr>
          <p:nvPr/>
        </p:nvPicPr>
        <p:blipFill>
          <a:blip r:embed="rId91"/>
          <a:stretch>
            <a:fillRect/>
          </a:stretch>
        </p:blipFill>
        <p:spPr>
          <a:xfrm>
            <a:off x="88003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sniff)" descr="sniff-last.png"/>
          <p:cNvPicPr>
            <a:picLocks noChangeAspect="1"/>
          </p:cNvPicPr>
          <p:nvPr/>
        </p:nvPicPr>
        <p:blipFill>
          <a:blip r:embed="rId2"/>
          <a:stretch>
            <a:fillRect/>
          </a:stretch>
        </p:blipFill>
        <p:spPr>
          <a:xfrm>
            <a:off x="7680960" y="1417320"/>
            <a:ext cx="3977639" cy="397763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and trustworthy by design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pots)" descr="pots-last.png"/>
          <p:cNvPicPr>
            <a:picLocks noChangeAspect="1"/>
          </p:cNvPicPr>
          <p:nvPr/>
        </p:nvPicPr>
        <p:blipFill>
          <a:blip r:embed="rId2"/>
          <a:stretch>
            <a:fillRect/>
          </a:stretch>
        </p:blipFill>
        <p:spPr>
          <a:xfrm>
            <a:off x="841248" y="2377440"/>
            <a:ext cx="10972800" cy="2011680"/>
          </a:xfrm>
          <a:prstGeom prst="rect">
            <a:avLst/>
          </a:prstGeom>
        </p:spPr>
      </p:pic>
      <p:sp>
        <p:nvSpPr>
          <p:cNvPr id="904" name="TextBox 903"/>
          <p:cNvSpPr txBox="1"/>
          <p:nvPr/>
        </p:nvSpPr>
        <p:spPr>
          <a:xfrm>
            <a:off x="84124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572001"/>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Honig</a:t>
            </a:r>
          </a:p>
        </p:txBody>
      </p:sp>
      <p:sp>
        <p:nvSpPr>
          <p:cNvPr id="907" name="TextBox 906"/>
          <p:cNvSpPr txBox="1"/>
          <p:nvPr/>
        </p:nvSpPr>
        <p:spPr>
          <a:xfrm>
            <a:off x="841248" y="5623561"/>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
        <p:nvSpPr>
          <p:cNvPr id="908" name="With Apertus text"/>
          <p:cNvSpPr txBox="1"/>
          <p:nvPr/>
        </p:nvSpPr>
        <p:spPr>
          <a:xfrm>
            <a:off x="838200" y="1783080"/>
            <a:ext cx="731520" cy="429768"/>
          </a:xfrm>
          <a:prstGeom prst="rect">
            <a:avLst/>
          </a:prstGeom>
          <a:noFill/>
        </p:spPr>
        <p:txBody>
          <a:bodyPr wrap="none" lIns="0" rIns="0" tIns="0" bIns="0" anchor="t"/>
          <a:lstStyle/>
          <a:p>
            <a:pPr algn="l">
              <a:spcAft>
                <a:spcPts val="0"/>
              </a:spcAft>
            </a:pPr>
            <a:r>
              <a:rPr lang="en-GB" sz="2800" b="0" i="0">
                <a:solidFill>
                  <a:srgbClr val="000000"/>
                </a:solidFill>
              </a:rPr>
              <a:t>with</a:t>
            </a:r>
          </a:p>
        </p:txBody>
      </p:sp>
      <p:pic>
        <p:nvPicPr>
          <p:cNvPr id="909" name="Apertus logo" descr="Apertus"/>
          <p:cNvPicPr>
            <a:picLocks noChangeAspect="1"/>
          </p:cNvPicPr>
          <p:nvPr/>
        </p:nvPicPr>
        <p:blipFill>
          <a:blip r:embed="rId90"/>
          <a:stretch>
            <a:fillRect/>
          </a:stretch>
        </p:blipFill>
        <p:spPr>
          <a:xfrm>
            <a:off x="1578864" y="1850280"/>
            <a:ext cx="2591837" cy="254000"/>
          </a:xfrm>
          <a:prstGeom prst="rect">
            <a:avLst/>
          </a:prstGeom>
        </p:spPr>
      </p:pic>
      <p:sp>
        <p:nvSpPr>
          <p:cNvPr id="910" name="And Hugging Face text"/>
          <p:cNvSpPr txBox="1"/>
          <p:nvPr/>
        </p:nvSpPr>
        <p:spPr>
          <a:xfrm>
            <a:off x="4278700" y="1783080"/>
            <a:ext cx="640080" cy="429768"/>
          </a:xfrm>
          <a:prstGeom prst="rect">
            <a:avLst/>
          </a:prstGeom>
          <a:noFill/>
        </p:spPr>
        <p:txBody>
          <a:bodyPr wrap="none" lIns="0" rIns="0" tIns="0" bIns="0" anchor="t"/>
          <a:lstStyle/>
          <a:p>
            <a:pPr algn="l">
              <a:spcAft>
                <a:spcPts val="0"/>
              </a:spcAft>
            </a:pPr>
            <a:r>
              <a:rPr lang="en-GB" sz="2800" b="0" i="0">
                <a:solidFill>
                  <a:srgbClr val="000000"/>
                </a:solidFill>
              </a:rPr>
              <a:t>and</a:t>
            </a:r>
          </a:p>
        </p:txBody>
      </p:sp>
      <p:pic>
        <p:nvPicPr>
          <p:cNvPr id="911" name="Hugging Face logo" descr="Hugging Face"/>
          <p:cNvPicPr>
            <a:picLocks noChangeAspect="1"/>
          </p:cNvPicPr>
          <p:nvPr/>
        </p:nvPicPr>
        <p:blipFill>
          <a:blip r:embed="rId91"/>
          <a:stretch>
            <a:fillRect/>
          </a:stretch>
        </p:blipFill>
        <p:spPr>
          <a:xfrm>
            <a:off x="4980000" y="1708446"/>
            <a:ext cx="2420717" cy="5486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lert)" descr="alert-last.png"/>
          <p:cNvPicPr>
            <a:picLocks noChangeAspect="1"/>
          </p:cNvPicPr>
          <p:nvPr/>
        </p:nvPicPr>
        <p:blipFill>
          <a:blip r:embed="rId2"/>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Re-check, then 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company info re-checks what changed. Next: alerts when new research appears.</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91%</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10/11</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plain-language questions</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23 held-out questions we never tuned on. 0 of 19,631 facts lack a source.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5" name="Challenge owner label"/>
          <p:cNvSpPr txBox="1"/>
          <p:nvPr/>
        </p:nvSpPr>
        <p:spPr>
          <a:xfrm>
            <a:off x="77761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6" name="Bern Economic Development Agency logo" descr="Bern Economic Development Agency"/>
          <p:cNvPicPr>
            <a:picLocks noChangeAspect="1"/>
          </p:cNvPicPr>
          <p:nvPr/>
        </p:nvPicPr>
        <p:blipFill>
          <a:blip r:embed="rId3"/>
          <a:stretch>
            <a:fillRect/>
          </a:stretch>
        </p:blipFill>
        <p:spPr>
          <a:xfrm>
            <a:off x="92575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Mutz yourself</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Scan header"/>
          <p:cNvSpPr txBox="1"/>
          <p:nvPr/>
        </p:nvSpPr>
        <p:spPr>
          <a:xfrm>
            <a:off x="841248" y="1874519"/>
            <a:ext cx="5486400" cy="365760"/>
          </a:xfrm>
          <a:prstGeom prst="rect">
            <a:avLst/>
          </a:prstGeom>
          <a:noFill/>
        </p:spPr>
        <p:txBody>
          <a:bodyPr wrap="square" lIns="0" rIns="0" tIns="0" bIns="0">
            <a:spAutoFit/>
          </a:bodyPr>
          <a:lstStyle/>
          <a:p>
            <a:pPr>
              <a:spcAft>
                <a:spcPts val="600"/>
              </a:spcAft>
            </a:pPr>
            <a:r>
              <a:rPr sz="1600" b="1">
                <a:solidFill>
                  <a:srgbClr val="000000"/>
                </a:solidFill>
              </a:rPr>
              <a:t>Scan to open the live demo</a:t>
            </a:r>
          </a:p>
        </p:txBody>
      </p:sp>
      <p:pic>
        <p:nvPicPr>
          <p:cNvPr id="908" name="QR live demo" descr="qr-live-demo.png"/>
          <p:cNvPicPr>
            <a:picLocks noChangeAspect="1"/>
          </p:cNvPicPr>
          <p:nvPr/>
        </p:nvPicPr>
        <p:blipFill>
          <a:blip r:embed="rId2"/>
          <a:stretch>
            <a:fillRect/>
          </a:stretch>
        </p:blipFill>
        <p:spPr>
          <a:xfrm>
            <a:off x="731520" y="2286000"/>
            <a:ext cx="2743200" cy="2743200"/>
          </a:xfrm>
          <a:prstGeom prst="rect">
            <a:avLst/>
          </a:prstGeom>
        </p:spPr>
      </p:pic>
      <p:sp>
        <p:nvSpPr>
          <p:cNvPr id="909" name="Login"/>
          <p:cNvSpPr txBox="1"/>
          <p:nvPr/>
        </p:nvSpPr>
        <p:spPr>
          <a:xfrm>
            <a:off x="3611880" y="2514600"/>
            <a:ext cx="2743200" cy="2194560"/>
          </a:xfrm>
          <a:prstGeom prst="rect">
            <a:avLst/>
          </a:prstGeom>
          <a:noFill/>
        </p:spPr>
        <p:txBody>
          <a:bodyPr wrap="square" lIns="0" rIns="0" tIns="0" bIns="0">
            <a:spAutoFit/>
          </a:bodyPr>
          <a:lstStyle/>
          <a:p>
            <a:pPr>
              <a:spcAft>
                <a:spcPts val="400"/>
              </a:spcAft>
            </a:pPr>
            <a:r>
              <a:rPr sz="1400" b="0">
                <a:solidFill>
                  <a:srgbClr val="6E7A80"/>
                </a:solidFill>
              </a:rPr>
              <a:t>Login</a:t>
            </a:r>
          </a:p>
          <a:p>
            <a:pPr>
              <a:spcAft>
                <a:spcPts val="400"/>
              </a:spcAft>
            </a:pPr>
            <a:r>
              <a:rPr sz="2800" b="1">
                <a:solidFill>
                  <a:srgbClr val="EA161F"/>
                </a:solidFill>
              </a:rPr>
              <a:t>mutz</a:t>
            </a:r>
          </a:p>
          <a:p>
            <a:pPr>
              <a:spcAft>
                <a:spcPts val="400"/>
              </a:spcAft>
            </a:pPr>
            <a:r>
              <a:rPr sz="1400" b="0">
                <a:solidFill>
                  <a:srgbClr val="6E7A80"/>
                </a:solidFill>
              </a:rPr>
              <a:t>Password</a:t>
            </a:r>
          </a:p>
          <a:p>
            <a:pPr>
              <a:spcAft>
                <a:spcPts val="400"/>
              </a:spcAft>
            </a:pPr>
            <a:r>
              <a:rPr sz="2200" b="1">
                <a:solidFill>
                  <a:srgbClr val="EA161F"/>
                </a:solidFill>
              </a:rPr>
              <a:t>bearlikeshoney</a:t>
            </a:r>
          </a:p>
        </p:txBody>
      </p:sp>
      <p:sp>
        <p:nvSpPr>
          <p:cNvPr id="910" name="Demo URL"/>
          <p:cNvSpPr txBox="1"/>
          <p:nvPr/>
        </p:nvSpPr>
        <p:spPr>
          <a:xfrm>
            <a:off x="841248" y="5120640"/>
            <a:ext cx="5486400" cy="365760"/>
          </a:xfrm>
          <a:prstGeom prst="rect">
            <a:avLst/>
          </a:prstGeom>
          <a:noFill/>
        </p:spPr>
        <p:txBody>
          <a:bodyPr wrap="square" lIns="0" rIns="0" tIns="0" bIns="0">
            <a:spAutoFit/>
          </a:bodyPr>
          <a:lstStyle/>
          <a:p>
            <a:pPr>
              <a:spcAft>
                <a:spcPts val="600"/>
              </a:spcAft>
            </a:pPr>
            <a:r>
              <a:rPr sz="1200" b="0">
                <a:solidFill>
                  <a:srgbClr val="6E7A80"/>
                </a:solidFill>
              </a:rPr>
              <a:t>mutz-117983845448.europe-west6.run.app</a:t>
            </a:r>
          </a:p>
        </p:txBody>
      </p:sp>
      <p:sp>
        <p:nvSpPr>
          <p:cNvPr id="911" name="Run header"/>
          <p:cNvSpPr txBox="1"/>
          <p:nvPr/>
        </p:nvSpPr>
        <p:spPr>
          <a:xfrm>
            <a:off x="7086600" y="1874519"/>
            <a:ext cx="4754880" cy="365760"/>
          </a:xfrm>
          <a:prstGeom prst="rect">
            <a:avLst/>
          </a:prstGeom>
          <a:noFill/>
        </p:spPr>
        <p:txBody>
          <a:bodyPr wrap="square" lIns="0" rIns="0" tIns="0" bIns="0">
            <a:spAutoFit/>
          </a:bodyPr>
          <a:lstStyle/>
          <a:p>
            <a:pPr>
              <a:spcAft>
                <a:spcPts val="600"/>
              </a:spcAft>
            </a:pPr>
            <a:r>
              <a:rPr sz="1600" b="1">
                <a:solidFill>
                  <a:srgbClr val="000000"/>
                </a:solidFill>
              </a:rPr>
              <a:t>Or run it on your own machine</a:t>
            </a:r>
          </a:p>
        </p:txBody>
      </p:sp>
      <p:sp>
        <p:nvSpPr>
          <p:cNvPr id="912" name="Command box"/>
          <p:cNvSpPr/>
          <p:nvPr/>
        </p:nvSpPr>
        <p:spPr>
          <a:xfrm>
            <a:off x="7086600" y="2331720"/>
            <a:ext cx="4754880"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Command"/>
          <p:cNvSpPr txBox="1"/>
          <p:nvPr/>
        </p:nvSpPr>
        <p:spPr>
          <a:xfrm>
            <a:off x="7315200" y="2560320"/>
            <a:ext cx="4389120" cy="1188720"/>
          </a:xfrm>
          <a:prstGeom prst="rect">
            <a:avLst/>
          </a:prstGeom>
          <a:noFill/>
        </p:spPr>
        <p:txBody>
          <a:bodyPr wrap="square" lIns="0" rIns="0" tIns="0" bIns="0">
            <a:spAutoFit/>
          </a:bodyPr>
          <a:lstStyle/>
          <a:p>
            <a:pPr>
              <a:spcAft>
                <a:spcPts val="800"/>
              </a:spcAft>
            </a:pPr>
            <a:r>
              <a:rPr sz="1500" b="0">
                <a:solidFill>
                  <a:srgbClr val="FFFFFF"/>
                </a:solidFill>
                <a:latin typeface="Courier New"/>
              </a:rPr>
              <a:t>docker run -p 8000:8000 \</a:t>
            </a:r>
          </a:p>
          <a:p>
            <a:pPr>
              <a:spcAft>
                <a:spcPts val="800"/>
              </a:spcAft>
            </a:pPr>
            <a:r>
              <a:rPr sz="1500" b="0">
                <a:solidFill>
                  <a:srgbClr val="FFFFFF"/>
                </a:solidFill>
                <a:latin typeface="Courier New"/>
              </a:rPr>
              <a:t>  -e KEERA_API_KEY=&lt;your key&gt; \</a:t>
            </a:r>
          </a:p>
          <a:p>
            <a:pPr>
              <a:spcAft>
                <a:spcPts val="800"/>
              </a:spcAft>
            </a:pPr>
            <a:r>
              <a:rPr sz="1500" b="0">
                <a:solidFill>
                  <a:srgbClr val="FFFFFF"/>
                </a:solidFill>
                <a:latin typeface="Courier New"/>
              </a:rPr>
              <a:t>  ghcr.io/besaif/mutz</a:t>
            </a:r>
          </a:p>
        </p:txBody>
      </p:sp>
      <p:sp>
        <p:nvSpPr>
          <p:cNvPr id="914" name="Run details"/>
          <p:cNvSpPr txBox="1"/>
          <p:nvPr/>
        </p:nvSpPr>
        <p:spPr>
          <a:xfrm>
            <a:off x="7086600" y="4023360"/>
            <a:ext cx="4754880" cy="1463040"/>
          </a:xfrm>
          <a:prstGeom prst="rect">
            <a:avLst/>
          </a:prstGeom>
          <a:noFill/>
        </p:spPr>
        <p:txBody>
          <a:bodyPr wrap="square" lIns="0" rIns="0" tIns="0" bIns="0">
            <a:spAutoFit/>
          </a:bodyPr>
          <a:lstStyle/>
          <a:p>
            <a:pPr>
              <a:spcAft>
                <a:spcPts val="1000"/>
              </a:spcAft>
            </a:pPr>
            <a:r>
              <a:rPr sz="1500" b="0">
                <a:solidFill>
                  <a:srgbClr val="000000"/>
                </a:solidFill>
              </a:rPr>
              <a:t>Then open </a:t>
            </a:r>
            <a:r>
              <a:rPr sz="1500" b="1">
                <a:solidFill>
                  <a:srgbClr val="000000"/>
                </a:solidFill>
              </a:rPr>
              <a:t>localhost:8000</a:t>
            </a:r>
          </a:p>
          <a:p>
            <a:pPr>
              <a:spcAft>
                <a:spcPts val="1000"/>
              </a:spcAft>
            </a:pPr>
            <a:r>
              <a:rPr sz="1500" b="0">
                <a:solidFill>
                  <a:srgbClr val="000000"/>
                </a:solidFill>
              </a:rPr>
              <a:t>Data and search models included</a:t>
            </a:r>
          </a:p>
          <a:p>
            <a:pPr>
              <a:spcAft>
                <a:spcPts val="1000"/>
              </a:spcAft>
            </a:pPr>
            <a:r>
              <a:rPr sz="1500" b="0">
                <a:solidFill>
                  <a:srgbClr val="000000"/>
                </a:solidFill>
              </a:rPr>
              <a:t>Code: </a:t>
            </a:r>
            <a:r>
              <a:rPr sz="1500" b="1">
                <a:solidFill>
                  <a:srgbClr val="000000"/>
                </a:solidFill>
              </a:rPr>
              <a:t>github.com/beSaif/mutz</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91%</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(21 of 23)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10/11</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plain-language questions find the right expert, no jargon needed</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19,631 facts without a link to their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0%</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funding (1 question; the app answers it from a curated list).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84 hand-written test cases (55 to tune on, 29 held out and hash-locked) plus 47 synthetic. Hybrid search (BM25 + BGE-M3, fused with RRF), cross-encoder rerank, Apertus 70B grading,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Local models</a:t>
            </a:r>
          </a:p>
          <a:p>
            <a:pPr algn="l">
              <a:spcAft>
                <a:spcPts val="400"/>
              </a:spcAft>
            </a:pPr>
            <a:r>
              <a:rPr sz="1400" b="0" i="0">
                <a:solidFill>
                  <a:srgbClr val="63737B"/>
                </a:solidFill>
              </a:rPr>
              <a:t>Embeddings and reranker, inside our container</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lert)" descr="alert-last.png"/>
          <p:cNvPicPr>
            <a:picLocks noChangeAspect="1"/>
          </p:cNvPicPr>
          <p:nvPr/>
        </p:nvPicPr>
        <p:blipFill>
          <a:blip r:embed="rId5"/>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Next step: “New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Planned: add a source or re-crawl, and every open case is re-checked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 (test data, 81 leads)</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Small batch manufacturing</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1"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18</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8" name="Rectangle 927"/>
          <p:cNvSpPr/>
          <p:nvPr/>
        </p:nvSpPr>
        <p:spPr>
          <a:xfrm>
            <a:off x="9098280" y="3584448"/>
            <a:ext cx="893825"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083545"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9</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Cosmetics and packaging</a:t>
            </a:r>
          </a:p>
        </p:txBody>
      </p:sp>
      <p:sp>
        <p:nvSpPr>
          <p:cNvPr id="931" name="Rectangle 930"/>
          <p:cNvSpPr/>
          <p:nvPr/>
        </p:nvSpPr>
        <p:spPr>
          <a:xfrm>
            <a:off x="9098280" y="4270248"/>
            <a:ext cx="595883"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785603"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6</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"id": "sitem_insel",</a:t>
            </a:r>
          </a:p>
          <a:p>
            <a:pPr algn="l">
              <a:spcAft>
                <a:spcPts val="800"/>
              </a:spcAft>
            </a:pPr>
            <a:r>
              <a:rPr sz="1500" b="0" i="0">
                <a:solidFill>
                  <a:srgbClr val="FFFFFF"/>
                </a:solidFill>
                <a:latin typeface="Courier New"/>
              </a:rPr>
              <a:t>"seeds": ["https://sitem-insel.ch/"],</a:t>
            </a:r>
          </a:p>
          <a:p>
            <a:pPr algn="l">
              <a:spcAft>
                <a:spcPts val="800"/>
              </a:spcAft>
            </a:pPr>
            <a:r>
              <a:rPr sz="1500" b="0" i="0">
                <a:solidFill>
                  <a:srgbClr val="FFFFFF"/>
                </a:solidFill>
                <a:latin typeface="Courier New"/>
              </a:rPr>
              <a:t>"allow": ["sitem-insel.ch"],</a:t>
            </a:r>
          </a:p>
          <a:p>
            <a:pPr algn="l">
              <a:spcAft>
                <a:spcPts val="800"/>
              </a:spcAft>
            </a:pPr>
            <a:r>
              <a:rPr sz="1500" b="0" i="0">
                <a:solidFill>
                  <a:srgbClr val="FFFFFF"/>
                </a:solidFill>
                <a:latin typeface="Courier New"/>
              </a:rPr>
              <a:t>"include": [],</a:t>
            </a:r>
          </a:p>
          <a:p>
            <a:pPr algn="l">
              <a:spcAft>
                <a:spcPts val="800"/>
              </a:spcAft>
            </a:pPr>
            <a:r>
              <a:rPr sz="1500" b="0" i="0">
                <a:solidFill>
                  <a:srgbClr val="FFFFFF"/>
                </a:solidFill>
                <a:latin typeface="Courier New"/>
              </a:rPr>
              <a:t>"exclude": ["/news/", "/search", "/print"],</a:t>
            </a:r>
          </a:p>
          <a:p>
            <a:pPr algn="l">
              <a:spcAft>
                <a:spcPts val="800"/>
              </a:spcAft>
            </a:pPr>
            <a:r>
              <a:rPr sz="1500" b="0" i="0">
                <a:solidFill>
                  <a:srgbClr val="FFFFFF"/>
                </a:solidFill>
                <a:latin typeface="Courier New"/>
              </a:rPr>
              <a:t>"max_pages": 400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Next: every open case re-checked automatically.</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 10 s</a:t>
            </a:r>
            <a:r>
              <a:rPr sz="1600" b="0" i="0">
                <a:solidFill>
                  <a:srgbClr val="000000"/>
                </a:solidFill>
              </a:rPr>
              <a:t>  per need search</a:t>
            </a:r>
          </a:p>
          <a:p>
            <a:pPr algn="l">
              <a:spcAft>
                <a:spcPts val="400"/>
              </a:spcAft>
            </a:pPr>
            <a:r>
              <a:rPr sz="1600" b="0" i="0">
                <a:solidFill>
                  <a:srgbClr val="000000"/>
                </a:solidFill>
              </a:rPr>
              <a:t>measured on our held-out questions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 35k tokens</a:t>
            </a:r>
            <a:r>
              <a:rPr sz="1500" b="0" i="0">
                <a:solidFill>
                  <a:srgbClr val="000000"/>
                </a:solidFill>
              </a:rPr>
              <a:t> per case on Apertus (estimate)</a:t>
            </a:r>
          </a:p>
          <a:p>
            <a:pPr algn="l">
              <a:spcAft>
                <a:spcPts val="1000"/>
              </a:spcAft>
            </a:pPr>
            <a:r>
              <a:rPr sz="1500" b="1" i="0">
                <a:solidFill>
                  <a:srgbClr val="000000"/>
                </a:solidFill>
              </a:rPr>
              <a:t>3,026 pages</a:t>
            </a:r>
            <a:r>
              <a:rPr sz="1500" b="0" i="0">
                <a:solidFill>
                  <a:srgbClr val="000000"/>
                </a:solidFill>
              </a:rPr>
              <a:t> crawled across 16 sources</a:t>
            </a:r>
          </a:p>
          <a:p>
            <a:pPr algn="l">
              <a:spcAft>
                <a:spcPts val="1000"/>
              </a:spcAft>
            </a:pPr>
            <a:r>
              <a:rPr sz="1500" b="1" i="0">
                <a:solidFill>
                  <a:srgbClr val="000000"/>
                </a:solidFill>
              </a:rPr>
              <a:t>Apertus on CSCS, search runs on a laptop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sources.json</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Apertus 70B lay terms,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Apertus grade,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Brüningk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I have no page about Prof. Brüningk in our 16 archives.</a:t>
            </a:r>
          </a:p>
          <a:p>
            <a:pPr algn="l">
              <a:spcAft>
                <a:spcPts val="800"/>
              </a:spcAft>
            </a:pPr>
            <a:r>
              <a:rPr sz="1500" b="0" i="0">
                <a:solidFill>
                  <a:srgbClr val="000000"/>
                </a:solidFill>
              </a:rPr>
              <a:t>Their profile may be on a site we do not crawl.</a:t>
            </a:r>
          </a:p>
          <a:p>
            <a:pPr algn="l">
              <a:spcAft>
                <a:spcPts val="800"/>
              </a:spcAft>
            </a:pPr>
            <a:r>
              <a:rPr sz="1500" b="0" i="0">
                <a:solidFill>
                  <a:srgbClr val="EA161F"/>
                </a:solidFill>
              </a:rPr>
              <a:t>Propose their profile page as a source</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