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Script to be planned. Demo beats, in order:</a:t>
            </a:r>
          </a:p>
          <a:p>
            <a:r>
              <a:t>1. Case list: the officer's Monday morning.</a:t>
            </a:r>
          </a:p>
          <a:p>
            <a:r>
              <a:t>2. Paste the one-pager: Apertus pulls out the needs.</a:t>
            </a:r>
          </a:p>
          <a:p>
            <a:r>
              <a:t>3. Matches with a plain reason. CLICK A REASON: the source page opens at the exact sentence. Pause.</a:t>
            </a:r>
          </a:p>
          <a:p>
            <a:r>
              <a:t>4. Accept two, reject one. Export the CEO teaser.</a:t>
            </a:r>
          </a:p>
          <a:p>
            <a:r>
              <a:t>5. Weak field ("battery recycling"): empty honey pot, "Kei Hung im Topf".</a:t>
            </a:r>
          </a:p>
          <a:p>
            <a:r>
              <a:t>6. Add a source: Mutz alert, "2 open cases have new matches".</a:t>
            </a:r>
          </a:p>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"Mutz doesn't stop after one search. When new research appears, every open case is re-checked and the officer gets an alert. And every search adds up: a word cloud of what Bern is strong in, and a report of what companies ask for that Bern doesn't have yet. That's input for the canton's economic strategy."</a:t>
            </a:r>
          </a:p>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"Here are our results, measured on questions we never tuned on. [XX]% of the time the right expert is in the top 10. Lay words and expert jargon find the same people [XX]% of the time. And zero facts without a source."</a:t>
            </a:r>
          </a:p>
          <a:p/>
          <a:p>
            <a:r>
              <a:t>Replace every [XX] with the numbers from your single held-out run. Change "0" only if your verifier really measured 0 of N.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[3:40–4:05] Speaker B (the technical person).</a:t>
            </a:r>
          </a:p>
          <a:p/>
          <a:p>
            <a:r>
              <a:t>"Most teams will tell you their system works. We measured it, on questions we never tuned on.</a:t>
            </a:r>
          </a:p>
          <a:p/>
          <a:p>
            <a:r>
              <a:t>[XX]% of the time the right expert is in the top 10. Lay words and expert jargon find the same people [XX]% of the time. Zero of [N] facts without a verified quote. And here's our weakest category, because you should know where it struggles.</a:t>
            </a:r>
          </a:p>
          <a:p/>
          <a:p>
            <a:r>
              <a:t>If you want, type your own question right now."</a:t>
            </a:r>
          </a:p>
          <a:p/>
          <a:p>
            <a:r>
              <a:t>Beginners: "8 times out of 10, the right person is on the first page" (adapt to your number).</a:t>
            </a:r>
          </a:p>
          <a:p>
            <a:r>
              <a:t>Only offer the live question if the 'no match' path is solid. Replace ALL [XX] / [N] with the numbers from the single held-out run after the freeze. Never round up.</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[4:05–4:25] Speaker A.</a:t>
            </a:r>
          </a:p>
          <a:p/>
          <a:p>
            <a:r>
              <a:t>"Remember: 'we cannot put it onto any model.' So we drew a hard line. Anything confidential, the one-pager and the officer's notes, only ever goes to Apertus, the Swiss open model, running at CSCS in Switzerland. Partner models only ever see public web text.</a:t>
            </a:r>
          </a:p>
          <a:p/>
          <a:p>
            <a:r>
              <a:t>For the agency, that's not a compliance checkbox. It's the reason this tool can exist at all."</a:t>
            </a:r>
          </a:p>
          <a:p/>
          <a:p>
            <a:r>
              <a:t>Expert note: routing rule enforced in code; gateway calls logged with model and token counts; self-hosted path = docker compose on one GPU box with vLLM.</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[2:50–3:20] Speaker B, live. This is the 'wow' sequence.</a:t>
            </a:r>
          </a:p>
          <a:p/>
          <a:p>
            <a:r>
              <a:t>"With 300 leads a year, the officer needs more than a search box. Here's the case list: new, triaged, pitched, visit, won or lost.</a:t>
            </a:r>
          </a:p>
          <a:p/>
          <a:p>
            <a:r>
              <a:t>Now watch. We add a new archive, sitem-insel, with six lines of config... (run ingest, cached)... and Mutz pops up: 'New archive checked. Two open cases have new matches.' Bern's research never sits idle: when a new group or project appears, the companies waiting for it find it."</a:t>
            </a:r>
          </a:p>
          <a:p/>
          <a:p>
            <a:r>
              <a:t>Stage tip: prepare the 4th source and one demo case that really matches it. Cap the demo source at ~30 pages or pre-run it; say "we ran the crawl earlier" if it's cached.</a:t>
            </a:r>
          </a:p>
          <a:p/>
          <a:p>
            <a:r>
              <a:t>Expert note: after each ingest, every open case's needs are re-run; the top-10 and coverage are diffed against a stored snapshot; new entries or a coverage upgrade create an alert.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[3:20–3:40] Speaker A.</a:t>
            </a:r>
          </a:p>
          <a:p/>
          <a:p>
            <a:r>
              <a:t>"Every search leaves a trace. Flip them around and you get two things the agency has never had.</a:t>
            </a:r>
          </a:p>
          <a:p/>
          <a:p>
            <a:r>
              <a:t>Left: a word cloud of Bern's expertise. The bigger the word, the more verified pages back it. Useful for deciding which leads to bid on, and for the agency's own outreach abroad.</a:t>
            </a:r>
          </a:p>
          <a:p/>
          <a:p>
            <a:r>
              <a:t>Right: a gap report. Every empty honey pot is a data point. 'This year, leads kept asking for battery technology and Bern had nothing.' That is information for the canton's economic strategy."</a:t>
            </a:r>
          </a:p>
          <a:p/>
          <a:p>
            <a:r>
              <a:t>HONESTY: the map only covers crawled archives (grey = not crawled yet). The gap bars and [XX] are placeholders: fill them from your test runs and SAY they are test data. Update the field states from your real crawl before the pitch.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B.</a:t>
            </a:r>
          </a:p>
          <a:p/>
          <a:p>
            <a:r>
              <a:t>"Scaling to all of Bern doesn't need new code. A new archive is six lines of config. We started with life science and medtech, because that's where the agency told us Bern is strongest.</a:t>
            </a:r>
          </a:p>
          <a:p/>
          <a:p>
            <a:r>
              <a:t>The value: we measured [X] hours saved per case. Times 300 cases a year, that's [XXX] officer hours back. And it costs [XX] tokens per case."</a:t>
            </a:r>
          </a:p>
          <a:p/>
          <a:p>
            <a:r>
              <a:t>Fill [X], [XXX], [XX] with your own measurements (time a manual search vs. the tool on 3 cases). Check sitem-insel's real URL before the pitch.</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297072"/>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In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7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2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sp>
        <p:nvSpPr>
          <p:cNvPr id="906" name="TextBox 905"/>
          <p:cNvSpPr txBox="1"/>
          <p:nvPr/>
        </p:nvSpPr>
        <p:spPr>
          <a:xfrm>
            <a:off x="841248" y="5669280"/>
            <a:ext cx="5212080" cy="457200"/>
          </a:xfrm>
          <a:prstGeom prst="rect">
            <a:avLst/>
          </a:prstGeom>
          <a:noFill/>
        </p:spPr>
        <p:txBody>
          <a:bodyPr wrap="square" lIns="0" rIns="0" tIns="0" bIns="0" anchor="t">
            <a:spAutoFit/>
          </a:bodyPr>
          <a:lstStyle/>
          <a:p>
            <a:pPr algn="l">
              <a:spcAft>
                <a:spcPts val="0"/>
              </a:spcAft>
            </a:pPr>
            <a:r>
              <a:rPr sz="1800" b="0" i="0">
                <a:solidFill>
                  <a:srgbClr val="63737B"/>
                </a:solidFill>
              </a:rPr>
              <a:t>Team Ctrl+Free</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6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4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56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by design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1874519"/>
            <a:ext cx="10972800" cy="2011680"/>
          </a:xfrm>
          <a:prstGeom prst="rect">
            <a:avLst/>
          </a:prstGeom>
        </p:spPr>
      </p:pic>
      <p:sp>
        <p:nvSpPr>
          <p:cNvPr id="904" name="TextBox 903"/>
          <p:cNvSpPr txBox="1"/>
          <p:nvPr/>
        </p:nvSpPr>
        <p:spPr>
          <a:xfrm>
            <a:off x="84124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069080"/>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120640"/>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30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45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4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research appears, every open case is re-checked.</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9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19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32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32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[XX]%</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[XX]%</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same experts for lay words and jargon</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held-out questions we never tuned 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4" name="TextBox 903"/>
          <p:cNvSpPr txBox="1"/>
          <p:nvPr/>
        </p:nvSpPr>
        <p:spPr>
          <a:xfrm>
            <a:off x="841248" y="5120640"/>
            <a:ext cx="6400800" cy="365760"/>
          </a:xfrm>
          <a:prstGeom prst="rect">
            <a:avLst/>
          </a:prstGeom>
          <a:noFill/>
        </p:spPr>
        <p:txBody>
          <a:bodyPr wrap="square" lIns="0" rIns="0" tIns="0" bIns="0" anchor="t">
            <a:spAutoFit/>
          </a:bodyPr>
          <a:lstStyle/>
          <a:p>
            <a:pPr algn="l">
              <a:spcAft>
                <a:spcPts val="600"/>
              </a:spcAft>
            </a:pPr>
            <a:r>
              <a:rPr sz="1600" b="0" i="0">
                <a:solidFill>
                  <a:srgbClr val="63737B"/>
                </a:solidFill>
              </a:rPr>
              <a:t>Team Ctrl+Free · Hack Apertus Liebefeld</a:t>
            </a:r>
          </a:p>
        </p:txBody>
      </p:sp>
      <p:sp>
        <p:nvSpPr>
          <p:cNvPr id="905" name="TextBox 904"/>
          <p:cNvSpPr txBox="1"/>
          <p:nvPr/>
        </p:nvSpPr>
        <p:spPr>
          <a:xfrm>
            <a:off x="7269480" y="5577840"/>
            <a:ext cx="1828800" cy="274320"/>
          </a:xfrm>
          <a:prstGeom prst="rect">
            <a:avLst/>
          </a:prstGeom>
          <a:noFill/>
        </p:spPr>
        <p:txBody>
          <a:bodyPr wrap="square" lIns="0" rIns="0" tIns="0" bIns="0" anchor="t">
            <a:spAutoFit/>
          </a:bodyPr>
          <a:lstStyle/>
          <a:p>
            <a:pPr algn="l">
              <a:spcAft>
                <a:spcPts val="600"/>
              </a:spcAft>
            </a:pPr>
            <a:r>
              <a:rPr sz="1000" b="0" i="0">
                <a:solidFill>
                  <a:srgbClr val="63737B"/>
                </a:solidFill>
              </a:rPr>
              <a:t>Challenge owner</a:t>
            </a:r>
          </a:p>
        </p:txBody>
      </p:sp>
      <p:pic>
        <p:nvPicPr>
          <p:cNvPr id="906" name="Picture 905" descr="logo.png"/>
          <p:cNvPicPr>
            <a:picLocks noChangeAspect="1"/>
          </p:cNvPicPr>
          <p:nvPr/>
        </p:nvPicPr>
        <p:blipFill>
          <a:blip r:embed="rId3"/>
          <a:stretch>
            <a:fillRect/>
          </a:stretch>
        </p:blipFill>
        <p:spPr>
          <a:xfrm>
            <a:off x="8778240" y="548640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overlap between lay words and expert jargon results</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 / [N]</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facts without a verified quote on the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[name].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[N] hand-written + [N] synthetic test cases, split into tune and held-out sets. Hybrid search (BM25 + BGE-M3, fused with RRF), cross-encoder rerank,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Partner models</a:t>
            </a:r>
          </a:p>
          <a:p>
            <a:pPr algn="l">
              <a:spcAft>
                <a:spcPts val="400"/>
              </a:spcAft>
            </a:pPr>
            <a:r>
              <a:rPr sz="1400" b="0" i="0">
                <a:solidFill>
                  <a:srgbClr val="63737B"/>
                </a:solidFill>
              </a:rPr>
              <a:t>Embeddings, reranker, independent judge</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Add a source or re-crawl, and every open case is re-checked automatically.</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2"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Offshore wind</a:t>
            </a:r>
          </a:p>
        </p:txBody>
      </p:sp>
      <p:sp>
        <p:nvSpPr>
          <p:cNvPr id="928" name="Rectangle 927"/>
          <p:cNvSpPr/>
          <p:nvPr/>
        </p:nvSpPr>
        <p:spPr>
          <a:xfrm>
            <a:off x="9098280" y="3584448"/>
            <a:ext cx="1156716"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346436"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Semiconductor packaging</a:t>
            </a:r>
          </a:p>
        </p:txBody>
      </p:sp>
      <p:sp>
        <p:nvSpPr>
          <p:cNvPr id="931" name="Rectangle 930"/>
          <p:cNvSpPr/>
          <p:nvPr/>
        </p:nvSpPr>
        <p:spPr>
          <a:xfrm>
            <a:off x="9098280" y="4270248"/>
            <a:ext cx="736092"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925812"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 id: sitem</a:t>
            </a:r>
          </a:p>
          <a:p>
            <a:pPr algn="l">
              <a:spcAft>
                <a:spcPts val="800"/>
              </a:spcAft>
            </a:pPr>
            <a:r>
              <a:rPr sz="1500" b="0" i="0">
                <a:solidFill>
                  <a:srgbClr val="FFFFFF"/>
                </a:solidFill>
                <a:latin typeface="Courier New"/>
              </a:rPr>
              <a:t>  name: sitem-insel</a:t>
            </a:r>
          </a:p>
          <a:p>
            <a:pPr algn="l">
              <a:spcAft>
                <a:spcPts val="800"/>
              </a:spcAft>
            </a:pPr>
            <a:r>
              <a:rPr sz="1500" b="0" i="0">
                <a:solidFill>
                  <a:srgbClr val="FFFFFF"/>
                </a:solidFill>
                <a:latin typeface="Courier New"/>
              </a:rPr>
              <a:t>  seeds: [https://www.sitem-insel.ch/]</a:t>
            </a:r>
          </a:p>
          <a:p>
            <a:pPr algn="l">
              <a:spcAft>
                <a:spcPts val="800"/>
              </a:spcAft>
            </a:pPr>
            <a:r>
              <a:rPr sz="1500" b="0" i="0">
                <a:solidFill>
                  <a:srgbClr val="FFFFFF"/>
                </a:solidFill>
                <a:latin typeface="Courier New"/>
              </a:rPr>
              <a:t>  allow_domains: [www.sitem-insel.ch]</a:t>
            </a:r>
          </a:p>
          <a:p>
            <a:pPr algn="l">
              <a:spcAft>
                <a:spcPts val="800"/>
              </a:spcAft>
            </a:pPr>
            <a:r>
              <a:rPr sz="1500" b="0" i="0">
                <a:solidFill>
                  <a:srgbClr val="FFFFFF"/>
                </a:solidFill>
                <a:latin typeface="Courier New"/>
              </a:rPr>
              <a:t>  languages: [de, en]</a:t>
            </a:r>
          </a:p>
          <a:p>
            <a:pPr algn="l">
              <a:spcAft>
                <a:spcPts val="800"/>
              </a:spcAft>
            </a:pPr>
            <a:r>
              <a:rPr sz="1500" b="0" i="0">
                <a:solidFill>
                  <a:srgbClr val="FFFFFF"/>
                </a:solidFill>
                <a:latin typeface="Courier New"/>
              </a:rPr>
              <a:t>  max_pages: 300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and every open case is re-checked.</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[X] h</a:t>
            </a:r>
            <a:r>
              <a:rPr sz="1600" b="0" i="0">
                <a:solidFill>
                  <a:srgbClr val="000000"/>
                </a:solidFill>
              </a:rPr>
              <a:t>  saved per case</a:t>
            </a:r>
          </a:p>
          <a:p>
            <a:pPr algn="l">
              <a:spcAft>
                <a:spcPts val="400"/>
              </a:spcAft>
            </a:pPr>
            <a:r>
              <a:rPr sz="1600" b="0" i="0">
                <a:solidFill>
                  <a:srgbClr val="000000"/>
                </a:solidFill>
              </a:rPr>
              <a:t>× 300 cases a year = [XXX] officer hours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[XX] tokens</a:t>
            </a:r>
            <a:r>
              <a:rPr sz="1500" b="0" i="0">
                <a:solidFill>
                  <a:srgbClr val="000000"/>
                </a:solidFill>
              </a:rPr>
              <a:t> per case on Apertus</a:t>
            </a:r>
          </a:p>
          <a:p>
            <a:pPr algn="l">
              <a:spcAft>
                <a:spcPts val="1000"/>
              </a:spcAft>
            </a:pPr>
            <a:r>
              <a:rPr sz="1500" b="1" i="0">
                <a:solidFill>
                  <a:srgbClr val="000000"/>
                </a:solidFill>
              </a:rPr>
              <a:t>[XX] pages</a:t>
            </a:r>
            <a:r>
              <a:rPr sz="1500" b="0" i="0">
                <a:solidFill>
                  <a:srgbClr val="000000"/>
                </a:solidFill>
              </a:rPr>
              <a:t> crawled across 3 sources</a:t>
            </a:r>
          </a:p>
          <a:p>
            <a:pPr algn="l">
              <a:spcAft>
                <a:spcPts val="1000"/>
              </a:spcAft>
            </a:pPr>
            <a:r>
              <a:rPr sz="1500" b="1" i="0">
                <a:solidFill>
                  <a:srgbClr val="000000"/>
                </a:solidFill>
              </a:rPr>
              <a:t>Runs on CSCS or one GPU box</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sources.yaml</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MeSH + rewrites,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[X]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Prof. [X] is rank [N] for this need.</a:t>
            </a:r>
          </a:p>
          <a:p>
            <a:pPr algn="l">
              <a:spcAft>
                <a:spcPts val="800"/>
              </a:spcAft>
            </a:pPr>
            <a:r>
              <a:rPr sz="1500" b="0" i="0">
                <a:solidFill>
                  <a:srgbClr val="000000"/>
                </a:solidFill>
              </a:rPr>
              <a:t>I found [1] page about [topic] [1]. A strong match needs two independent pages, so I kept [X] below the top 10.</a:t>
            </a:r>
          </a:p>
          <a:p>
            <a:pPr algn="l">
              <a:spcAft>
                <a:spcPts val="800"/>
              </a:spcAft>
            </a:pPr>
            <a:r>
              <a:rPr sz="1500" b="0" i="0">
                <a:solidFill>
                  <a:srgbClr val="EA161F"/>
                </a:solidFill>
              </a:rPr>
              <a:t>Show the page  ·  Add to pitch anyway</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