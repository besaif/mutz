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Honig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"Mutz is honest and trustworthy by design, with Apertus. 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075025" y="297072"/>
            <a:ext cx="2743200" cy="167640"/>
          </a:xfrm>
          <a:prstGeom prst="rect">
            <a:avLst/>
          </a:prstGeom>
        </p:spPr>
        <p:txBody>
          <a:bodyPr vert="horz" lIns="0" tIns="0" rIns="0" bIns="0" rtlCol="0" anchor="t" anchorCtr="0"/>
          <a:lstStyle>
            <a:lvl1pPr algn="r">
              <a:defRPr sz="110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6452928"/>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dt="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5.xml"/><Relationship Id="rId9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 Id="rId3" Type="http://schemas.openxmlformats.org/officeDocument/2006/relationships/notesSlide" Target="../notesSlides/notesSlide8.xml"/><Relationship Id="rId90" Type="http://schemas.openxmlformats.org/officeDocument/2006/relationships/image" Target="../media/apertus_logo.png"/><Relationship Id="rId91" Type="http://schemas.openxmlformats.org/officeDocument/2006/relationships/image" Target="../media/hf_logo.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rise)" descr="rise-last.png"/>
          <p:cNvPicPr>
            <a:picLocks noChangeAspect="1"/>
          </p:cNvPicPr>
          <p:nvPr/>
        </p:nvPicPr>
        <p:blipFill>
          <a:blip r:embed="rId2"/>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7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2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pic>
        <p:nvPicPr>
          <p:cNvPr id="907" name="Mutz (splash)" descr="splash-last.png"/>
          <p:cNvPicPr>
            <a:picLocks noChangeAspect="1"/>
          </p:cNvPicPr>
          <p:nvPr/>
        </p:nvPicPr>
        <p:blipFill>
          <a:blip r:embed="rId2"/>
          <a:stretch>
            <a:fillRect/>
          </a:stretch>
        </p:blipFill>
        <p:spPr>
          <a:xfrm>
            <a:off x="6126480" y="868680"/>
            <a:ext cx="5852160" cy="5852160"/>
          </a:xfrm>
          <a:prstGeom prst="rect">
            <a:avLst/>
          </a:prstGeom>
        </p:spPr>
      </p:pic>
      <p:sp>
        <p:nvSpPr>
          <p:cNvPr id="908" name="Challenge owner label"/>
          <p:cNvSpPr txBox="1"/>
          <p:nvPr/>
        </p:nvSpPr>
        <p:spPr>
          <a:xfrm>
            <a:off x="73189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9" name="Bern Economic Development Agency logo" descr="Bern Economic Development Agency"/>
          <p:cNvPicPr>
            <a:picLocks noChangeAspect="1"/>
          </p:cNvPicPr>
          <p:nvPr/>
        </p:nvPicPr>
        <p:blipFill>
          <a:blip r:embed="rId91"/>
          <a:stretch>
            <a:fillRect/>
          </a:stretch>
        </p:blipFill>
        <p:spPr>
          <a:xfrm>
            <a:off x="88003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6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4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56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5600"/>
                                  </p:stCondLst>
                                  <p:childTnLst>
                                    <p:set>
                                      <p:cBhvr>
                                        <p:cTn id="15" dur="1" fill="hold">
                                          <p:stCondLst>
                                            <p:cond delay="0"/>
                                          </p:stCondLst>
                                        </p:cTn>
                                        <p:tgtEl>
                                          <p:spTgt spid="908"/>
                                        </p:tgtEl>
                                        <p:attrNameLst>
                                          <p:attrName>style.visibility</p:attrName>
                                        </p:attrNameLst>
                                      </p:cBhvr>
                                      <p:to>
                                        <p:strVal val="visible"/>
                                      </p:to>
                                    </p:set>
                                    <p:animEffect transition="in" filter="fade">
                                      <p:cBhvr>
                                        <p:cTn id="16" dur="500"/>
                                        <p:tgtEl>
                                          <p:spTgt spid="908"/>
                                        </p:tgtEl>
                                      </p:cBhvr>
                                    </p:animEffect>
                                  </p:childTnLst>
                                </p:cTn>
                              </p:par>
                              <p:par>
                                <p:cTn id="17" presetID="10" presetClass="entr" presetSubtype="0" fill="hold" grpId="0" nodeType="withEffect">
                                  <p:stCondLst>
                                    <p:cond delay="5600"/>
                                  </p:stCondLst>
                                  <p:childTnLst>
                                    <p:set>
                                      <p:cBhvr>
                                        <p:cTn id="18" dur="1" fill="hold">
                                          <p:stCondLst>
                                            <p:cond delay="0"/>
                                          </p:stCondLst>
                                        </p:cTn>
                                        <p:tgtEl>
                                          <p:spTgt spid="909"/>
                                        </p:tgtEl>
                                        <p:attrNameLst>
                                          <p:attrName>style.visibility</p:attrName>
                                        </p:attrNameLst>
                                      </p:cBhvr>
                                      <p:to>
                                        <p:strVal val="visible"/>
                                      </p:to>
                                    </p:set>
                                    <p:animEffect transition="in" filter="fade">
                                      <p:cBhvr>
                                        <p:cTn id="19"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sniff)" descr="sniff-last.png"/>
          <p:cNvPicPr>
            <a:picLocks noChangeAspect="1"/>
          </p:cNvPicPr>
          <p:nvPr/>
        </p:nvPicPr>
        <p:blipFill>
          <a:blip r:embed="rId2"/>
          <a:stretch>
            <a:fillRect/>
          </a:stretch>
        </p:blipFill>
        <p:spPr>
          <a:xfrm>
            <a:off x="7680960" y="1417320"/>
            <a:ext cx="3977639" cy="3977639"/>
          </a:xfrm>
          <a:prstGeom prst="rect">
            <a:avLst/>
          </a:prstGeom>
        </p:spPr>
      </p:pic>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and trustworthy by design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pots)" descr="pots-last.png"/>
          <p:cNvPicPr>
            <a:picLocks noChangeAspect="1"/>
          </p:cNvPicPr>
          <p:nvPr/>
        </p:nvPicPr>
        <p:blipFill>
          <a:blip r:embed="rId2"/>
          <a:stretch>
            <a:fillRect/>
          </a:stretch>
        </p:blipFill>
        <p:spPr>
          <a:xfrm>
            <a:off x="841248" y="2377440"/>
            <a:ext cx="10972800" cy="2011680"/>
          </a:xfrm>
          <a:prstGeom prst="rect">
            <a:avLst/>
          </a:prstGeom>
        </p:spPr>
      </p:pic>
      <p:sp>
        <p:nvSpPr>
          <p:cNvPr id="904" name="TextBox 903"/>
          <p:cNvSpPr txBox="1"/>
          <p:nvPr/>
        </p:nvSpPr>
        <p:spPr>
          <a:xfrm>
            <a:off x="84124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572001"/>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Honig</a:t>
            </a:r>
          </a:p>
        </p:txBody>
      </p:sp>
      <p:sp>
        <p:nvSpPr>
          <p:cNvPr id="907" name="TextBox 906"/>
          <p:cNvSpPr txBox="1"/>
          <p:nvPr/>
        </p:nvSpPr>
        <p:spPr>
          <a:xfrm>
            <a:off x="841248" y="5623561"/>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
        <p:nvSpPr>
          <p:cNvPr id="908" name="With Apertus text"/>
          <p:cNvSpPr txBox="1"/>
          <p:nvPr/>
        </p:nvSpPr>
        <p:spPr>
          <a:xfrm>
            <a:off x="838200" y="1783080"/>
            <a:ext cx="731520" cy="429768"/>
          </a:xfrm>
          <a:prstGeom prst="rect">
            <a:avLst/>
          </a:prstGeom>
          <a:noFill/>
        </p:spPr>
        <p:txBody>
          <a:bodyPr wrap="none" lIns="0" rIns="0" tIns="0" bIns="0" anchor="t"/>
          <a:lstStyle/>
          <a:p>
            <a:pPr algn="l">
              <a:spcAft>
                <a:spcPts val="0"/>
              </a:spcAft>
            </a:pPr>
            <a:r>
              <a:rPr lang="en-GB" sz="2800" b="0" i="0">
                <a:solidFill>
                  <a:srgbClr val="000000"/>
                </a:solidFill>
              </a:rPr>
              <a:t>with</a:t>
            </a:r>
          </a:p>
        </p:txBody>
      </p:sp>
      <p:pic>
        <p:nvPicPr>
          <p:cNvPr id="909" name="Apertus logo" descr="Apertus"/>
          <p:cNvPicPr>
            <a:picLocks noChangeAspect="1"/>
          </p:cNvPicPr>
          <p:nvPr/>
        </p:nvPicPr>
        <p:blipFill>
          <a:blip r:embed="rId90"/>
          <a:stretch>
            <a:fillRect/>
          </a:stretch>
        </p:blipFill>
        <p:spPr>
          <a:xfrm>
            <a:off x="1578864" y="1850280"/>
            <a:ext cx="2591837" cy="254000"/>
          </a:xfrm>
          <a:prstGeom prst="rect">
            <a:avLst/>
          </a:prstGeom>
        </p:spPr>
      </p:pic>
      <p:sp>
        <p:nvSpPr>
          <p:cNvPr id="910" name="And Hugging Face text"/>
          <p:cNvSpPr txBox="1"/>
          <p:nvPr/>
        </p:nvSpPr>
        <p:spPr>
          <a:xfrm>
            <a:off x="4278700" y="1783080"/>
            <a:ext cx="640080" cy="429768"/>
          </a:xfrm>
          <a:prstGeom prst="rect">
            <a:avLst/>
          </a:prstGeom>
          <a:noFill/>
        </p:spPr>
        <p:txBody>
          <a:bodyPr wrap="none" lIns="0" rIns="0" tIns="0" bIns="0" anchor="t"/>
          <a:lstStyle/>
          <a:p>
            <a:pPr algn="l">
              <a:spcAft>
                <a:spcPts val="0"/>
              </a:spcAft>
            </a:pPr>
            <a:r>
              <a:rPr lang="en-GB" sz="2800" b="0" i="0">
                <a:solidFill>
                  <a:srgbClr val="000000"/>
                </a:solidFill>
              </a:rPr>
              <a:t>and</a:t>
            </a:r>
          </a:p>
        </p:txBody>
      </p:sp>
      <p:pic>
        <p:nvPicPr>
          <p:cNvPr id="911" name="Hugging Face logo" descr="Hugging Face"/>
          <p:cNvPicPr>
            <a:picLocks noChangeAspect="1"/>
          </p:cNvPicPr>
          <p:nvPr/>
        </p:nvPicPr>
        <p:blipFill>
          <a:blip r:embed="rId91"/>
          <a:stretch>
            <a:fillRect/>
          </a:stretch>
        </p:blipFill>
        <p:spPr>
          <a:xfrm>
            <a:off x="4980000" y="1708446"/>
            <a:ext cx="2420717" cy="54864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30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45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54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lert)" descr="alert-last.png"/>
          <p:cNvPicPr>
            <a:picLocks noChangeAspect="1"/>
          </p:cNvPicPr>
          <p:nvPr/>
        </p:nvPicPr>
        <p:blipFill>
          <a:blip r:embed="rId2"/>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9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19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32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32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5" name="Challenge owner label"/>
          <p:cNvSpPr txBox="1"/>
          <p:nvPr/>
        </p:nvSpPr>
        <p:spPr>
          <a:xfrm>
            <a:off x="77761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6" name="Bern Economic Development Agency logo" descr="Bern Economic Development Agency"/>
          <p:cNvPicPr>
            <a:picLocks noChangeAspect="1"/>
          </p:cNvPicPr>
          <p:nvPr/>
        </p:nvPicPr>
        <p:blipFill>
          <a:blip r:embed="rId3"/>
          <a:stretch>
            <a:fillRect/>
          </a:stretch>
        </p:blipFill>
        <p:spPr>
          <a:xfrm>
            <a:off x="92575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lert)" descr="alert-last.png"/>
          <p:cNvPicPr>
            <a:picLocks noChangeAspect="1"/>
          </p:cNvPicPr>
          <p:nvPr/>
        </p:nvPicPr>
        <p:blipFill>
          <a:blip r:embed="rId5"/>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